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403"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1"/>
  <c:style val="2"/>
  <c:chart>
    <c:title>
      <c:tx>
        <c:rich>
          <a:bodyPr/>
          <a:lstStyle/>
          <a:p>
            <a:pPr>
              <a:defRPr sz="1200" b="0" i="0" u="none" strike="noStrike">
                <a:solidFill>
                  <a:srgbClr val="2C5F2D"/>
                </a:solidFill>
                <a:latin typeface="Calibri"/>
              </a:defRPr>
            </a:pPr>
            <a:r>
              <a:rPr lang="es-CL" sz="1200" b="0" i="0" u="none" strike="noStrike">
                <a:solidFill>
                  <a:srgbClr val="2C5F2D"/>
                </a:solidFill>
                <a:latin typeface="Calibri"/>
              </a:rPr>
              <a:t>Importancia de variables (XGBoost)</a:t>
            </a:r>
          </a:p>
        </c:rich>
      </c:tx>
      <c:overlay val="0"/>
    </c:title>
    <c:autoTitleDeleted val="0"/>
    <c:plotArea>
      <c:layout/>
      <c:barChart>
        <c:barDir val="bar"/>
        <c:grouping val="clustered"/>
        <c:varyColors val="0"/>
        <c:ser>
          <c:idx val="0"/>
          <c:order val="0"/>
          <c:tx>
            <c:strRef>
              <c:f>Sheet1!$B$1</c:f>
              <c:strCache>
                <c:ptCount val="1"/>
                <c:pt idx="0">
                  <c:v>Importancia</c:v>
                </c:pt>
              </c:strCache>
            </c:strRef>
          </c:tx>
          <c:spPr>
            <a:solidFill>
              <a:srgbClr val="97BC62"/>
            </a:solidFill>
            <a:effectLst/>
          </c:spPr>
          <c:invertIfNegative val="0"/>
          <c:dLbls>
            <c:numFmt formatCode="0.0%" sourceLinked="0"/>
            <c:spPr>
              <a:noFill/>
              <a:ln>
                <a:noFill/>
              </a:ln>
              <a:effectLst/>
            </c:spPr>
            <c:txPr>
              <a:bodyPr/>
              <a:lstStyle/>
              <a:p>
                <a:pPr>
                  <a:defRPr sz="900" b="0" i="0" u="none" strike="noStrike">
                    <a:solidFill>
                      <a:srgbClr val="6B7280"/>
                    </a:solidFill>
                    <a:latin typeface="Calibri"/>
                  </a:defRPr>
                </a:pPr>
                <a:endParaRPr lang="es-CL"/>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lag 1h</c:v>
                </c:pt>
                <c:pt idx="1">
                  <c:v>lag 24h</c:v>
                </c:pt>
                <c:pt idx="2">
                  <c:v>día laboral</c:v>
                </c:pt>
                <c:pt idx="3">
                  <c:v>hora (cos)</c:v>
                </c:pt>
                <c:pt idx="4">
                  <c:v>hora (sin)</c:v>
                </c:pt>
                <c:pt idx="5">
                  <c:v>fin de semana</c:v>
                </c:pt>
                <c:pt idx="6">
                  <c:v>media 3h</c:v>
                </c:pt>
              </c:strCache>
            </c:strRef>
          </c:cat>
          <c:val>
            <c:numRef>
              <c:f>Sheet1!$B$2:$B$8</c:f>
              <c:numCache>
                <c:formatCode>General</c:formatCode>
                <c:ptCount val="7"/>
                <c:pt idx="0">
                  <c:v>0.34499999999999997</c:v>
                </c:pt>
                <c:pt idx="1">
                  <c:v>0.123</c:v>
                </c:pt>
                <c:pt idx="2">
                  <c:v>0.108</c:v>
                </c:pt>
                <c:pt idx="3">
                  <c:v>0.1</c:v>
                </c:pt>
                <c:pt idx="4">
                  <c:v>7.5999999999999998E-2</c:v>
                </c:pt>
                <c:pt idx="5">
                  <c:v>7.2999999999999995E-2</c:v>
                </c:pt>
                <c:pt idx="6">
                  <c:v>5.2999999999999999E-2</c:v>
                </c:pt>
              </c:numCache>
            </c:numRef>
          </c:val>
          <c:extLst>
            <c:ext xmlns:c16="http://schemas.microsoft.com/office/drawing/2014/chart" uri="{C3380CC4-5D6E-409C-BE32-E72D297353CC}">
              <c16:uniqueId val="{00000000-AD7C-4C67-9ACA-F97EB4535740}"/>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24302A"/>
                </a:solidFill>
                <a:latin typeface="Calibri"/>
              </a:defRPr>
            </a:pPr>
            <a:endParaRPr lang="en-US"/>
          </a:p>
        </c:txPr>
        <c:crossAx val="2094734552"/>
        <c:crosses val="autoZero"/>
        <c:auto val="1"/>
        <c:lblAlgn val="ctr"/>
        <c:lblOffset val="100"/>
        <c:noMultiLvlLbl val="1"/>
      </c:catAx>
      <c:valAx>
        <c:axId val="2094734552"/>
        <c:scaling>
          <c:orientation val="minMax"/>
          <c:max val="0.42"/>
        </c:scaling>
        <c:delete val="0"/>
        <c:axPos val="b"/>
        <c:majorGridlines>
          <c:spPr>
            <a:ln w="6350" cap="flat">
              <a:solidFill>
                <a:srgbClr val="E4E9E1"/>
              </a:solidFill>
              <a:prstDash val="solid"/>
              <a:round/>
            </a:ln>
          </c:spPr>
        </c:majorGridlines>
        <c:numFmt formatCode="0%" sourceLinked="0"/>
        <c:majorTickMark val="out"/>
        <c:minorTickMark val="none"/>
        <c:tickLblPos val="low"/>
        <c:spPr>
          <a:ln w="12700" cap="flat">
            <a:solidFill>
              <a:srgbClr val="888888"/>
            </a:solidFill>
            <a:prstDash val="solid"/>
            <a:round/>
          </a:ln>
        </c:spPr>
        <c:txPr>
          <a:bodyPr/>
          <a:lstStyle/>
          <a:p>
            <a:pPr>
              <a:defRPr sz="900" b="0" i="0" u="none" strike="noStrike">
                <a:solidFill>
                  <a:srgbClr val="6B7280"/>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1"/>
  <c:style val="2"/>
  <c:chart>
    <c:title>
      <c:tx>
        <c:rich>
          <a:bodyPr/>
          <a:lstStyle/>
          <a:p>
            <a:pPr>
              <a:defRPr sz="1300" b="0" i="0" u="none" strike="noStrike">
                <a:solidFill>
                  <a:srgbClr val="2C5F2D"/>
                </a:solidFill>
                <a:latin typeface="Calibri"/>
              </a:defRPr>
            </a:pPr>
            <a:r>
              <a:rPr lang="pt-BR" sz="1300" b="0" i="0" u="none" strike="noStrike">
                <a:solidFill>
                  <a:srgbClr val="2C5F2D"/>
                </a:solidFill>
                <a:latin typeface="Calibri"/>
              </a:rPr>
              <a:t>R² por modelo (conjunto de test)</a:t>
            </a:r>
          </a:p>
        </c:rich>
      </c:tx>
      <c:overlay val="0"/>
    </c:title>
    <c:autoTitleDeleted val="0"/>
    <c:plotArea>
      <c:layout/>
      <c:barChart>
        <c:barDir val="col"/>
        <c:grouping val="clustered"/>
        <c:varyColors val="0"/>
        <c:ser>
          <c:idx val="0"/>
          <c:order val="0"/>
          <c:tx>
            <c:strRef>
              <c:f>Sheet1!$B$1</c:f>
              <c:strCache>
                <c:ptCount val="1"/>
                <c:pt idx="0">
                  <c:v>R²</c:v>
                </c:pt>
              </c:strCache>
            </c:strRef>
          </c:tx>
          <c:spPr>
            <a:solidFill>
              <a:srgbClr val="97BC62"/>
            </a:solidFill>
            <a:effectLst/>
          </c:spPr>
          <c:invertIfNegative val="0"/>
          <c:dPt>
            <c:idx val="0"/>
            <c:invertIfNegative val="0"/>
            <c:bubble3D val="0"/>
            <c:extLst>
              <c:ext xmlns:c16="http://schemas.microsoft.com/office/drawing/2014/chart" uri="{C3380CC4-5D6E-409C-BE32-E72D297353CC}">
                <c16:uniqueId val="{00000001-A3E7-4BE9-A4C2-16718E404D61}"/>
              </c:ext>
            </c:extLst>
          </c:dPt>
          <c:dPt>
            <c:idx val="1"/>
            <c:invertIfNegative val="0"/>
            <c:bubble3D val="0"/>
            <c:extLst>
              <c:ext xmlns:c16="http://schemas.microsoft.com/office/drawing/2014/chart" uri="{C3380CC4-5D6E-409C-BE32-E72D297353CC}">
                <c16:uniqueId val="{00000003-A3E7-4BE9-A4C2-16718E404D61}"/>
              </c:ext>
            </c:extLst>
          </c:dPt>
          <c:dPt>
            <c:idx val="2"/>
            <c:invertIfNegative val="0"/>
            <c:bubble3D val="0"/>
            <c:extLst>
              <c:ext xmlns:c16="http://schemas.microsoft.com/office/drawing/2014/chart" uri="{C3380CC4-5D6E-409C-BE32-E72D297353CC}">
                <c16:uniqueId val="{00000005-A3E7-4BE9-A4C2-16718E404D61}"/>
              </c:ext>
            </c:extLst>
          </c:dPt>
          <c:dPt>
            <c:idx val="3"/>
            <c:invertIfNegative val="0"/>
            <c:bubble3D val="0"/>
            <c:spPr>
              <a:solidFill>
                <a:srgbClr val="2C5F2D"/>
              </a:solidFill>
              <a:effectLst/>
            </c:spPr>
            <c:extLst>
              <c:ext xmlns:c16="http://schemas.microsoft.com/office/drawing/2014/chart" uri="{C3380CC4-5D6E-409C-BE32-E72D297353CC}">
                <c16:uniqueId val="{00000007-A3E7-4BE9-A4C2-16718E404D61}"/>
              </c:ext>
            </c:extLst>
          </c:dPt>
          <c:dLbls>
            <c:numFmt formatCode="0.000" sourceLinked="0"/>
            <c:spPr>
              <a:noFill/>
              <a:ln>
                <a:noFill/>
              </a:ln>
              <a:effectLst/>
            </c:spPr>
            <c:txPr>
              <a:bodyPr/>
              <a:lstStyle/>
              <a:p>
                <a:pPr>
                  <a:defRPr sz="1000" b="1" i="0" u="none" strike="noStrike">
                    <a:solidFill>
                      <a:srgbClr val="24302A"/>
                    </a:solidFill>
                    <a:latin typeface="Calibri"/>
                  </a:defRPr>
                </a:pPr>
                <a:endParaRPr lang="es-CL"/>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Baseline</c:v>
                </c:pt>
                <c:pt idx="1">
                  <c:v>Reg. lineal</c:v>
                </c:pt>
                <c:pt idx="2">
                  <c:v>Random Forest</c:v>
                </c:pt>
                <c:pt idx="3">
                  <c:v>XGBoost</c:v>
                </c:pt>
              </c:strCache>
            </c:strRef>
          </c:cat>
          <c:val>
            <c:numRef>
              <c:f>Sheet1!$B$2:$B$5</c:f>
              <c:numCache>
                <c:formatCode>General</c:formatCode>
                <c:ptCount val="4"/>
                <c:pt idx="0">
                  <c:v>0.63800000000000001</c:v>
                </c:pt>
                <c:pt idx="1">
                  <c:v>0.83099999999999996</c:v>
                </c:pt>
                <c:pt idx="2">
                  <c:v>0.94699999999999995</c:v>
                </c:pt>
                <c:pt idx="3">
                  <c:v>0.96099999999999997</c:v>
                </c:pt>
              </c:numCache>
            </c:numRef>
          </c:val>
          <c:extLst>
            <c:ext xmlns:c16="http://schemas.microsoft.com/office/drawing/2014/chart" uri="{C3380CC4-5D6E-409C-BE32-E72D297353CC}">
              <c16:uniqueId val="{00000008-A3E7-4BE9-A4C2-16718E404D61}"/>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24302A"/>
                </a:solidFill>
                <a:latin typeface="Calibri"/>
              </a:defRPr>
            </a:pPr>
            <a:endParaRPr lang="en-US"/>
          </a:p>
        </c:txPr>
        <c:crossAx val="2094734552"/>
        <c:crosses val="autoZero"/>
        <c:auto val="1"/>
        <c:lblAlgn val="ctr"/>
        <c:lblOffset val="100"/>
        <c:noMultiLvlLbl val="1"/>
      </c:catAx>
      <c:valAx>
        <c:axId val="2094734552"/>
        <c:scaling>
          <c:orientation val="minMax"/>
          <c:max val="1.05"/>
          <c:min val="0"/>
        </c:scaling>
        <c:delete val="0"/>
        <c:axPos val="l"/>
        <c:majorGridlines>
          <c:spPr>
            <a:ln w="6350" cap="flat">
              <a:solidFill>
                <a:srgbClr val="E4E9E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7280"/>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076607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n-US" dirty="0"/>
              <a:t>Presentación del equipo y del caso. Somos 4 y cada uno expone 3 láminas: Sebastián (problema, ETL y calidad), Hernán (EDA y patrones), Matías (features y modelo), Michelangelo (dashboard, API y despliegue).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n-US" dirty="0"/>
              <a:t>Las tres fuentes no están por requisito: el UCI trae weathersit categórico y grueso; Open-Meteo aporta precipitación real en mm, que es la señal que frena los viajes. holidays evita predecir peaks de commuting en 23 fechas al año. El join es 1:1 por datetime, con 100% de match y 0 nulos.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n-US" dirty="0"/>
              <a:t>Abro con la pregunta de negocio, que es deliberadamente concreta: cuántas bicicletas la próxima hora. Las tres decisiones operativas que habilita justifican todo el proyecto. El 96% es el resultado final, pero ojo: lo pondremos en contexto contra un baseline en la lámina de Matías.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n-US" dirty="0"/>
              <a:t>Explico el pipeline paso a paso. Punto clave si preguntan: por qué un parquet único. Porque garantiza que EDA, modelo, API y dashboard leen el mismo dato. Y por qué el paquete instalable: reproducibilidad, la misma función de carga en los cuatro consumidores.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n-US" dirty="0"/>
              <a:t>Si preguntan por qué no eliminamos filas: en series de tiempo, borrar abre huecos que corrompen los lags de las horas vecinas. El costo se propaga más allá de la fila borrada. Por eso no eliminamos nada en la etapa de calidad.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n-US" dirty="0"/>
              <a:t>Punto fuerte de esta lámina: la decisión de no tocar los outliers está fundada en evidencia, no en comodidad. Graficamos a qué hora ocurren y se concentran en el peak. Recortarlos le enseñaría al modelo que el peak no existe.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n-US" dirty="0"/>
              <a:t>En el notebook este heatmap es interactivo: al pasar el mouse se lee el valor exacto de cada celda hora×día. Si preguntan por qué no un gráfico de barras: una tabla de 7×24 sería ilegible; el color codifica la magnitud y deja ver los dos bloques de un vistazo.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n-US" dirty="0"/>
              <a:t>Esta es la lámina donde se ve que el EDA no fue decorativo. Cada fuente se validó con un gráfico. Y el caso del feriado es el mejor ejemplo de por qué una visualización bien elegida detecta lo que un estadístico agregado oculta.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n-US" dirty="0"/>
              <a:t>Este es el gráfico más importante del informe: anticipa, antes de entrenar nada, que los lags van a dominar la importancia de variables. Y la auditoría anti-leakage es lo que hace creíble el 0,96: sin ella, un R² así sería un síntoma, no un logro.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n-US" dirty="0"/>
              <a:t>Si preguntan por la correlación de la hora con la demanda: es casi cero en Pearson, pero es un predictor potentísimo. La relación sube y baja dos veces y el coeficiente lineal se cancela. Correlación baja no significa variable inútil: significa relación no lineal.</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n-US" dirty="0"/>
              <a:t>El orden de los modelos no es casual: baseline → lineal → Random Forest → XGBoost. Cada salto tiene una explicación del EDA. El salto grande es del lineal a los árboles, y es exactamente la interacción hora×día que mostró el heatmap.</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n-US" dirty="0"/>
              <a:t>Aquí hacemos la demo en vivo. Muestro las tres pestañas y, sobre todo, la de predicción: muevo el slider de hora a las 18 y la demanda estimada sube; le pongo lluvia y baja. Eso hace tangible lo que mostró el EDA.</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n-US" dirty="0"/>
              <a:t>Demo: abro :8000/docs y lanzo los dos casos en vivo. El contraste 395 vs 8 es lo que mejor comunica que el modelo usa el contexto y no un promedio histórico.</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n-US" dirty="0"/>
              <a:t>Cierro mi bloque mostrando que la solución es end-to-end y reproducible. Si preguntan por CI: el pipeline corre ruff y pytest en cada push; el historial de commits está en el repo y lo mostramos en la última lámina.</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n-US" dirty="0"/>
              <a:t>Cierro con el balance: qué logramos y qué reconocemos como límite. La frase final resume el aprendizaje metodológico del equipo y suele abrir bien las preguntas.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n-US" dirty="0"/>
              <a:t>Referencias en APA. La lista con DOIs completos está en el notebook.</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n-US" dirty="0"/>
              <a:t>Dejo esta lámina en pantalla durante las preguntas. Si el dashboard está desplegado en la nube, reemplazar localhost por la URL pública antes de exponer. Muestro el historial de commits en vivo para evidenciar el trabajo del equipo.</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chart" Target="../charts/char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chart" Target="../charts/char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hyperlink" Target="http://localhost:8050" TargetMode="External"/><Relationship Id="rId4" Type="http://schemas.openxmlformats.org/officeDocument/2006/relationships/hyperlink" Target="http://localhost:8000/docs" TargetMode="External"/><Relationship Id="rId5" Type="http://schemas.openxmlformats.org/officeDocument/2006/relationships/hyperlink" Target="https://github.com/SebastianRGP/desafio-movilidad-bikeshare" TargetMode="External"/><Relationship Id="rId6" Type="http://schemas.openxmlformats.org/officeDocument/2006/relationships/hyperlink" Target="https://github.com/SebastianRGP/desafio-movilidad-bikeshare/commits/main"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3A1C"/>
        </a:solidFill>
        <a:effectLst/>
      </p:bgPr>
    </p:bg>
    <p:spTree>
      <p:nvGrpSpPr>
        <p:cNvPr id="1" name=""/>
        <p:cNvGrpSpPr/>
        <p:nvPr/>
      </p:nvGrpSpPr>
      <p:grpSpPr>
        <a:xfrm>
          <a:off x="0" y="0"/>
          <a:ext cx="0" cy="0"/>
          <a:chOff x="0" y="0"/>
          <a:chExt cx="0" cy="0"/>
        </a:xfrm>
      </p:grpSpPr>
      <p:sp>
        <p:nvSpPr>
          <p:cNvPr id="2" name="Shape 0"/>
          <p:cNvSpPr/>
          <p:nvPr/>
        </p:nvSpPr>
        <p:spPr>
          <a:xfrm>
            <a:off x="9326880" y="-1371600"/>
            <a:ext cx="4754880" cy="4754880"/>
          </a:xfrm>
          <a:prstGeom prst="ellipse">
            <a:avLst/>
          </a:prstGeom>
          <a:solidFill>
            <a:srgbClr val="2C5F2D"/>
          </a:solidFill>
          <a:ln w="12700">
            <a:solidFill>
              <a:srgbClr val="2C5F2D"/>
            </a:solidFill>
            <a:prstDash val="solid"/>
          </a:ln>
        </p:spPr>
        <p:txBody>
          <a:bodyPr/>
          <a:lstStyle/>
          <a:p>
            <a:endParaRPr lang="es-CL"/>
          </a:p>
        </p:txBody>
      </p:sp>
      <p:sp>
        <p:nvSpPr>
          <p:cNvPr id="3" name="Shape 1"/>
          <p:cNvSpPr/>
          <p:nvPr/>
        </p:nvSpPr>
        <p:spPr>
          <a:xfrm>
            <a:off x="10607040" y="4206240"/>
            <a:ext cx="2926080" cy="2926080"/>
          </a:xfrm>
          <a:prstGeom prst="ellipse">
            <a:avLst/>
          </a:prstGeom>
          <a:solidFill>
            <a:srgbClr val="22491F"/>
          </a:solidFill>
          <a:ln w="12700">
            <a:solidFill>
              <a:srgbClr val="22491F"/>
            </a:solidFill>
            <a:prstDash val="solid"/>
          </a:ln>
        </p:spPr>
        <p:txBody>
          <a:bodyPr/>
          <a:lstStyle/>
          <a:p>
            <a:endParaRPr lang="es-CL"/>
          </a:p>
        </p:txBody>
      </p:sp>
      <p:sp>
        <p:nvSpPr>
          <p:cNvPr id="4" name="Text 2"/>
          <p:cNvSpPr/>
          <p:nvPr/>
        </p:nvSpPr>
        <p:spPr>
          <a:xfrm>
            <a:off x="548640" y="640080"/>
            <a:ext cx="1828800" cy="1188720"/>
          </a:xfrm>
          <a:prstGeom prst="rect">
            <a:avLst/>
          </a:prstGeom>
          <a:noFill/>
          <a:ln/>
        </p:spPr>
        <p:txBody>
          <a:bodyPr wrap="square" lIns="0" tIns="0" rIns="0" bIns="0" rtlCol="0" anchor="ctr"/>
          <a:lstStyle/>
          <a:p>
            <a:pPr marL="0" indent="0">
              <a:buNone/>
            </a:pPr>
            <a:r>
              <a:rPr lang="en-US" sz="6000" dirty="0">
                <a:solidFill>
                  <a:srgbClr val="000000"/>
                </a:solidFill>
              </a:rPr>
              <a:t>🚲</a:t>
            </a:r>
            <a:endParaRPr lang="en-US" sz="6000" dirty="0"/>
          </a:p>
        </p:txBody>
      </p:sp>
      <p:sp>
        <p:nvSpPr>
          <p:cNvPr id="5" name="Text 3"/>
          <p:cNvSpPr/>
          <p:nvPr/>
        </p:nvSpPr>
        <p:spPr>
          <a:xfrm>
            <a:off x="548640" y="1783080"/>
            <a:ext cx="9326880" cy="1737360"/>
          </a:xfrm>
          <a:prstGeom prst="rect">
            <a:avLst/>
          </a:prstGeom>
          <a:noFill/>
          <a:ln/>
        </p:spPr>
        <p:txBody>
          <a:bodyPr wrap="square" lIns="0" tIns="0" rIns="0" bIns="0" rtlCol="0" anchor="ctr"/>
          <a:lstStyle/>
          <a:p>
            <a:pPr marL="0" indent="0">
              <a:lnSpc>
                <a:spcPts val="5200"/>
              </a:lnSpc>
              <a:buNone/>
            </a:pPr>
            <a:r>
              <a:rPr lang="en-US" sz="4600" b="1" dirty="0">
                <a:solidFill>
                  <a:srgbClr val="FFFFFF"/>
                </a:solidFill>
                <a:latin typeface="Cambria" pitchFamily="34" charset="0"/>
                <a:ea typeface="Cambria" pitchFamily="34" charset="-122"/>
                <a:cs typeface="Cambria" pitchFamily="34" charset="-120"/>
              </a:rPr>
              <a:t>Predicción de demanda</a:t>
            </a:r>
            <a:endParaRPr lang="en-US" sz="4600" dirty="0"/>
          </a:p>
          <a:p>
            <a:pPr marL="0" indent="0">
              <a:lnSpc>
                <a:spcPts val="5200"/>
              </a:lnSpc>
              <a:buNone/>
            </a:pPr>
            <a:r>
              <a:rPr lang="en-US" sz="4600" b="1" dirty="0">
                <a:solidFill>
                  <a:srgbClr val="FFFFFF"/>
                </a:solidFill>
                <a:latin typeface="Cambria" pitchFamily="34" charset="0"/>
                <a:ea typeface="Cambria" pitchFamily="34" charset="-122"/>
                <a:cs typeface="Cambria" pitchFamily="34" charset="-120"/>
              </a:rPr>
              <a:t>de bicicletas</a:t>
            </a:r>
            <a:endParaRPr lang="en-US" sz="4600" dirty="0"/>
          </a:p>
        </p:txBody>
      </p:sp>
      <p:sp>
        <p:nvSpPr>
          <p:cNvPr id="6" name="Text 4"/>
          <p:cNvSpPr/>
          <p:nvPr/>
        </p:nvSpPr>
        <p:spPr>
          <a:xfrm>
            <a:off x="566928" y="3611880"/>
            <a:ext cx="8778240" cy="640080"/>
          </a:xfrm>
          <a:prstGeom prst="rect">
            <a:avLst/>
          </a:prstGeom>
          <a:noFill/>
          <a:ln/>
        </p:spPr>
        <p:txBody>
          <a:bodyPr wrap="square" lIns="0" tIns="0" rIns="0" bIns="0" rtlCol="0" anchor="ctr"/>
          <a:lstStyle/>
          <a:p>
            <a:pPr marL="0" indent="0">
              <a:buNone/>
            </a:pPr>
            <a:r>
              <a:rPr lang="en-US" sz="1700" dirty="0">
                <a:solidFill>
                  <a:srgbClr val="97BC62"/>
                </a:solidFill>
                <a:latin typeface="Calibri" pitchFamily="34" charset="0"/>
                <a:ea typeface="Calibri" pitchFamily="34" charset="-122"/>
                <a:cs typeface="Calibri" pitchFamily="34" charset="-120"/>
              </a:rPr>
              <a:t>Una solución completa de ciencia de datos: ETL multi-fuente, machine learning, API y dashboard interactivo</a:t>
            </a:r>
            <a:endParaRPr lang="en-US" sz="1700" dirty="0"/>
          </a:p>
        </p:txBody>
      </p:sp>
      <p:sp>
        <p:nvSpPr>
          <p:cNvPr id="7" name="Text 5"/>
          <p:cNvSpPr/>
          <p:nvPr/>
        </p:nvSpPr>
        <p:spPr>
          <a:xfrm>
            <a:off x="566928" y="4343400"/>
            <a:ext cx="7315200" cy="292608"/>
          </a:xfrm>
          <a:prstGeom prst="rect">
            <a:avLst/>
          </a:prstGeom>
          <a:noFill/>
          <a:ln/>
        </p:spPr>
        <p:txBody>
          <a:bodyPr wrap="square" lIns="0" tIns="0" rIns="0" bIns="0" rtlCol="0" anchor="ctr"/>
          <a:lstStyle/>
          <a:p>
            <a:pPr marL="0" indent="0">
              <a:buNone/>
            </a:pPr>
            <a:r>
              <a:rPr lang="en-US" sz="1300" dirty="0">
                <a:solidFill>
                  <a:srgbClr val="C9D6C2"/>
                </a:solidFill>
                <a:latin typeface="Calibri" pitchFamily="34" charset="0"/>
                <a:ea typeface="Calibri" pitchFamily="34" charset="-122"/>
                <a:cs typeface="Calibri" pitchFamily="34" charset="-120"/>
              </a:rPr>
              <a:t>Desafío de Ciencia de Datos · Duoc UC 2026</a:t>
            </a:r>
            <a:endParaRPr lang="en-US" sz="1300" dirty="0"/>
          </a:p>
        </p:txBody>
      </p:sp>
      <p:sp>
        <p:nvSpPr>
          <p:cNvPr id="8" name="Shape 6"/>
          <p:cNvSpPr/>
          <p:nvPr/>
        </p:nvSpPr>
        <p:spPr>
          <a:xfrm>
            <a:off x="548640" y="4983480"/>
            <a:ext cx="2286000" cy="566928"/>
          </a:xfrm>
          <a:prstGeom prst="roundRect">
            <a:avLst>
              <a:gd name="adj" fmla="val 9677"/>
            </a:avLst>
          </a:prstGeom>
          <a:solidFill>
            <a:srgbClr val="22491F"/>
          </a:solidFill>
          <a:ln w="12700">
            <a:solidFill>
              <a:srgbClr val="2C5F2D"/>
            </a:solidFill>
            <a:prstDash val="solid"/>
          </a:ln>
        </p:spPr>
        <p:txBody>
          <a:bodyPr/>
          <a:lstStyle/>
          <a:p>
            <a:endParaRPr lang="es-CL"/>
          </a:p>
        </p:txBody>
      </p:sp>
      <p:sp>
        <p:nvSpPr>
          <p:cNvPr id="9" name="Text 7"/>
          <p:cNvSpPr/>
          <p:nvPr/>
        </p:nvSpPr>
        <p:spPr>
          <a:xfrm>
            <a:off x="640080" y="4983480"/>
            <a:ext cx="2103120" cy="566928"/>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Sebastián González Pino</a:t>
            </a:r>
            <a:endParaRPr lang="en-US" sz="1100" dirty="0"/>
          </a:p>
        </p:txBody>
      </p:sp>
      <p:sp>
        <p:nvSpPr>
          <p:cNvPr id="10" name="Shape 8"/>
          <p:cNvSpPr/>
          <p:nvPr/>
        </p:nvSpPr>
        <p:spPr>
          <a:xfrm>
            <a:off x="3035808" y="4983480"/>
            <a:ext cx="2286000" cy="566928"/>
          </a:xfrm>
          <a:prstGeom prst="roundRect">
            <a:avLst>
              <a:gd name="adj" fmla="val 9677"/>
            </a:avLst>
          </a:prstGeom>
          <a:solidFill>
            <a:srgbClr val="22491F"/>
          </a:solidFill>
          <a:ln w="12700">
            <a:solidFill>
              <a:srgbClr val="2C5F2D"/>
            </a:solidFill>
            <a:prstDash val="solid"/>
          </a:ln>
        </p:spPr>
        <p:txBody>
          <a:bodyPr/>
          <a:lstStyle/>
          <a:p>
            <a:endParaRPr lang="es-CL"/>
          </a:p>
        </p:txBody>
      </p:sp>
      <p:sp>
        <p:nvSpPr>
          <p:cNvPr id="11" name="Text 9"/>
          <p:cNvSpPr/>
          <p:nvPr/>
        </p:nvSpPr>
        <p:spPr>
          <a:xfrm>
            <a:off x="3127248" y="4983480"/>
            <a:ext cx="2103120" cy="566928"/>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Hernán Lippke Vega</a:t>
            </a:r>
            <a:endParaRPr lang="en-US" sz="1100" dirty="0"/>
          </a:p>
        </p:txBody>
      </p:sp>
      <p:sp>
        <p:nvSpPr>
          <p:cNvPr id="12" name="Shape 10"/>
          <p:cNvSpPr/>
          <p:nvPr/>
        </p:nvSpPr>
        <p:spPr>
          <a:xfrm>
            <a:off x="5522976" y="4983480"/>
            <a:ext cx="2286000" cy="566928"/>
          </a:xfrm>
          <a:prstGeom prst="roundRect">
            <a:avLst>
              <a:gd name="adj" fmla="val 9677"/>
            </a:avLst>
          </a:prstGeom>
          <a:solidFill>
            <a:srgbClr val="22491F"/>
          </a:solidFill>
          <a:ln w="12700">
            <a:solidFill>
              <a:srgbClr val="2C5F2D"/>
            </a:solidFill>
            <a:prstDash val="solid"/>
          </a:ln>
        </p:spPr>
        <p:txBody>
          <a:bodyPr/>
          <a:lstStyle/>
          <a:p>
            <a:endParaRPr lang="es-CL"/>
          </a:p>
        </p:txBody>
      </p:sp>
      <p:sp>
        <p:nvSpPr>
          <p:cNvPr id="13" name="Text 11"/>
          <p:cNvSpPr/>
          <p:nvPr/>
        </p:nvSpPr>
        <p:spPr>
          <a:xfrm>
            <a:off x="5614416" y="4983480"/>
            <a:ext cx="2103120" cy="566928"/>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Matías Arauz</a:t>
            </a:r>
            <a:endParaRPr lang="en-US" sz="1100" dirty="0"/>
          </a:p>
        </p:txBody>
      </p:sp>
      <p:sp>
        <p:nvSpPr>
          <p:cNvPr id="14" name="Shape 12"/>
          <p:cNvSpPr/>
          <p:nvPr/>
        </p:nvSpPr>
        <p:spPr>
          <a:xfrm>
            <a:off x="8010144" y="4983480"/>
            <a:ext cx="2286000" cy="566928"/>
          </a:xfrm>
          <a:prstGeom prst="roundRect">
            <a:avLst>
              <a:gd name="adj" fmla="val 9677"/>
            </a:avLst>
          </a:prstGeom>
          <a:solidFill>
            <a:srgbClr val="22491F"/>
          </a:solidFill>
          <a:ln w="12700">
            <a:solidFill>
              <a:srgbClr val="2C5F2D"/>
            </a:solidFill>
            <a:prstDash val="solid"/>
          </a:ln>
        </p:spPr>
        <p:txBody>
          <a:bodyPr/>
          <a:lstStyle/>
          <a:p>
            <a:endParaRPr lang="es-CL"/>
          </a:p>
        </p:txBody>
      </p:sp>
      <p:sp>
        <p:nvSpPr>
          <p:cNvPr id="15" name="Text 13"/>
          <p:cNvSpPr/>
          <p:nvPr/>
        </p:nvSpPr>
        <p:spPr>
          <a:xfrm>
            <a:off x="8101584" y="4983480"/>
            <a:ext cx="2103120" cy="566928"/>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Michelangelo Bandelli</a:t>
            </a:r>
            <a:endParaRPr lang="en-US" sz="1100" dirty="0"/>
          </a:p>
        </p:txBody>
      </p:sp>
      <p:sp>
        <p:nvSpPr>
          <p:cNvPr id="16" name="Text 14"/>
          <p:cNvSpPr/>
          <p:nvPr/>
        </p:nvSpPr>
        <p:spPr>
          <a:xfrm>
            <a:off x="566928" y="5943600"/>
            <a:ext cx="7315200" cy="274320"/>
          </a:xfrm>
          <a:prstGeom prst="rect">
            <a:avLst/>
          </a:prstGeom>
          <a:noFill/>
          <a:ln/>
        </p:spPr>
        <p:txBody>
          <a:bodyPr wrap="square" lIns="0" tIns="0" rIns="0" bIns="0" rtlCol="0" anchor="ctr"/>
          <a:lstStyle/>
          <a:p>
            <a:pPr marL="0" indent="0">
              <a:buNone/>
            </a:pPr>
            <a:r>
              <a:rPr lang="en-US" sz="1050" dirty="0">
                <a:solidFill>
                  <a:srgbClr val="97BC62"/>
                </a:solidFill>
                <a:latin typeface="Courier New" pitchFamily="34" charset="0"/>
                <a:ea typeface="Courier New" pitchFamily="34" charset="-122"/>
                <a:cs typeface="Courier New" pitchFamily="34" charset="-120"/>
              </a:rPr>
              <a:t>github.com/SebastianRGP/desafio-movilidad-bikeshare</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lIns="0" tIns="0" rIns="0" bIns="0" rtlCol="0" anchor="ctr"/>
          <a:lstStyle/>
          <a:p>
            <a:pPr marL="0" indent="0">
              <a:buNone/>
            </a:pPr>
            <a:r>
              <a:rPr lang="en-US" sz="1200" b="1" kern="0" spc="200" dirty="0">
                <a:solidFill>
                  <a:srgbClr val="97BC62"/>
                </a:solidFill>
                <a:latin typeface="Calibri" pitchFamily="34" charset="0"/>
                <a:ea typeface="Calibri" pitchFamily="34" charset="-122"/>
                <a:cs typeface="Calibri" pitchFamily="34" charset="-120"/>
              </a:rPr>
              <a:t>DATOS</a:t>
            </a:r>
            <a:endParaRPr lang="en-US" sz="1200" dirty="0"/>
          </a:p>
        </p:txBody>
      </p:sp>
      <p:sp>
        <p:nvSpPr>
          <p:cNvPr id="3" name="Text 1"/>
          <p:cNvSpPr/>
          <p:nvPr/>
        </p:nvSpPr>
        <p:spPr>
          <a:xfrm>
            <a:off x="548640" y="566928"/>
            <a:ext cx="11064240" cy="658368"/>
          </a:xfrm>
          <a:prstGeom prst="rect">
            <a:avLst/>
          </a:prstGeom>
          <a:noFill/>
          <a:ln/>
        </p:spPr>
        <p:txBody>
          <a:bodyPr wrap="square" lIns="0" tIns="0" rIns="0" bIns="0" rtlCol="0" anchor="ctr"/>
          <a:lstStyle/>
          <a:p>
            <a:pPr marL="0" indent="0">
              <a:buNone/>
            </a:pPr>
            <a:r>
              <a:rPr lang="en-US" sz="3400" b="1" dirty="0">
                <a:solidFill>
                  <a:srgbClr val="2C5F2D"/>
                </a:solidFill>
                <a:latin typeface="Cambria" pitchFamily="34" charset="0"/>
                <a:ea typeface="Cambria" pitchFamily="34" charset="-122"/>
                <a:cs typeface="Cambria" pitchFamily="34" charset="-120"/>
              </a:rPr>
              <a:t>Contexto: tres fuentes integradas por fecha-hora</a:t>
            </a:r>
            <a:endParaRPr lang="en-US" sz="3400" dirty="0"/>
          </a:p>
        </p:txBody>
      </p:sp>
      <p:sp>
        <p:nvSpPr>
          <p:cNvPr id="4" name="Text 2"/>
          <p:cNvSpPr/>
          <p:nvPr/>
        </p:nvSpPr>
        <p:spPr>
          <a:xfrm>
            <a:off x="548640" y="1298448"/>
            <a:ext cx="10881360" cy="365760"/>
          </a:xfrm>
          <a:prstGeom prst="rect">
            <a:avLst/>
          </a:prstGeom>
          <a:noFill/>
          <a:ln/>
        </p:spPr>
        <p:txBody>
          <a:bodyPr wrap="square" lIns="0" tIns="0" rIns="0" bIns="0" rtlCol="0" anchor="ctr"/>
          <a:lstStyle/>
          <a:p>
            <a:pPr marL="0" indent="0">
              <a:buNone/>
            </a:pPr>
            <a:r>
              <a:rPr lang="en-US" sz="1350" dirty="0">
                <a:solidFill>
                  <a:srgbClr val="6B7280"/>
                </a:solidFill>
                <a:latin typeface="Calibri" pitchFamily="34" charset="0"/>
                <a:ea typeface="Calibri" pitchFamily="34" charset="-122"/>
                <a:cs typeface="Calibri" pitchFamily="34" charset="-120"/>
              </a:rPr>
              <a:t>El registro de viajes dice cuánto se pedaleó, pero no por qué. El clima y el calendario aportan ese contexto: por eso el ETL une tres fuentes de naturaleza distinta.</a:t>
            </a:r>
            <a:endParaRPr lang="en-US" sz="1350" dirty="0"/>
          </a:p>
        </p:txBody>
      </p:sp>
      <p:sp>
        <p:nvSpPr>
          <p:cNvPr id="5" name="Shape 3"/>
          <p:cNvSpPr/>
          <p:nvPr/>
        </p:nvSpPr>
        <p:spPr>
          <a:xfrm>
            <a:off x="548640" y="1828800"/>
            <a:ext cx="3429000" cy="2286000"/>
          </a:xfrm>
          <a:prstGeom prst="roundRect">
            <a:avLst>
              <a:gd name="adj" fmla="val 3200"/>
            </a:avLst>
          </a:prstGeom>
          <a:solidFill>
            <a:srgbClr val="F5F7F2"/>
          </a:solidFill>
          <a:ln w="12700">
            <a:solidFill>
              <a:srgbClr val="F5F7F2"/>
            </a:solidFill>
            <a:prstDash val="solid"/>
          </a:ln>
          <a:effectLst>
            <a:outerShdw blurRad="101600" dist="25400" dir="5400000" algn="bl" rotWithShape="0">
              <a:srgbClr val="1C3A1C">
                <a:alpha val="10000"/>
              </a:srgbClr>
            </a:outerShdw>
          </a:effectLst>
        </p:spPr>
        <p:txBody>
          <a:bodyPr/>
          <a:lstStyle/>
          <a:p>
            <a:endParaRPr lang="es-CL"/>
          </a:p>
        </p:txBody>
      </p:sp>
      <p:sp>
        <p:nvSpPr>
          <p:cNvPr id="6" name="Shape 4"/>
          <p:cNvSpPr/>
          <p:nvPr/>
        </p:nvSpPr>
        <p:spPr>
          <a:xfrm>
            <a:off x="786384" y="2048256"/>
            <a:ext cx="457200" cy="457200"/>
          </a:xfrm>
          <a:prstGeom prst="ellipse">
            <a:avLst/>
          </a:prstGeom>
          <a:solidFill>
            <a:srgbClr val="2C5F2D"/>
          </a:solidFill>
          <a:ln/>
        </p:spPr>
        <p:txBody>
          <a:bodyPr/>
          <a:lstStyle/>
          <a:p>
            <a:endParaRPr lang="es-CL"/>
          </a:p>
        </p:txBody>
      </p:sp>
      <p:sp>
        <p:nvSpPr>
          <p:cNvPr id="7" name="Text 5"/>
          <p:cNvSpPr/>
          <p:nvPr/>
        </p:nvSpPr>
        <p:spPr>
          <a:xfrm>
            <a:off x="786384" y="2048256"/>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8" name="Text 6"/>
          <p:cNvSpPr/>
          <p:nvPr/>
        </p:nvSpPr>
        <p:spPr>
          <a:xfrm>
            <a:off x="1389888" y="2066544"/>
            <a:ext cx="2377440" cy="274320"/>
          </a:xfrm>
          <a:prstGeom prst="rect">
            <a:avLst/>
          </a:prstGeom>
          <a:noFill/>
          <a:ln/>
        </p:spPr>
        <p:txBody>
          <a:bodyPr wrap="square" lIns="0" tIns="0" rIns="0" bIns="0" rtlCol="0" anchor="ctr"/>
          <a:lstStyle/>
          <a:p>
            <a:pPr marL="0" indent="0">
              <a:buNone/>
            </a:pPr>
            <a:r>
              <a:rPr lang="en-US" sz="1500" b="1" dirty="0">
                <a:solidFill>
                  <a:srgbClr val="2C5F2D"/>
                </a:solidFill>
                <a:latin typeface="Calibri" pitchFamily="34" charset="0"/>
                <a:ea typeface="Calibri" pitchFamily="34" charset="-122"/>
                <a:cs typeface="Calibri" pitchFamily="34" charset="-120"/>
              </a:rPr>
              <a:t>UCI Bike Sharing</a:t>
            </a:r>
            <a:endParaRPr lang="en-US" sz="1500" dirty="0"/>
          </a:p>
        </p:txBody>
      </p:sp>
      <p:sp>
        <p:nvSpPr>
          <p:cNvPr id="9" name="Text 7"/>
          <p:cNvSpPr/>
          <p:nvPr/>
        </p:nvSpPr>
        <p:spPr>
          <a:xfrm>
            <a:off x="1389888" y="2340864"/>
            <a:ext cx="2377440" cy="219456"/>
          </a:xfrm>
          <a:prstGeom prst="rect">
            <a:avLst/>
          </a:prstGeom>
          <a:noFill/>
          <a:ln/>
        </p:spPr>
        <p:txBody>
          <a:bodyPr wrap="square" lIns="0" tIns="0" rIns="0" bIns="0" rtlCol="0" anchor="ctr"/>
          <a:lstStyle/>
          <a:p>
            <a:pPr marL="0" indent="0">
              <a:buNone/>
            </a:pPr>
            <a:r>
              <a:rPr lang="en-US" sz="1000" dirty="0">
                <a:solidFill>
                  <a:srgbClr val="97BC62"/>
                </a:solidFill>
                <a:latin typeface="Calibri" pitchFamily="34" charset="0"/>
                <a:ea typeface="Calibri" pitchFamily="34" charset="-122"/>
                <a:cs typeface="Calibri" pitchFamily="34" charset="-120"/>
              </a:rPr>
              <a:t>Archivo CSV estático</a:t>
            </a:r>
            <a:endParaRPr lang="en-US" sz="1000" dirty="0"/>
          </a:p>
        </p:txBody>
      </p:sp>
      <p:sp>
        <p:nvSpPr>
          <p:cNvPr id="10" name="Text 8"/>
          <p:cNvSpPr/>
          <p:nvPr/>
        </p:nvSpPr>
        <p:spPr>
          <a:xfrm>
            <a:off x="804672" y="2724912"/>
            <a:ext cx="2926080" cy="77724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Washington D.C. · 2011–2012 · horario.</a:t>
            </a:r>
            <a:endParaRPr lang="en-US" sz="1200" dirty="0"/>
          </a:p>
          <a:p>
            <a:pPr marL="0" indent="0">
              <a:buNone/>
            </a:pPr>
            <a:r>
              <a:rPr lang="en-US" sz="1200" dirty="0">
                <a:solidFill>
                  <a:srgbClr val="6B7280"/>
                </a:solidFill>
                <a:latin typeface="Calibri" pitchFamily="34" charset="0"/>
                <a:ea typeface="Calibri" pitchFamily="34" charset="-122"/>
                <a:cs typeface="Calibri" pitchFamily="34" charset="-120"/>
              </a:rPr>
              <a:t>Variable objetivo cnt y contexto base.</a:t>
            </a:r>
            <a:endParaRPr lang="en-US" sz="1200" dirty="0"/>
          </a:p>
        </p:txBody>
      </p:sp>
      <p:sp>
        <p:nvSpPr>
          <p:cNvPr id="11" name="Shape 9"/>
          <p:cNvSpPr/>
          <p:nvPr/>
        </p:nvSpPr>
        <p:spPr>
          <a:xfrm>
            <a:off x="804672" y="3584448"/>
            <a:ext cx="1417320" cy="310896"/>
          </a:xfrm>
          <a:prstGeom prst="roundRect">
            <a:avLst>
              <a:gd name="adj" fmla="val 14706"/>
            </a:avLst>
          </a:prstGeom>
          <a:solidFill>
            <a:srgbClr val="97BC62"/>
          </a:solidFill>
          <a:ln w="12700">
            <a:solidFill>
              <a:srgbClr val="97BC62"/>
            </a:solidFill>
            <a:prstDash val="solid"/>
          </a:ln>
        </p:spPr>
        <p:txBody>
          <a:bodyPr/>
          <a:lstStyle/>
          <a:p>
            <a:endParaRPr lang="es-CL"/>
          </a:p>
        </p:txBody>
      </p:sp>
      <p:sp>
        <p:nvSpPr>
          <p:cNvPr id="12" name="Text 10"/>
          <p:cNvSpPr/>
          <p:nvPr/>
        </p:nvSpPr>
        <p:spPr>
          <a:xfrm>
            <a:off x="804672" y="3584448"/>
            <a:ext cx="1417320" cy="310896"/>
          </a:xfrm>
          <a:prstGeom prst="rect">
            <a:avLst/>
          </a:prstGeom>
          <a:noFill/>
          <a:ln/>
        </p:spPr>
        <p:txBody>
          <a:bodyPr wrap="square" lIns="0" tIns="0" rIns="0" bIns="0" rtlCol="0" anchor="ctr"/>
          <a:lstStyle/>
          <a:p>
            <a:pPr marL="0" indent="0" algn="ctr">
              <a:buNone/>
            </a:pPr>
            <a:r>
              <a:rPr lang="en-US" sz="1050" b="1" dirty="0">
                <a:solidFill>
                  <a:srgbClr val="1C3A1C"/>
                </a:solidFill>
                <a:latin typeface="Calibri" pitchFamily="34" charset="0"/>
                <a:ea typeface="Calibri" pitchFamily="34" charset="-122"/>
                <a:cs typeface="Calibri" pitchFamily="34" charset="-120"/>
              </a:rPr>
              <a:t>17.379 filas</a:t>
            </a:r>
            <a:endParaRPr lang="en-US" sz="1050" dirty="0"/>
          </a:p>
        </p:txBody>
      </p:sp>
      <p:sp>
        <p:nvSpPr>
          <p:cNvPr id="13" name="Shape 11"/>
          <p:cNvSpPr/>
          <p:nvPr/>
        </p:nvSpPr>
        <p:spPr>
          <a:xfrm>
            <a:off x="4251960" y="1828800"/>
            <a:ext cx="3429000" cy="2286000"/>
          </a:xfrm>
          <a:prstGeom prst="roundRect">
            <a:avLst>
              <a:gd name="adj" fmla="val 3200"/>
            </a:avLst>
          </a:prstGeom>
          <a:solidFill>
            <a:srgbClr val="F5F7F2"/>
          </a:solidFill>
          <a:ln w="12700">
            <a:solidFill>
              <a:srgbClr val="F5F7F2"/>
            </a:solidFill>
            <a:prstDash val="solid"/>
          </a:ln>
          <a:effectLst>
            <a:outerShdw blurRad="101600" dist="25400" dir="5400000" algn="bl" rotWithShape="0">
              <a:srgbClr val="1C3A1C">
                <a:alpha val="10000"/>
              </a:srgbClr>
            </a:outerShdw>
          </a:effectLst>
        </p:spPr>
        <p:txBody>
          <a:bodyPr/>
          <a:lstStyle/>
          <a:p>
            <a:endParaRPr lang="es-CL"/>
          </a:p>
        </p:txBody>
      </p:sp>
      <p:sp>
        <p:nvSpPr>
          <p:cNvPr id="14" name="Shape 12"/>
          <p:cNvSpPr/>
          <p:nvPr/>
        </p:nvSpPr>
        <p:spPr>
          <a:xfrm>
            <a:off x="4489704" y="2048256"/>
            <a:ext cx="457200" cy="457200"/>
          </a:xfrm>
          <a:prstGeom prst="ellipse">
            <a:avLst/>
          </a:prstGeom>
          <a:solidFill>
            <a:srgbClr val="2C5F2D"/>
          </a:solidFill>
          <a:ln/>
        </p:spPr>
        <p:txBody>
          <a:bodyPr/>
          <a:lstStyle/>
          <a:p>
            <a:endParaRPr lang="es-CL"/>
          </a:p>
        </p:txBody>
      </p:sp>
      <p:sp>
        <p:nvSpPr>
          <p:cNvPr id="15" name="Text 13"/>
          <p:cNvSpPr/>
          <p:nvPr/>
        </p:nvSpPr>
        <p:spPr>
          <a:xfrm>
            <a:off x="4489704" y="2048256"/>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6" name="Text 14"/>
          <p:cNvSpPr/>
          <p:nvPr/>
        </p:nvSpPr>
        <p:spPr>
          <a:xfrm>
            <a:off x="5093208" y="2066544"/>
            <a:ext cx="2377440" cy="274320"/>
          </a:xfrm>
          <a:prstGeom prst="rect">
            <a:avLst/>
          </a:prstGeom>
          <a:noFill/>
          <a:ln/>
        </p:spPr>
        <p:txBody>
          <a:bodyPr wrap="square" lIns="0" tIns="0" rIns="0" bIns="0" rtlCol="0" anchor="ctr"/>
          <a:lstStyle/>
          <a:p>
            <a:pPr marL="0" indent="0">
              <a:buNone/>
            </a:pPr>
            <a:r>
              <a:rPr lang="en-US" sz="1500" b="1" dirty="0">
                <a:solidFill>
                  <a:srgbClr val="2C5F2D"/>
                </a:solidFill>
                <a:latin typeface="Calibri" pitchFamily="34" charset="0"/>
                <a:ea typeface="Calibri" pitchFamily="34" charset="-122"/>
                <a:cs typeface="Calibri" pitchFamily="34" charset="-120"/>
              </a:rPr>
              <a:t>Open-Meteo API</a:t>
            </a:r>
            <a:endParaRPr lang="en-US" sz="1500" dirty="0"/>
          </a:p>
        </p:txBody>
      </p:sp>
      <p:sp>
        <p:nvSpPr>
          <p:cNvPr id="17" name="Text 15"/>
          <p:cNvSpPr/>
          <p:nvPr/>
        </p:nvSpPr>
        <p:spPr>
          <a:xfrm>
            <a:off x="5093208" y="2340864"/>
            <a:ext cx="2377440" cy="219456"/>
          </a:xfrm>
          <a:prstGeom prst="rect">
            <a:avLst/>
          </a:prstGeom>
          <a:noFill/>
          <a:ln/>
        </p:spPr>
        <p:txBody>
          <a:bodyPr wrap="square" lIns="0" tIns="0" rIns="0" bIns="0" rtlCol="0" anchor="ctr"/>
          <a:lstStyle/>
          <a:p>
            <a:pPr marL="0" indent="0">
              <a:buNone/>
            </a:pPr>
            <a:r>
              <a:rPr lang="en-US" sz="1000" dirty="0">
                <a:solidFill>
                  <a:srgbClr val="97BC62"/>
                </a:solidFill>
                <a:latin typeface="Calibri" pitchFamily="34" charset="0"/>
                <a:ea typeface="Calibri" pitchFamily="34" charset="-122"/>
                <a:cs typeface="Calibri" pitchFamily="34" charset="-120"/>
              </a:rPr>
              <a:t>API REST pública</a:t>
            </a:r>
            <a:endParaRPr lang="en-US" sz="1000" dirty="0"/>
          </a:p>
        </p:txBody>
      </p:sp>
      <p:sp>
        <p:nvSpPr>
          <p:cNvPr id="18" name="Text 16"/>
          <p:cNvSpPr/>
          <p:nvPr/>
        </p:nvSpPr>
        <p:spPr>
          <a:xfrm>
            <a:off x="4507992" y="2724912"/>
            <a:ext cx="2926080" cy="77724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Clima real medido: temperatura,</a:t>
            </a:r>
            <a:endParaRPr lang="en-US" sz="1200" dirty="0"/>
          </a:p>
          <a:p>
            <a:pPr marL="0" indent="0">
              <a:buNone/>
            </a:pPr>
            <a:r>
              <a:rPr lang="en-US" sz="1200" dirty="0">
                <a:solidFill>
                  <a:srgbClr val="6B7280"/>
                </a:solidFill>
                <a:latin typeface="Calibri" pitchFamily="34" charset="0"/>
                <a:ea typeface="Calibri" pitchFamily="34" charset="-122"/>
                <a:cs typeface="Calibri" pitchFamily="34" charset="-120"/>
              </a:rPr>
              <a:t>precipitación en mm, humedad, viento.</a:t>
            </a:r>
            <a:endParaRPr lang="en-US" sz="1200" dirty="0"/>
          </a:p>
        </p:txBody>
      </p:sp>
      <p:sp>
        <p:nvSpPr>
          <p:cNvPr id="19" name="Shape 17"/>
          <p:cNvSpPr/>
          <p:nvPr/>
        </p:nvSpPr>
        <p:spPr>
          <a:xfrm>
            <a:off x="4507992" y="3584448"/>
            <a:ext cx="1417320" cy="310896"/>
          </a:xfrm>
          <a:prstGeom prst="roundRect">
            <a:avLst>
              <a:gd name="adj" fmla="val 14706"/>
            </a:avLst>
          </a:prstGeom>
          <a:solidFill>
            <a:srgbClr val="97BC62"/>
          </a:solidFill>
          <a:ln w="12700">
            <a:solidFill>
              <a:srgbClr val="97BC62"/>
            </a:solidFill>
            <a:prstDash val="solid"/>
          </a:ln>
        </p:spPr>
        <p:txBody>
          <a:bodyPr/>
          <a:lstStyle/>
          <a:p>
            <a:endParaRPr lang="es-CL"/>
          </a:p>
        </p:txBody>
      </p:sp>
      <p:sp>
        <p:nvSpPr>
          <p:cNvPr id="20" name="Text 18"/>
          <p:cNvSpPr/>
          <p:nvPr/>
        </p:nvSpPr>
        <p:spPr>
          <a:xfrm>
            <a:off x="4507992" y="3584448"/>
            <a:ext cx="1417320" cy="310896"/>
          </a:xfrm>
          <a:prstGeom prst="rect">
            <a:avLst/>
          </a:prstGeom>
          <a:noFill/>
          <a:ln/>
        </p:spPr>
        <p:txBody>
          <a:bodyPr wrap="square" lIns="0" tIns="0" rIns="0" bIns="0" rtlCol="0" anchor="ctr"/>
          <a:lstStyle/>
          <a:p>
            <a:pPr marL="0" indent="0" algn="ctr">
              <a:buNone/>
            </a:pPr>
            <a:r>
              <a:rPr lang="en-US" sz="1050" b="1" dirty="0">
                <a:solidFill>
                  <a:srgbClr val="1C3A1C"/>
                </a:solidFill>
                <a:latin typeface="Calibri" pitchFamily="34" charset="0"/>
                <a:ea typeface="Calibri" pitchFamily="34" charset="-122"/>
                <a:cs typeface="Calibri" pitchFamily="34" charset="-120"/>
              </a:rPr>
              <a:t>sin API key</a:t>
            </a:r>
            <a:endParaRPr lang="en-US" sz="1050" dirty="0"/>
          </a:p>
        </p:txBody>
      </p:sp>
      <p:sp>
        <p:nvSpPr>
          <p:cNvPr id="21" name="Shape 19"/>
          <p:cNvSpPr/>
          <p:nvPr/>
        </p:nvSpPr>
        <p:spPr>
          <a:xfrm>
            <a:off x="7955280" y="1828800"/>
            <a:ext cx="3429000" cy="2286000"/>
          </a:xfrm>
          <a:prstGeom prst="roundRect">
            <a:avLst>
              <a:gd name="adj" fmla="val 3200"/>
            </a:avLst>
          </a:prstGeom>
          <a:solidFill>
            <a:srgbClr val="F5F7F2"/>
          </a:solidFill>
          <a:ln w="12700">
            <a:solidFill>
              <a:srgbClr val="F5F7F2"/>
            </a:solidFill>
            <a:prstDash val="solid"/>
          </a:ln>
          <a:effectLst>
            <a:outerShdw blurRad="101600" dist="25400" dir="5400000" algn="bl" rotWithShape="0">
              <a:srgbClr val="1C3A1C">
                <a:alpha val="10000"/>
              </a:srgbClr>
            </a:outerShdw>
          </a:effectLst>
        </p:spPr>
        <p:txBody>
          <a:bodyPr/>
          <a:lstStyle/>
          <a:p>
            <a:endParaRPr lang="es-CL"/>
          </a:p>
        </p:txBody>
      </p:sp>
      <p:sp>
        <p:nvSpPr>
          <p:cNvPr id="22" name="Shape 20"/>
          <p:cNvSpPr/>
          <p:nvPr/>
        </p:nvSpPr>
        <p:spPr>
          <a:xfrm>
            <a:off x="8193024" y="2048256"/>
            <a:ext cx="457200" cy="457200"/>
          </a:xfrm>
          <a:prstGeom prst="ellipse">
            <a:avLst/>
          </a:prstGeom>
          <a:solidFill>
            <a:srgbClr val="2C5F2D"/>
          </a:solidFill>
          <a:ln/>
        </p:spPr>
        <p:txBody>
          <a:bodyPr/>
          <a:lstStyle/>
          <a:p>
            <a:endParaRPr lang="es-CL"/>
          </a:p>
        </p:txBody>
      </p:sp>
      <p:sp>
        <p:nvSpPr>
          <p:cNvPr id="23" name="Text 21"/>
          <p:cNvSpPr/>
          <p:nvPr/>
        </p:nvSpPr>
        <p:spPr>
          <a:xfrm>
            <a:off x="8193024" y="2048256"/>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24" name="Text 22"/>
          <p:cNvSpPr/>
          <p:nvPr/>
        </p:nvSpPr>
        <p:spPr>
          <a:xfrm>
            <a:off x="8796528" y="2066544"/>
            <a:ext cx="2377440" cy="274320"/>
          </a:xfrm>
          <a:prstGeom prst="rect">
            <a:avLst/>
          </a:prstGeom>
          <a:noFill/>
          <a:ln/>
        </p:spPr>
        <p:txBody>
          <a:bodyPr wrap="square" lIns="0" tIns="0" rIns="0" bIns="0" rtlCol="0" anchor="ctr"/>
          <a:lstStyle/>
          <a:p>
            <a:pPr marL="0" indent="0">
              <a:buNone/>
            </a:pPr>
            <a:r>
              <a:rPr lang="en-US" sz="1500" b="1" dirty="0">
                <a:solidFill>
                  <a:srgbClr val="2C5F2D"/>
                </a:solidFill>
                <a:latin typeface="Calibri" pitchFamily="34" charset="0"/>
                <a:ea typeface="Calibri" pitchFamily="34" charset="-122"/>
                <a:cs typeface="Calibri" pitchFamily="34" charset="-120"/>
              </a:rPr>
              <a:t>Feriados (holidays)</a:t>
            </a:r>
            <a:endParaRPr lang="en-US" sz="1500" dirty="0"/>
          </a:p>
        </p:txBody>
      </p:sp>
      <p:sp>
        <p:nvSpPr>
          <p:cNvPr id="25" name="Text 23"/>
          <p:cNvSpPr/>
          <p:nvPr/>
        </p:nvSpPr>
        <p:spPr>
          <a:xfrm>
            <a:off x="8796528" y="2340864"/>
            <a:ext cx="2377440" cy="219456"/>
          </a:xfrm>
          <a:prstGeom prst="rect">
            <a:avLst/>
          </a:prstGeom>
          <a:noFill/>
          <a:ln/>
        </p:spPr>
        <p:txBody>
          <a:bodyPr wrap="square" lIns="0" tIns="0" rIns="0" bIns="0" rtlCol="0" anchor="ctr"/>
          <a:lstStyle/>
          <a:p>
            <a:pPr marL="0" indent="0">
              <a:buNone/>
            </a:pPr>
            <a:r>
              <a:rPr lang="en-US" sz="1000" dirty="0">
                <a:solidFill>
                  <a:srgbClr val="97BC62"/>
                </a:solidFill>
                <a:latin typeface="Calibri" pitchFamily="34" charset="0"/>
                <a:ea typeface="Calibri" pitchFamily="34" charset="-122"/>
                <a:cs typeface="Calibri" pitchFamily="34" charset="-120"/>
              </a:rPr>
              <a:t>Librería / cálculo local</a:t>
            </a:r>
            <a:endParaRPr lang="en-US" sz="1000" dirty="0"/>
          </a:p>
        </p:txBody>
      </p:sp>
      <p:sp>
        <p:nvSpPr>
          <p:cNvPr id="26" name="Text 24"/>
          <p:cNvSpPr/>
          <p:nvPr/>
        </p:nvSpPr>
        <p:spPr>
          <a:xfrm>
            <a:off x="8211312" y="2724912"/>
            <a:ext cx="2926080" cy="77724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Feriados federales de EE.UU.</a:t>
            </a:r>
            <a:endParaRPr lang="en-US" sz="1200" dirty="0"/>
          </a:p>
          <a:p>
            <a:pPr marL="0" indent="0">
              <a:buNone/>
            </a:pPr>
            <a:r>
              <a:rPr lang="en-US" sz="1200" dirty="0">
                <a:solidFill>
                  <a:srgbClr val="6B7280"/>
                </a:solidFill>
                <a:latin typeface="Calibri" pitchFamily="34" charset="0"/>
                <a:ea typeface="Calibri" pitchFamily="34" charset="-122"/>
                <a:cs typeface="Calibri" pitchFamily="34" charset="-120"/>
              </a:rPr>
              <a:t>Rompen el patrón de commuting.</a:t>
            </a:r>
            <a:endParaRPr lang="en-US" sz="1200" dirty="0"/>
          </a:p>
        </p:txBody>
      </p:sp>
      <p:sp>
        <p:nvSpPr>
          <p:cNvPr id="27" name="Shape 25"/>
          <p:cNvSpPr/>
          <p:nvPr/>
        </p:nvSpPr>
        <p:spPr>
          <a:xfrm>
            <a:off x="8211312" y="3584448"/>
            <a:ext cx="1417320" cy="310896"/>
          </a:xfrm>
          <a:prstGeom prst="roundRect">
            <a:avLst>
              <a:gd name="adj" fmla="val 14706"/>
            </a:avLst>
          </a:prstGeom>
          <a:solidFill>
            <a:srgbClr val="97BC62"/>
          </a:solidFill>
          <a:ln w="12700">
            <a:solidFill>
              <a:srgbClr val="97BC62"/>
            </a:solidFill>
            <a:prstDash val="solid"/>
          </a:ln>
        </p:spPr>
        <p:txBody>
          <a:bodyPr/>
          <a:lstStyle/>
          <a:p>
            <a:endParaRPr lang="es-CL"/>
          </a:p>
        </p:txBody>
      </p:sp>
      <p:sp>
        <p:nvSpPr>
          <p:cNvPr id="28" name="Text 26"/>
          <p:cNvSpPr/>
          <p:nvPr/>
        </p:nvSpPr>
        <p:spPr>
          <a:xfrm>
            <a:off x="8211312" y="3584448"/>
            <a:ext cx="1417320" cy="310896"/>
          </a:xfrm>
          <a:prstGeom prst="rect">
            <a:avLst/>
          </a:prstGeom>
          <a:noFill/>
          <a:ln/>
        </p:spPr>
        <p:txBody>
          <a:bodyPr wrap="square" lIns="0" tIns="0" rIns="0" bIns="0" rtlCol="0" anchor="ctr"/>
          <a:lstStyle/>
          <a:p>
            <a:pPr marL="0" indent="0" algn="ctr">
              <a:buNone/>
            </a:pPr>
            <a:r>
              <a:rPr lang="en-US" sz="1050" b="1" dirty="0">
                <a:solidFill>
                  <a:srgbClr val="1C3A1C"/>
                </a:solidFill>
                <a:latin typeface="Calibri" pitchFamily="34" charset="0"/>
                <a:ea typeface="Calibri" pitchFamily="34" charset="-122"/>
                <a:cs typeface="Calibri" pitchFamily="34" charset="-120"/>
              </a:rPr>
              <a:t>23 fechas/año</a:t>
            </a:r>
            <a:endParaRPr lang="en-US" sz="1050" dirty="0"/>
          </a:p>
        </p:txBody>
      </p:sp>
      <p:sp>
        <p:nvSpPr>
          <p:cNvPr id="29" name="Shape 27"/>
          <p:cNvSpPr/>
          <p:nvPr/>
        </p:nvSpPr>
        <p:spPr>
          <a:xfrm>
            <a:off x="548640" y="4343400"/>
            <a:ext cx="10881360" cy="457200"/>
          </a:xfrm>
          <a:prstGeom prst="roundRect">
            <a:avLst>
              <a:gd name="adj" fmla="val 12000"/>
            </a:avLst>
          </a:prstGeom>
          <a:solidFill>
            <a:srgbClr val="1C3A1C"/>
          </a:solidFill>
          <a:ln w="12700">
            <a:solidFill>
              <a:srgbClr val="1C3A1C"/>
            </a:solidFill>
            <a:prstDash val="solid"/>
          </a:ln>
        </p:spPr>
        <p:txBody>
          <a:bodyPr/>
          <a:lstStyle/>
          <a:p>
            <a:endParaRPr lang="es-CL"/>
          </a:p>
        </p:txBody>
      </p:sp>
      <p:sp>
        <p:nvSpPr>
          <p:cNvPr id="30" name="Text 28"/>
          <p:cNvSpPr/>
          <p:nvPr/>
        </p:nvSpPr>
        <p:spPr>
          <a:xfrm>
            <a:off x="548640" y="4343400"/>
            <a:ext cx="10881360" cy="457200"/>
          </a:xfrm>
          <a:prstGeom prst="rect">
            <a:avLst/>
          </a:prstGeom>
          <a:noFill/>
          <a:ln/>
        </p:spPr>
        <p:txBody>
          <a:bodyPr wrap="square" lIns="0" tIns="0" rIns="0" bIns="0" rtlCol="0" anchor="ctr"/>
          <a:lstStyle/>
          <a:p>
            <a:pPr marL="0" indent="0" algn="ctr">
              <a:buNone/>
            </a:pPr>
            <a:r>
              <a:rPr lang="en-US" sz="1300" b="1" dirty="0">
                <a:solidFill>
                  <a:srgbClr val="C9D6C2"/>
                </a:solidFill>
                <a:latin typeface="Calibri" pitchFamily="34" charset="0"/>
                <a:ea typeface="Calibri" pitchFamily="34" charset="-122"/>
                <a:cs typeface="Calibri" pitchFamily="34" charset="-120"/>
              </a:rPr>
              <a:t>Clave de unión:  datetime  (fecha-hora)  →  join exacto 1:1 entre las tres fuentes</a:t>
            </a:r>
            <a:endParaRPr lang="en-US" sz="1300" dirty="0"/>
          </a:p>
        </p:txBody>
      </p:sp>
      <p:sp>
        <p:nvSpPr>
          <p:cNvPr id="31" name="Shape 29"/>
          <p:cNvSpPr/>
          <p:nvPr/>
        </p:nvSpPr>
        <p:spPr>
          <a:xfrm>
            <a:off x="548640" y="4983480"/>
            <a:ext cx="2514600" cy="1051560"/>
          </a:xfrm>
          <a:prstGeom prst="roundRect">
            <a:avLst>
              <a:gd name="adj" fmla="val 6957"/>
            </a:avLst>
          </a:prstGeom>
          <a:solidFill>
            <a:srgbClr val="F5F7F2"/>
          </a:solidFill>
          <a:ln w="12700">
            <a:solidFill>
              <a:srgbClr val="F5F7F2"/>
            </a:solidFill>
            <a:prstDash val="solid"/>
          </a:ln>
          <a:effectLst>
            <a:outerShdw blurRad="101600" dist="25400" dir="5400000" algn="bl" rotWithShape="0">
              <a:srgbClr val="1C3A1C">
                <a:alpha val="10000"/>
              </a:srgbClr>
            </a:outerShdw>
          </a:effectLst>
        </p:spPr>
        <p:txBody>
          <a:bodyPr/>
          <a:lstStyle/>
          <a:p>
            <a:endParaRPr lang="es-CL"/>
          </a:p>
        </p:txBody>
      </p:sp>
      <p:sp>
        <p:nvSpPr>
          <p:cNvPr id="32" name="Text 30"/>
          <p:cNvSpPr/>
          <p:nvPr/>
        </p:nvSpPr>
        <p:spPr>
          <a:xfrm>
            <a:off x="548640" y="5111496"/>
            <a:ext cx="2514600" cy="504749"/>
          </a:xfrm>
          <a:prstGeom prst="rect">
            <a:avLst/>
          </a:prstGeom>
          <a:noFill/>
          <a:ln/>
        </p:spPr>
        <p:txBody>
          <a:bodyPr wrap="square" lIns="0" tIns="0" rIns="0" bIns="0" rtlCol="0" anchor="ctr"/>
          <a:lstStyle/>
          <a:p>
            <a:pPr marL="0" indent="0" algn="ctr">
              <a:buNone/>
            </a:pPr>
            <a:r>
              <a:rPr lang="en-US" sz="3000" b="1" dirty="0">
                <a:solidFill>
                  <a:srgbClr val="2C5F2D"/>
                </a:solidFill>
                <a:latin typeface="Cambria" pitchFamily="34" charset="0"/>
                <a:ea typeface="Cambria" pitchFamily="34" charset="-122"/>
                <a:cs typeface="Cambria" pitchFamily="34" charset="-120"/>
              </a:rPr>
              <a:t>17.158</a:t>
            </a:r>
            <a:endParaRPr lang="en-US" sz="3000" dirty="0"/>
          </a:p>
        </p:txBody>
      </p:sp>
      <p:sp>
        <p:nvSpPr>
          <p:cNvPr id="33" name="Text 31"/>
          <p:cNvSpPr/>
          <p:nvPr/>
        </p:nvSpPr>
        <p:spPr>
          <a:xfrm>
            <a:off x="658368" y="5593385"/>
            <a:ext cx="2295144" cy="378562"/>
          </a:xfrm>
          <a:prstGeom prst="rect">
            <a:avLst/>
          </a:prstGeom>
          <a:noFill/>
          <a:ln/>
        </p:spPr>
        <p:txBody>
          <a:bodyPr wrap="square" lIns="0" tIns="0" rIns="0" bIns="0" rtlCol="0" anchor="t"/>
          <a:lstStyle/>
          <a:p>
            <a:pPr marL="0" indent="0" algn="ctr">
              <a:buNone/>
            </a:pPr>
            <a:r>
              <a:rPr lang="en-US" sz="1050" dirty="0">
                <a:solidFill>
                  <a:srgbClr val="6B7280"/>
                </a:solidFill>
                <a:latin typeface="Calibri" pitchFamily="34" charset="0"/>
                <a:ea typeface="Calibri" pitchFamily="34" charset="-122"/>
                <a:cs typeface="Calibri" pitchFamily="34" charset="-120"/>
              </a:rPr>
              <a:t>filas finales</a:t>
            </a:r>
            <a:endParaRPr lang="en-US" sz="1050" dirty="0"/>
          </a:p>
        </p:txBody>
      </p:sp>
      <p:sp>
        <p:nvSpPr>
          <p:cNvPr id="34" name="Shape 32"/>
          <p:cNvSpPr/>
          <p:nvPr/>
        </p:nvSpPr>
        <p:spPr>
          <a:xfrm>
            <a:off x="3337560" y="4983480"/>
            <a:ext cx="2514600" cy="1051560"/>
          </a:xfrm>
          <a:prstGeom prst="roundRect">
            <a:avLst>
              <a:gd name="adj" fmla="val 6957"/>
            </a:avLst>
          </a:prstGeom>
          <a:solidFill>
            <a:srgbClr val="F5F7F2"/>
          </a:solidFill>
          <a:ln w="12700">
            <a:solidFill>
              <a:srgbClr val="F5F7F2"/>
            </a:solidFill>
            <a:prstDash val="solid"/>
          </a:ln>
          <a:effectLst>
            <a:outerShdw blurRad="101600" dist="25400" dir="5400000" algn="bl" rotWithShape="0">
              <a:srgbClr val="1C3A1C">
                <a:alpha val="10000"/>
              </a:srgbClr>
            </a:outerShdw>
          </a:effectLst>
        </p:spPr>
        <p:txBody>
          <a:bodyPr/>
          <a:lstStyle/>
          <a:p>
            <a:endParaRPr lang="es-CL"/>
          </a:p>
        </p:txBody>
      </p:sp>
      <p:sp>
        <p:nvSpPr>
          <p:cNvPr id="35" name="Text 33"/>
          <p:cNvSpPr/>
          <p:nvPr/>
        </p:nvSpPr>
        <p:spPr>
          <a:xfrm>
            <a:off x="3337560" y="5111496"/>
            <a:ext cx="2514600" cy="504749"/>
          </a:xfrm>
          <a:prstGeom prst="rect">
            <a:avLst/>
          </a:prstGeom>
          <a:noFill/>
          <a:ln/>
        </p:spPr>
        <p:txBody>
          <a:bodyPr wrap="square" lIns="0" tIns="0" rIns="0" bIns="0" rtlCol="0" anchor="ctr"/>
          <a:lstStyle/>
          <a:p>
            <a:pPr marL="0" indent="0" algn="ctr">
              <a:buNone/>
            </a:pPr>
            <a:r>
              <a:rPr lang="en-US" sz="3000" b="1" dirty="0">
                <a:solidFill>
                  <a:srgbClr val="2C5F2D"/>
                </a:solidFill>
                <a:latin typeface="Cambria" pitchFamily="34" charset="0"/>
                <a:ea typeface="Cambria" pitchFamily="34" charset="-122"/>
                <a:cs typeface="Cambria" pitchFamily="34" charset="-120"/>
              </a:rPr>
              <a:t>42</a:t>
            </a:r>
            <a:endParaRPr lang="en-US" sz="3000" dirty="0"/>
          </a:p>
        </p:txBody>
      </p:sp>
      <p:sp>
        <p:nvSpPr>
          <p:cNvPr id="36" name="Text 34"/>
          <p:cNvSpPr/>
          <p:nvPr/>
        </p:nvSpPr>
        <p:spPr>
          <a:xfrm>
            <a:off x="3447288" y="5593385"/>
            <a:ext cx="2295144" cy="378562"/>
          </a:xfrm>
          <a:prstGeom prst="rect">
            <a:avLst/>
          </a:prstGeom>
          <a:noFill/>
          <a:ln/>
        </p:spPr>
        <p:txBody>
          <a:bodyPr wrap="square" lIns="0" tIns="0" rIns="0" bIns="0" rtlCol="0" anchor="t"/>
          <a:lstStyle/>
          <a:p>
            <a:pPr marL="0" indent="0" algn="ctr">
              <a:buNone/>
            </a:pPr>
            <a:r>
              <a:rPr lang="en-US" sz="1050" dirty="0">
                <a:solidFill>
                  <a:srgbClr val="6B7280"/>
                </a:solidFill>
                <a:latin typeface="Calibri" pitchFamily="34" charset="0"/>
                <a:ea typeface="Calibri" pitchFamily="34" charset="-122"/>
                <a:cs typeface="Calibri" pitchFamily="34" charset="-120"/>
              </a:rPr>
              <a:t>columnas</a:t>
            </a:r>
            <a:endParaRPr lang="en-US" sz="1050" dirty="0"/>
          </a:p>
        </p:txBody>
      </p:sp>
      <p:sp>
        <p:nvSpPr>
          <p:cNvPr id="37" name="Shape 35"/>
          <p:cNvSpPr/>
          <p:nvPr/>
        </p:nvSpPr>
        <p:spPr>
          <a:xfrm>
            <a:off x="6126480" y="4983480"/>
            <a:ext cx="2514600" cy="1051560"/>
          </a:xfrm>
          <a:prstGeom prst="roundRect">
            <a:avLst>
              <a:gd name="adj" fmla="val 6957"/>
            </a:avLst>
          </a:prstGeom>
          <a:solidFill>
            <a:srgbClr val="F5F7F2"/>
          </a:solidFill>
          <a:ln w="12700">
            <a:solidFill>
              <a:srgbClr val="F5F7F2"/>
            </a:solidFill>
            <a:prstDash val="solid"/>
          </a:ln>
          <a:effectLst>
            <a:outerShdw blurRad="101600" dist="25400" dir="5400000" algn="bl" rotWithShape="0">
              <a:srgbClr val="1C3A1C">
                <a:alpha val="10000"/>
              </a:srgbClr>
            </a:outerShdw>
          </a:effectLst>
        </p:spPr>
        <p:txBody>
          <a:bodyPr/>
          <a:lstStyle/>
          <a:p>
            <a:endParaRPr lang="es-CL"/>
          </a:p>
        </p:txBody>
      </p:sp>
      <p:sp>
        <p:nvSpPr>
          <p:cNvPr id="38" name="Text 36"/>
          <p:cNvSpPr/>
          <p:nvPr/>
        </p:nvSpPr>
        <p:spPr>
          <a:xfrm>
            <a:off x="6126480" y="5111496"/>
            <a:ext cx="2514600" cy="504749"/>
          </a:xfrm>
          <a:prstGeom prst="rect">
            <a:avLst/>
          </a:prstGeom>
          <a:noFill/>
          <a:ln/>
        </p:spPr>
        <p:txBody>
          <a:bodyPr wrap="square" lIns="0" tIns="0" rIns="0" bIns="0" rtlCol="0" anchor="ctr"/>
          <a:lstStyle/>
          <a:p>
            <a:pPr marL="0" indent="0" algn="ctr">
              <a:buNone/>
            </a:pPr>
            <a:r>
              <a:rPr lang="en-US" sz="3000" b="1" dirty="0">
                <a:solidFill>
                  <a:srgbClr val="2C5F2D"/>
                </a:solidFill>
                <a:latin typeface="Cambria" pitchFamily="34" charset="0"/>
                <a:ea typeface="Cambria" pitchFamily="34" charset="-122"/>
                <a:cs typeface="Cambria" pitchFamily="34" charset="-120"/>
              </a:rPr>
              <a:t>100%</a:t>
            </a:r>
            <a:endParaRPr lang="en-US" sz="3000" dirty="0"/>
          </a:p>
        </p:txBody>
      </p:sp>
      <p:sp>
        <p:nvSpPr>
          <p:cNvPr id="39" name="Text 37"/>
          <p:cNvSpPr/>
          <p:nvPr/>
        </p:nvSpPr>
        <p:spPr>
          <a:xfrm>
            <a:off x="6236208" y="5593385"/>
            <a:ext cx="2295144" cy="378562"/>
          </a:xfrm>
          <a:prstGeom prst="rect">
            <a:avLst/>
          </a:prstGeom>
          <a:noFill/>
          <a:ln/>
        </p:spPr>
        <p:txBody>
          <a:bodyPr wrap="square" lIns="0" tIns="0" rIns="0" bIns="0" rtlCol="0" anchor="t"/>
          <a:lstStyle/>
          <a:p>
            <a:pPr marL="0" indent="0" algn="ctr">
              <a:buNone/>
            </a:pPr>
            <a:r>
              <a:rPr lang="en-US" sz="1050" dirty="0">
                <a:solidFill>
                  <a:srgbClr val="6B7280"/>
                </a:solidFill>
                <a:latin typeface="Calibri" pitchFamily="34" charset="0"/>
                <a:ea typeface="Calibri" pitchFamily="34" charset="-122"/>
                <a:cs typeface="Calibri" pitchFamily="34" charset="-120"/>
              </a:rPr>
              <a:t>match con clima</a:t>
            </a:r>
            <a:endParaRPr lang="en-US" sz="1050" dirty="0"/>
          </a:p>
        </p:txBody>
      </p:sp>
      <p:sp>
        <p:nvSpPr>
          <p:cNvPr id="40" name="Shape 38"/>
          <p:cNvSpPr/>
          <p:nvPr/>
        </p:nvSpPr>
        <p:spPr>
          <a:xfrm>
            <a:off x="8915400" y="4983480"/>
            <a:ext cx="2514600" cy="1051560"/>
          </a:xfrm>
          <a:prstGeom prst="roundRect">
            <a:avLst>
              <a:gd name="adj" fmla="val 6957"/>
            </a:avLst>
          </a:prstGeom>
          <a:solidFill>
            <a:srgbClr val="F5F7F2"/>
          </a:solidFill>
          <a:ln w="12700">
            <a:solidFill>
              <a:srgbClr val="F5F7F2"/>
            </a:solidFill>
            <a:prstDash val="solid"/>
          </a:ln>
          <a:effectLst>
            <a:outerShdw blurRad="101600" dist="25400" dir="5400000" algn="bl" rotWithShape="0">
              <a:srgbClr val="1C3A1C">
                <a:alpha val="10000"/>
              </a:srgbClr>
            </a:outerShdw>
          </a:effectLst>
        </p:spPr>
        <p:txBody>
          <a:bodyPr/>
          <a:lstStyle/>
          <a:p>
            <a:endParaRPr lang="es-CL"/>
          </a:p>
        </p:txBody>
      </p:sp>
      <p:sp>
        <p:nvSpPr>
          <p:cNvPr id="41" name="Text 39"/>
          <p:cNvSpPr/>
          <p:nvPr/>
        </p:nvSpPr>
        <p:spPr>
          <a:xfrm>
            <a:off x="8915400" y="5111496"/>
            <a:ext cx="2514600" cy="504749"/>
          </a:xfrm>
          <a:prstGeom prst="rect">
            <a:avLst/>
          </a:prstGeom>
          <a:noFill/>
          <a:ln/>
        </p:spPr>
        <p:txBody>
          <a:bodyPr wrap="square" lIns="0" tIns="0" rIns="0" bIns="0" rtlCol="0" anchor="ctr"/>
          <a:lstStyle/>
          <a:p>
            <a:pPr marL="0" indent="0" algn="ctr">
              <a:buNone/>
            </a:pPr>
            <a:r>
              <a:rPr lang="en-US" sz="3000" b="1" dirty="0">
                <a:solidFill>
                  <a:srgbClr val="2C5F2D"/>
                </a:solidFill>
                <a:latin typeface="Cambria" pitchFamily="34" charset="0"/>
                <a:ea typeface="Cambria" pitchFamily="34" charset="-122"/>
                <a:cs typeface="Cambria" pitchFamily="34" charset="-120"/>
              </a:rPr>
              <a:t>0</a:t>
            </a:r>
            <a:endParaRPr lang="en-US" sz="3000" dirty="0"/>
          </a:p>
        </p:txBody>
      </p:sp>
      <p:sp>
        <p:nvSpPr>
          <p:cNvPr id="42" name="Text 40"/>
          <p:cNvSpPr/>
          <p:nvPr/>
        </p:nvSpPr>
        <p:spPr>
          <a:xfrm>
            <a:off x="9025128" y="5593385"/>
            <a:ext cx="2295144" cy="378562"/>
          </a:xfrm>
          <a:prstGeom prst="rect">
            <a:avLst/>
          </a:prstGeom>
          <a:noFill/>
          <a:ln/>
        </p:spPr>
        <p:txBody>
          <a:bodyPr wrap="square" lIns="0" tIns="0" rIns="0" bIns="0" rtlCol="0" anchor="t"/>
          <a:lstStyle/>
          <a:p>
            <a:pPr marL="0" indent="0" algn="ctr">
              <a:buNone/>
            </a:pPr>
            <a:r>
              <a:rPr lang="en-US" sz="1050" dirty="0">
                <a:solidFill>
                  <a:srgbClr val="6B7280"/>
                </a:solidFill>
                <a:latin typeface="Calibri" pitchFamily="34" charset="0"/>
                <a:ea typeface="Calibri" pitchFamily="34" charset="-122"/>
                <a:cs typeface="Calibri" pitchFamily="34" charset="-120"/>
              </a:rPr>
              <a:t>nulos en features</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lIns="0" tIns="0" rIns="0" bIns="0" rtlCol="0" anchor="ctr"/>
          <a:lstStyle/>
          <a:p>
            <a:pPr marL="0" indent="0">
              <a:buNone/>
            </a:pPr>
            <a:r>
              <a:rPr lang="en-US" sz="1200" b="1" kern="0" spc="200" dirty="0">
                <a:solidFill>
                  <a:srgbClr val="97BC62"/>
                </a:solidFill>
                <a:latin typeface="Calibri" pitchFamily="34" charset="0"/>
                <a:ea typeface="Calibri" pitchFamily="34" charset="-122"/>
                <a:cs typeface="Calibri" pitchFamily="34" charset="-120"/>
              </a:rPr>
              <a:t>SEBASTIÁN GONZÁLEZ · 1 DE 3</a:t>
            </a:r>
            <a:endParaRPr lang="en-US" sz="1200" dirty="0"/>
          </a:p>
        </p:txBody>
      </p:sp>
      <p:sp>
        <p:nvSpPr>
          <p:cNvPr id="3" name="Text 1"/>
          <p:cNvSpPr/>
          <p:nvPr/>
        </p:nvSpPr>
        <p:spPr>
          <a:xfrm>
            <a:off x="548640" y="740664"/>
            <a:ext cx="11064240" cy="658368"/>
          </a:xfrm>
          <a:prstGeom prst="rect">
            <a:avLst/>
          </a:prstGeom>
          <a:noFill/>
          <a:ln/>
        </p:spPr>
        <p:txBody>
          <a:bodyPr wrap="square" lIns="0" tIns="0" rIns="0" bIns="0" rtlCol="0" anchor="ctr"/>
          <a:lstStyle/>
          <a:p>
            <a:pPr marL="0" indent="0">
              <a:buNone/>
            </a:pPr>
            <a:r>
              <a:rPr lang="en-US" sz="3400" b="1" dirty="0">
                <a:solidFill>
                  <a:srgbClr val="2C5F2D"/>
                </a:solidFill>
                <a:latin typeface="Cambria" pitchFamily="34" charset="0"/>
                <a:ea typeface="Cambria" pitchFamily="34" charset="-122"/>
                <a:cs typeface="Cambria" pitchFamily="34" charset="-120"/>
              </a:rPr>
              <a:t>El problema: ¿cuántas bicicletas se usarán la próxima hora?</a:t>
            </a:r>
            <a:endParaRPr lang="en-US" sz="3400" dirty="0"/>
          </a:p>
        </p:txBody>
      </p:sp>
      <p:sp>
        <p:nvSpPr>
          <p:cNvPr id="4" name="Text 2"/>
          <p:cNvSpPr/>
          <p:nvPr/>
        </p:nvSpPr>
        <p:spPr>
          <a:xfrm>
            <a:off x="548640" y="1490472"/>
            <a:ext cx="10881360" cy="640080"/>
          </a:xfrm>
          <a:prstGeom prst="rect">
            <a:avLst/>
          </a:prstGeom>
          <a:noFill/>
          <a:ln/>
        </p:spPr>
        <p:txBody>
          <a:bodyPr wrap="square" lIns="0" tIns="0" rIns="0" bIns="0" rtlCol="0" anchor="ctr"/>
          <a:lstStyle/>
          <a:p>
            <a:pPr marL="0" indent="0">
              <a:buNone/>
            </a:pPr>
            <a:r>
              <a:rPr lang="en-US" sz="1300" dirty="0">
                <a:solidFill>
                  <a:srgbClr val="6B7280"/>
                </a:solidFill>
                <a:latin typeface="Calibri" pitchFamily="34" charset="0"/>
                <a:ea typeface="Calibri" pitchFamily="34" charset="-122"/>
                <a:cs typeface="Calibri" pitchFamily="34" charset="-120"/>
              </a:rPr>
              <a:t>La demanda no es uniforme: a ciertas horas las estaciones del centro quedan vacías y las periféricas saturadas. Cada bicicleta que falta es un viaje perdido; cada camión movido a ciegas, un costo evitable.</a:t>
            </a:r>
            <a:endParaRPr lang="en-US" sz="1300" dirty="0"/>
          </a:p>
        </p:txBody>
      </p:sp>
      <p:sp>
        <p:nvSpPr>
          <p:cNvPr id="5" name="Shape 3"/>
          <p:cNvSpPr/>
          <p:nvPr/>
        </p:nvSpPr>
        <p:spPr>
          <a:xfrm>
            <a:off x="548640" y="2148840"/>
            <a:ext cx="6858000" cy="1115568"/>
          </a:xfrm>
          <a:prstGeom prst="roundRect">
            <a:avLst>
              <a:gd name="adj" fmla="val 6557"/>
            </a:avLst>
          </a:prstGeom>
          <a:solidFill>
            <a:srgbClr val="F5F7F2"/>
          </a:solidFill>
          <a:ln w="12700">
            <a:solidFill>
              <a:srgbClr val="F5F7F2"/>
            </a:solidFill>
            <a:prstDash val="solid"/>
          </a:ln>
          <a:effectLst>
            <a:outerShdw blurRad="101600" dist="25400" dir="5400000" algn="bl" rotWithShape="0">
              <a:srgbClr val="1C3A1C">
                <a:alpha val="10000"/>
              </a:srgbClr>
            </a:outerShdw>
          </a:effectLst>
        </p:spPr>
        <p:txBody>
          <a:bodyPr/>
          <a:lstStyle/>
          <a:p>
            <a:endParaRPr lang="es-CL"/>
          </a:p>
        </p:txBody>
      </p:sp>
      <p:sp>
        <p:nvSpPr>
          <p:cNvPr id="6" name="Shape 4"/>
          <p:cNvSpPr/>
          <p:nvPr/>
        </p:nvSpPr>
        <p:spPr>
          <a:xfrm>
            <a:off x="804672" y="2432304"/>
            <a:ext cx="548640" cy="548640"/>
          </a:xfrm>
          <a:prstGeom prst="ellipse">
            <a:avLst/>
          </a:prstGeom>
          <a:solidFill>
            <a:srgbClr val="97BC62"/>
          </a:solidFill>
          <a:ln/>
        </p:spPr>
        <p:txBody>
          <a:bodyPr/>
          <a:lstStyle/>
          <a:p>
            <a:endParaRPr lang="es-CL"/>
          </a:p>
        </p:txBody>
      </p:sp>
      <p:sp>
        <p:nvSpPr>
          <p:cNvPr id="7" name="Text 5"/>
          <p:cNvSpPr/>
          <p:nvPr/>
        </p:nvSpPr>
        <p:spPr>
          <a:xfrm>
            <a:off x="804672" y="2432304"/>
            <a:ext cx="548640" cy="54864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8" name="Text 6"/>
          <p:cNvSpPr/>
          <p:nvPr/>
        </p:nvSpPr>
        <p:spPr>
          <a:xfrm>
            <a:off x="1481328" y="2331720"/>
            <a:ext cx="5669280" cy="274320"/>
          </a:xfrm>
          <a:prstGeom prst="rect">
            <a:avLst/>
          </a:prstGeom>
          <a:noFill/>
          <a:ln/>
        </p:spPr>
        <p:txBody>
          <a:bodyPr wrap="square" lIns="0" tIns="0" rIns="0" bIns="0" rtlCol="0" anchor="ctr"/>
          <a:lstStyle/>
          <a:p>
            <a:pPr marL="0" indent="0">
              <a:buNone/>
            </a:pPr>
            <a:r>
              <a:rPr lang="en-US" sz="1500" b="1" dirty="0">
                <a:solidFill>
                  <a:srgbClr val="2C5F2D"/>
                </a:solidFill>
                <a:latin typeface="Calibri" pitchFamily="34" charset="0"/>
                <a:ea typeface="Calibri" pitchFamily="34" charset="-122"/>
                <a:cs typeface="Calibri" pitchFamily="34" charset="-120"/>
              </a:rPr>
              <a:t>Redistribuir la flota</a:t>
            </a:r>
            <a:endParaRPr lang="en-US" sz="1500" dirty="0"/>
          </a:p>
        </p:txBody>
      </p:sp>
      <p:sp>
        <p:nvSpPr>
          <p:cNvPr id="9" name="Text 7"/>
          <p:cNvSpPr/>
          <p:nvPr/>
        </p:nvSpPr>
        <p:spPr>
          <a:xfrm>
            <a:off x="1481328" y="2624328"/>
            <a:ext cx="5669280" cy="493776"/>
          </a:xfrm>
          <a:prstGeom prst="rect">
            <a:avLst/>
          </a:prstGeom>
          <a:noFill/>
          <a:ln/>
        </p:spPr>
        <p:txBody>
          <a:bodyPr wrap="square" lIns="0" tIns="0" rIns="0" bIns="0" rtlCol="0" anchor="t"/>
          <a:lstStyle/>
          <a:p>
            <a:pPr marL="0" indent="0">
              <a:buNone/>
            </a:pPr>
            <a:r>
              <a:rPr lang="en-US" sz="1200" dirty="0">
                <a:solidFill>
                  <a:srgbClr val="6B7280"/>
                </a:solidFill>
                <a:latin typeface="Calibri" pitchFamily="34" charset="0"/>
                <a:ea typeface="Calibri" pitchFamily="34" charset="-122"/>
                <a:cs typeface="Calibri" pitchFamily="34" charset="-120"/>
              </a:rPr>
              <a:t>Mover bicicletas hacia donde habrá demanda antes de que falten.</a:t>
            </a:r>
            <a:endParaRPr lang="en-US" sz="1200" dirty="0"/>
          </a:p>
        </p:txBody>
      </p:sp>
      <p:sp>
        <p:nvSpPr>
          <p:cNvPr id="10" name="Shape 8"/>
          <p:cNvSpPr/>
          <p:nvPr/>
        </p:nvSpPr>
        <p:spPr>
          <a:xfrm>
            <a:off x="548640" y="3447288"/>
            <a:ext cx="6858000" cy="1115568"/>
          </a:xfrm>
          <a:prstGeom prst="roundRect">
            <a:avLst>
              <a:gd name="adj" fmla="val 6557"/>
            </a:avLst>
          </a:prstGeom>
          <a:solidFill>
            <a:srgbClr val="F5F7F2"/>
          </a:solidFill>
          <a:ln w="12700">
            <a:solidFill>
              <a:srgbClr val="F5F7F2"/>
            </a:solidFill>
            <a:prstDash val="solid"/>
          </a:ln>
          <a:effectLst>
            <a:outerShdw blurRad="101600" dist="25400" dir="5400000" algn="bl" rotWithShape="0">
              <a:srgbClr val="1C3A1C">
                <a:alpha val="10000"/>
              </a:srgbClr>
            </a:outerShdw>
          </a:effectLst>
        </p:spPr>
        <p:txBody>
          <a:bodyPr/>
          <a:lstStyle/>
          <a:p>
            <a:endParaRPr lang="es-CL"/>
          </a:p>
        </p:txBody>
      </p:sp>
      <p:sp>
        <p:nvSpPr>
          <p:cNvPr id="11" name="Shape 9"/>
          <p:cNvSpPr/>
          <p:nvPr/>
        </p:nvSpPr>
        <p:spPr>
          <a:xfrm>
            <a:off x="804672" y="3730752"/>
            <a:ext cx="548640" cy="548640"/>
          </a:xfrm>
          <a:prstGeom prst="ellipse">
            <a:avLst/>
          </a:prstGeom>
          <a:solidFill>
            <a:srgbClr val="97BC62"/>
          </a:solidFill>
          <a:ln/>
        </p:spPr>
        <p:txBody>
          <a:bodyPr/>
          <a:lstStyle/>
          <a:p>
            <a:endParaRPr lang="es-CL"/>
          </a:p>
        </p:txBody>
      </p:sp>
      <p:sp>
        <p:nvSpPr>
          <p:cNvPr id="12" name="Text 10"/>
          <p:cNvSpPr/>
          <p:nvPr/>
        </p:nvSpPr>
        <p:spPr>
          <a:xfrm>
            <a:off x="804672" y="3730752"/>
            <a:ext cx="548640" cy="54864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13" name="Text 11"/>
          <p:cNvSpPr/>
          <p:nvPr/>
        </p:nvSpPr>
        <p:spPr>
          <a:xfrm>
            <a:off x="1481328" y="3630168"/>
            <a:ext cx="5669280" cy="274320"/>
          </a:xfrm>
          <a:prstGeom prst="rect">
            <a:avLst/>
          </a:prstGeom>
          <a:noFill/>
          <a:ln/>
        </p:spPr>
        <p:txBody>
          <a:bodyPr wrap="square" lIns="0" tIns="0" rIns="0" bIns="0" rtlCol="0" anchor="ctr"/>
          <a:lstStyle/>
          <a:p>
            <a:pPr marL="0" indent="0">
              <a:buNone/>
            </a:pPr>
            <a:r>
              <a:rPr lang="en-US" sz="1500" b="1" dirty="0">
                <a:solidFill>
                  <a:srgbClr val="2C5F2D"/>
                </a:solidFill>
                <a:latin typeface="Calibri" pitchFamily="34" charset="0"/>
                <a:ea typeface="Calibri" pitchFamily="34" charset="-122"/>
                <a:cs typeface="Calibri" pitchFamily="34" charset="-120"/>
              </a:rPr>
              <a:t>Planificar mantenimiento</a:t>
            </a:r>
            <a:endParaRPr lang="en-US" sz="1500" dirty="0"/>
          </a:p>
        </p:txBody>
      </p:sp>
      <p:sp>
        <p:nvSpPr>
          <p:cNvPr id="14" name="Text 12"/>
          <p:cNvSpPr/>
          <p:nvPr/>
        </p:nvSpPr>
        <p:spPr>
          <a:xfrm>
            <a:off x="1481328" y="3922776"/>
            <a:ext cx="5669280" cy="493776"/>
          </a:xfrm>
          <a:prstGeom prst="rect">
            <a:avLst/>
          </a:prstGeom>
          <a:noFill/>
          <a:ln/>
        </p:spPr>
        <p:txBody>
          <a:bodyPr wrap="square" lIns="0" tIns="0" rIns="0" bIns="0" rtlCol="0" anchor="t"/>
          <a:lstStyle/>
          <a:p>
            <a:pPr marL="0" indent="0">
              <a:buNone/>
            </a:pPr>
            <a:r>
              <a:rPr lang="en-US" sz="1200" dirty="0">
                <a:solidFill>
                  <a:srgbClr val="6B7280"/>
                </a:solidFill>
                <a:latin typeface="Calibri" pitchFamily="34" charset="0"/>
                <a:ea typeface="Calibri" pitchFamily="34" charset="-122"/>
                <a:cs typeface="Calibri" pitchFamily="34" charset="-120"/>
              </a:rPr>
              <a:t>Aprovechar las horas valle para operar sin afectar el servicio.</a:t>
            </a:r>
            <a:endParaRPr lang="en-US" sz="1200" dirty="0"/>
          </a:p>
        </p:txBody>
      </p:sp>
      <p:sp>
        <p:nvSpPr>
          <p:cNvPr id="15" name="Shape 13"/>
          <p:cNvSpPr/>
          <p:nvPr/>
        </p:nvSpPr>
        <p:spPr>
          <a:xfrm>
            <a:off x="548640" y="4745736"/>
            <a:ext cx="6858000" cy="1115568"/>
          </a:xfrm>
          <a:prstGeom prst="roundRect">
            <a:avLst>
              <a:gd name="adj" fmla="val 6557"/>
            </a:avLst>
          </a:prstGeom>
          <a:solidFill>
            <a:srgbClr val="F5F7F2"/>
          </a:solidFill>
          <a:ln w="12700">
            <a:solidFill>
              <a:srgbClr val="F5F7F2"/>
            </a:solidFill>
            <a:prstDash val="solid"/>
          </a:ln>
          <a:effectLst>
            <a:outerShdw blurRad="101600" dist="25400" dir="5400000" algn="bl" rotWithShape="0">
              <a:srgbClr val="1C3A1C">
                <a:alpha val="10000"/>
              </a:srgbClr>
            </a:outerShdw>
          </a:effectLst>
        </p:spPr>
        <p:txBody>
          <a:bodyPr/>
          <a:lstStyle/>
          <a:p>
            <a:endParaRPr lang="es-CL"/>
          </a:p>
        </p:txBody>
      </p:sp>
      <p:sp>
        <p:nvSpPr>
          <p:cNvPr id="16" name="Shape 14"/>
          <p:cNvSpPr/>
          <p:nvPr/>
        </p:nvSpPr>
        <p:spPr>
          <a:xfrm>
            <a:off x="804672" y="5029200"/>
            <a:ext cx="548640" cy="548640"/>
          </a:xfrm>
          <a:prstGeom prst="ellipse">
            <a:avLst/>
          </a:prstGeom>
          <a:solidFill>
            <a:srgbClr val="97BC62"/>
          </a:solidFill>
          <a:ln/>
        </p:spPr>
        <p:txBody>
          <a:bodyPr/>
          <a:lstStyle/>
          <a:p>
            <a:endParaRPr lang="es-CL"/>
          </a:p>
        </p:txBody>
      </p:sp>
      <p:sp>
        <p:nvSpPr>
          <p:cNvPr id="17" name="Text 15"/>
          <p:cNvSpPr/>
          <p:nvPr/>
        </p:nvSpPr>
        <p:spPr>
          <a:xfrm>
            <a:off x="804672" y="5029200"/>
            <a:ext cx="548640" cy="54864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18" name="Text 16"/>
          <p:cNvSpPr/>
          <p:nvPr/>
        </p:nvSpPr>
        <p:spPr>
          <a:xfrm>
            <a:off x="1481328" y="4928616"/>
            <a:ext cx="5669280" cy="274320"/>
          </a:xfrm>
          <a:prstGeom prst="rect">
            <a:avLst/>
          </a:prstGeom>
          <a:noFill/>
          <a:ln/>
        </p:spPr>
        <p:txBody>
          <a:bodyPr wrap="square" lIns="0" tIns="0" rIns="0" bIns="0" rtlCol="0" anchor="ctr"/>
          <a:lstStyle/>
          <a:p>
            <a:pPr marL="0" indent="0">
              <a:buNone/>
            </a:pPr>
            <a:r>
              <a:rPr lang="en-US" sz="1500" b="1" dirty="0">
                <a:solidFill>
                  <a:srgbClr val="2C5F2D"/>
                </a:solidFill>
                <a:latin typeface="Calibri" pitchFamily="34" charset="0"/>
                <a:ea typeface="Calibri" pitchFamily="34" charset="-122"/>
                <a:cs typeface="Calibri" pitchFamily="34" charset="-120"/>
              </a:rPr>
              <a:t>Dimensionar la operación</a:t>
            </a:r>
            <a:endParaRPr lang="en-US" sz="1500" dirty="0"/>
          </a:p>
        </p:txBody>
      </p:sp>
      <p:sp>
        <p:nvSpPr>
          <p:cNvPr id="19" name="Text 17"/>
          <p:cNvSpPr/>
          <p:nvPr/>
        </p:nvSpPr>
        <p:spPr>
          <a:xfrm>
            <a:off x="1481328" y="5221224"/>
            <a:ext cx="5669280" cy="493776"/>
          </a:xfrm>
          <a:prstGeom prst="rect">
            <a:avLst/>
          </a:prstGeom>
          <a:noFill/>
          <a:ln/>
        </p:spPr>
        <p:txBody>
          <a:bodyPr wrap="square" lIns="0" tIns="0" rIns="0" bIns="0" rtlCol="0" anchor="t"/>
          <a:lstStyle/>
          <a:p>
            <a:pPr marL="0" indent="0">
              <a:buNone/>
            </a:pPr>
            <a:r>
              <a:rPr lang="en-US" sz="1200" dirty="0">
                <a:solidFill>
                  <a:srgbClr val="6B7280"/>
                </a:solidFill>
                <a:latin typeface="Calibri" pitchFamily="34" charset="0"/>
                <a:ea typeface="Calibri" pitchFamily="34" charset="-122"/>
                <a:cs typeface="Calibri" pitchFamily="34" charset="-120"/>
              </a:rPr>
              <a:t>Anticipar peaks de commuting y estacionalidad en turnos e inventario.</a:t>
            </a:r>
            <a:endParaRPr lang="en-US" sz="1200" dirty="0"/>
          </a:p>
        </p:txBody>
      </p:sp>
      <p:sp>
        <p:nvSpPr>
          <p:cNvPr id="20" name="Shape 18"/>
          <p:cNvSpPr/>
          <p:nvPr/>
        </p:nvSpPr>
        <p:spPr>
          <a:xfrm>
            <a:off x="7772400" y="2148840"/>
            <a:ext cx="3657600" cy="3712464"/>
          </a:xfrm>
          <a:prstGeom prst="roundRect">
            <a:avLst>
              <a:gd name="adj" fmla="val 2500"/>
            </a:avLst>
          </a:prstGeom>
          <a:solidFill>
            <a:srgbClr val="1C3A1C"/>
          </a:solidFill>
          <a:ln w="12700">
            <a:solidFill>
              <a:srgbClr val="1C3A1C"/>
            </a:solidFill>
            <a:prstDash val="solid"/>
          </a:ln>
        </p:spPr>
        <p:txBody>
          <a:bodyPr/>
          <a:lstStyle/>
          <a:p>
            <a:endParaRPr lang="es-CL"/>
          </a:p>
        </p:txBody>
      </p:sp>
      <p:sp>
        <p:nvSpPr>
          <p:cNvPr id="21" name="Text 19"/>
          <p:cNvSpPr/>
          <p:nvPr/>
        </p:nvSpPr>
        <p:spPr>
          <a:xfrm>
            <a:off x="7772400" y="2651760"/>
            <a:ext cx="3657600" cy="1097280"/>
          </a:xfrm>
          <a:prstGeom prst="rect">
            <a:avLst/>
          </a:prstGeom>
          <a:noFill/>
          <a:ln/>
        </p:spPr>
        <p:txBody>
          <a:bodyPr wrap="square" lIns="0" tIns="0" rIns="0" bIns="0" rtlCol="0" anchor="ctr"/>
          <a:lstStyle/>
          <a:p>
            <a:pPr marL="0" indent="0" algn="ctr">
              <a:buNone/>
            </a:pPr>
            <a:r>
              <a:rPr lang="en-US" sz="6600" b="1" dirty="0">
                <a:solidFill>
                  <a:srgbClr val="97BC62"/>
                </a:solidFill>
                <a:latin typeface="Cambria" pitchFamily="34" charset="0"/>
                <a:ea typeface="Cambria" pitchFamily="34" charset="-122"/>
                <a:cs typeface="Cambria" pitchFamily="34" charset="-120"/>
              </a:rPr>
              <a:t>96%</a:t>
            </a:r>
            <a:endParaRPr lang="en-US" sz="6600" dirty="0"/>
          </a:p>
        </p:txBody>
      </p:sp>
      <p:sp>
        <p:nvSpPr>
          <p:cNvPr id="22" name="Text 20"/>
          <p:cNvSpPr/>
          <p:nvPr/>
        </p:nvSpPr>
        <p:spPr>
          <a:xfrm>
            <a:off x="8046720" y="3794760"/>
            <a:ext cx="3108960" cy="640080"/>
          </a:xfrm>
          <a:prstGeom prst="rect">
            <a:avLst/>
          </a:prstGeom>
          <a:noFill/>
          <a:ln/>
        </p:spPr>
        <p:txBody>
          <a:bodyPr wrap="square" lIns="0" tIns="0" rIns="0" bIns="0" rtlCol="0" anchor="ctr"/>
          <a:lstStyle/>
          <a:p>
            <a:pPr marL="0" indent="0" algn="ctr">
              <a:buNone/>
            </a:pPr>
            <a:r>
              <a:rPr lang="en-US" sz="1300" dirty="0">
                <a:solidFill>
                  <a:srgbClr val="FFFFFF"/>
                </a:solidFill>
                <a:latin typeface="Calibri" pitchFamily="34" charset="0"/>
                <a:ea typeface="Calibri" pitchFamily="34" charset="-122"/>
                <a:cs typeface="Calibri" pitchFamily="34" charset="-120"/>
              </a:rPr>
              <a:t>de la varianza de la demanda</a:t>
            </a:r>
            <a:endParaRPr lang="en-US" sz="1300" dirty="0"/>
          </a:p>
          <a:p>
            <a:pPr marL="0" indent="0" algn="ctr">
              <a:buNone/>
            </a:pPr>
            <a:r>
              <a:rPr lang="en-US" sz="1300" dirty="0">
                <a:solidFill>
                  <a:srgbClr val="FFFFFF"/>
                </a:solidFill>
                <a:latin typeface="Calibri" pitchFamily="34" charset="0"/>
                <a:ea typeface="Calibri" pitchFamily="34" charset="-122"/>
                <a:cs typeface="Calibri" pitchFamily="34" charset="-120"/>
              </a:rPr>
              <a:t>explicada por el modelo final</a:t>
            </a:r>
            <a:endParaRPr lang="en-US" sz="1300" dirty="0"/>
          </a:p>
        </p:txBody>
      </p:sp>
      <p:sp>
        <p:nvSpPr>
          <p:cNvPr id="23" name="Shape 21"/>
          <p:cNvSpPr/>
          <p:nvPr/>
        </p:nvSpPr>
        <p:spPr>
          <a:xfrm>
            <a:off x="8503920" y="4617720"/>
            <a:ext cx="2194560" cy="0"/>
          </a:xfrm>
          <a:prstGeom prst="line">
            <a:avLst/>
          </a:prstGeom>
          <a:noFill/>
          <a:ln w="12700">
            <a:solidFill>
              <a:srgbClr val="2C5F2D"/>
            </a:solidFill>
            <a:prstDash val="solid"/>
          </a:ln>
        </p:spPr>
        <p:txBody>
          <a:bodyPr/>
          <a:lstStyle/>
          <a:p>
            <a:endParaRPr lang="es-CL"/>
          </a:p>
        </p:txBody>
      </p:sp>
      <p:sp>
        <p:nvSpPr>
          <p:cNvPr id="24" name="Text 22"/>
          <p:cNvSpPr/>
          <p:nvPr/>
        </p:nvSpPr>
        <p:spPr>
          <a:xfrm>
            <a:off x="8046720" y="4800600"/>
            <a:ext cx="3108960" cy="640080"/>
          </a:xfrm>
          <a:prstGeom prst="rect">
            <a:avLst/>
          </a:prstGeom>
          <a:noFill/>
          <a:ln/>
        </p:spPr>
        <p:txBody>
          <a:bodyPr wrap="square" lIns="0" tIns="0" rIns="0" bIns="0" rtlCol="0" anchor="ctr"/>
          <a:lstStyle/>
          <a:p>
            <a:pPr marL="0" indent="0" algn="ctr">
              <a:buNone/>
            </a:pPr>
            <a:r>
              <a:rPr lang="en-US" sz="1200" dirty="0">
                <a:solidFill>
                  <a:srgbClr val="C9D6C2"/>
                </a:solidFill>
                <a:latin typeface="Calibri" pitchFamily="34" charset="0"/>
                <a:ea typeface="Calibri" pitchFamily="34" charset="-122"/>
                <a:cs typeface="Calibri" pitchFamily="34" charset="-120"/>
              </a:rPr>
              <a:t>≈ 27 bicicletas/hora</a:t>
            </a:r>
            <a:endParaRPr lang="en-US" sz="1200" dirty="0"/>
          </a:p>
          <a:p>
            <a:pPr marL="0" indent="0" algn="ctr">
              <a:buNone/>
            </a:pPr>
            <a:r>
              <a:rPr lang="en-US" sz="1200" dirty="0">
                <a:solidFill>
                  <a:srgbClr val="C9D6C2"/>
                </a:solidFill>
                <a:latin typeface="Calibri" pitchFamily="34" charset="0"/>
                <a:ea typeface="Calibri" pitchFamily="34" charset="-122"/>
                <a:cs typeface="Calibri" pitchFamily="34" charset="-120"/>
              </a:rPr>
              <a:t>de error medio absoluto (MAE)</a:t>
            </a:r>
            <a:endParaRPr lang="en-US" sz="1200" dirty="0"/>
          </a:p>
        </p:txBody>
      </p:sp>
      <p:sp>
        <p:nvSpPr>
          <p:cNvPr id="25" name="Shape 23"/>
          <p:cNvSpPr/>
          <p:nvPr/>
        </p:nvSpPr>
        <p:spPr>
          <a:xfrm>
            <a:off x="548640" y="6236208"/>
            <a:ext cx="274320" cy="274320"/>
          </a:xfrm>
          <a:prstGeom prst="ellipse">
            <a:avLst/>
          </a:prstGeom>
          <a:solidFill>
            <a:srgbClr val="97BC62"/>
          </a:solidFill>
          <a:ln/>
        </p:spPr>
        <p:txBody>
          <a:bodyPr/>
          <a:lstStyle/>
          <a:p>
            <a:endParaRPr lang="es-CL"/>
          </a:p>
        </p:txBody>
      </p:sp>
      <p:sp>
        <p:nvSpPr>
          <p:cNvPr id="26" name="Text 24"/>
          <p:cNvSpPr/>
          <p:nvPr/>
        </p:nvSpPr>
        <p:spPr>
          <a:xfrm>
            <a:off x="548640" y="6236208"/>
            <a:ext cx="274320" cy="274320"/>
          </a:xfrm>
          <a:prstGeom prst="rect">
            <a:avLst/>
          </a:prstGeom>
          <a:noFill/>
          <a:ln/>
        </p:spPr>
        <p:txBody>
          <a:bodyPr wrap="square" lIns="0" tIns="0" rIns="0" bIns="0" rtlCol="0" anchor="ctr"/>
          <a:lstStyle/>
          <a:p>
            <a:pPr marL="0" indent="0" algn="ctr">
              <a:buNone/>
            </a:pPr>
            <a:r>
              <a:rPr lang="en-US" sz="1100" b="1" dirty="0">
                <a:solidFill>
                  <a:srgbClr val="1C3A1C"/>
                </a:solidFill>
                <a:latin typeface="Calibri" pitchFamily="34" charset="0"/>
                <a:ea typeface="Calibri" pitchFamily="34" charset="-122"/>
                <a:cs typeface="Calibri" pitchFamily="34" charset="-120"/>
              </a:rPr>
              <a:t>1</a:t>
            </a:r>
            <a:endParaRPr lang="en-US" sz="1100" dirty="0"/>
          </a:p>
        </p:txBody>
      </p:sp>
      <p:sp>
        <p:nvSpPr>
          <p:cNvPr id="27" name="Text 25"/>
          <p:cNvSpPr/>
          <p:nvPr/>
        </p:nvSpPr>
        <p:spPr>
          <a:xfrm>
            <a:off x="914400" y="6236208"/>
            <a:ext cx="5943600" cy="274320"/>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Sebastián González Pino — Problema, ETL y calidad de datos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07513"/>
            <a:ext cx="11064240" cy="256032"/>
          </a:xfrm>
          <a:prstGeom prst="rect">
            <a:avLst/>
          </a:prstGeom>
          <a:noFill/>
          <a:ln/>
        </p:spPr>
        <p:txBody>
          <a:bodyPr wrap="square" lIns="0" tIns="0" rIns="0" bIns="0" rtlCol="0" anchor="ctr"/>
          <a:lstStyle/>
          <a:p>
            <a:pPr marL="0" indent="0">
              <a:buNone/>
            </a:pPr>
            <a:r>
              <a:rPr lang="en-US" sz="1200" b="1" kern="0" spc="200" dirty="0">
                <a:solidFill>
                  <a:srgbClr val="97BC62"/>
                </a:solidFill>
                <a:latin typeface="Calibri" pitchFamily="34" charset="0"/>
                <a:ea typeface="Calibri" pitchFamily="34" charset="-122"/>
                <a:cs typeface="Calibri" pitchFamily="34" charset="-120"/>
              </a:rPr>
              <a:t>SEBASTIÁN GONZÁLEZ · 2 DE 3</a:t>
            </a:r>
            <a:endParaRPr lang="en-US" sz="1200" dirty="0"/>
          </a:p>
        </p:txBody>
      </p:sp>
      <p:sp>
        <p:nvSpPr>
          <p:cNvPr id="3" name="Text 1"/>
          <p:cNvSpPr/>
          <p:nvPr/>
        </p:nvSpPr>
        <p:spPr>
          <a:xfrm>
            <a:off x="502920" y="661167"/>
            <a:ext cx="11064240" cy="658368"/>
          </a:xfrm>
          <a:prstGeom prst="rect">
            <a:avLst/>
          </a:prstGeom>
          <a:noFill/>
          <a:ln/>
        </p:spPr>
        <p:txBody>
          <a:bodyPr wrap="square" lIns="0" tIns="0" rIns="0" bIns="0" rtlCol="0" anchor="ctr"/>
          <a:lstStyle/>
          <a:p>
            <a:pPr marL="0" indent="0">
              <a:buNone/>
            </a:pPr>
            <a:r>
              <a:rPr lang="en-US" sz="3400" b="1" dirty="0">
                <a:solidFill>
                  <a:srgbClr val="2C5F2D"/>
                </a:solidFill>
                <a:latin typeface="Cambria" pitchFamily="34" charset="0"/>
                <a:ea typeface="Cambria" pitchFamily="34" charset="-122"/>
                <a:cs typeface="Cambria" pitchFamily="34" charset="-120"/>
              </a:rPr>
              <a:t>Pipeline ETL: de tres fuentes crudas a una tabla modelable</a:t>
            </a:r>
            <a:endParaRPr lang="en-US" sz="3400" dirty="0"/>
          </a:p>
        </p:txBody>
      </p:sp>
      <p:sp>
        <p:nvSpPr>
          <p:cNvPr id="4" name="Shape 2"/>
          <p:cNvSpPr/>
          <p:nvPr/>
        </p:nvSpPr>
        <p:spPr>
          <a:xfrm>
            <a:off x="548640" y="1463040"/>
            <a:ext cx="2560320" cy="2148840"/>
          </a:xfrm>
          <a:prstGeom prst="roundRect">
            <a:avLst>
              <a:gd name="adj" fmla="val 3404"/>
            </a:avLst>
          </a:prstGeom>
          <a:solidFill>
            <a:srgbClr val="F5F7F2"/>
          </a:solidFill>
          <a:ln w="12700">
            <a:solidFill>
              <a:srgbClr val="F5F7F2"/>
            </a:solidFill>
            <a:prstDash val="solid"/>
          </a:ln>
          <a:effectLst>
            <a:outerShdw blurRad="101600" dist="25400" dir="5400000" algn="bl" rotWithShape="0">
              <a:srgbClr val="1C3A1C">
                <a:alpha val="10000"/>
              </a:srgbClr>
            </a:outerShdw>
          </a:effectLst>
        </p:spPr>
        <p:txBody>
          <a:bodyPr/>
          <a:lstStyle/>
          <a:p>
            <a:endParaRPr lang="es-CL"/>
          </a:p>
        </p:txBody>
      </p:sp>
      <p:sp>
        <p:nvSpPr>
          <p:cNvPr id="5" name="Shape 3"/>
          <p:cNvSpPr/>
          <p:nvPr/>
        </p:nvSpPr>
        <p:spPr>
          <a:xfrm>
            <a:off x="1600200" y="1664208"/>
            <a:ext cx="457200" cy="457200"/>
          </a:xfrm>
          <a:prstGeom prst="ellipse">
            <a:avLst/>
          </a:prstGeom>
          <a:solidFill>
            <a:srgbClr val="97BC62"/>
          </a:solidFill>
          <a:ln/>
        </p:spPr>
        <p:txBody>
          <a:bodyPr/>
          <a:lstStyle/>
          <a:p>
            <a:endParaRPr lang="es-CL"/>
          </a:p>
        </p:txBody>
      </p:sp>
      <p:sp>
        <p:nvSpPr>
          <p:cNvPr id="6" name="Text 4"/>
          <p:cNvSpPr/>
          <p:nvPr/>
        </p:nvSpPr>
        <p:spPr>
          <a:xfrm>
            <a:off x="1600200" y="1664208"/>
            <a:ext cx="457200" cy="457200"/>
          </a:xfrm>
          <a:prstGeom prst="rect">
            <a:avLst/>
          </a:prstGeom>
          <a:noFill/>
          <a:ln/>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7" name="Text 5"/>
          <p:cNvSpPr/>
          <p:nvPr/>
        </p:nvSpPr>
        <p:spPr>
          <a:xfrm>
            <a:off x="685800" y="2212848"/>
            <a:ext cx="2286000" cy="274320"/>
          </a:xfrm>
          <a:prstGeom prst="rect">
            <a:avLst/>
          </a:prstGeom>
          <a:noFill/>
          <a:ln/>
        </p:spPr>
        <p:txBody>
          <a:bodyPr wrap="square" lIns="0" tIns="0" rIns="0" bIns="0" rtlCol="0" anchor="ctr"/>
          <a:lstStyle/>
          <a:p>
            <a:pPr marL="0" indent="0" algn="ctr">
              <a:buNone/>
            </a:pPr>
            <a:r>
              <a:rPr lang="en-US" sz="1400" b="1" dirty="0">
                <a:solidFill>
                  <a:srgbClr val="2C5F2D"/>
                </a:solidFill>
                <a:latin typeface="Courier New" pitchFamily="34" charset="0"/>
                <a:ea typeface="Courier New" pitchFamily="34" charset="-122"/>
                <a:cs typeface="Courier New" pitchFamily="34" charset="-120"/>
              </a:rPr>
              <a:t>extract()</a:t>
            </a:r>
            <a:endParaRPr lang="en-US" sz="1400" dirty="0"/>
          </a:p>
        </p:txBody>
      </p:sp>
      <p:sp>
        <p:nvSpPr>
          <p:cNvPr id="8" name="Text 6"/>
          <p:cNvSpPr/>
          <p:nvPr/>
        </p:nvSpPr>
        <p:spPr>
          <a:xfrm>
            <a:off x="749808" y="2542032"/>
            <a:ext cx="2157984" cy="960120"/>
          </a:xfrm>
          <a:prstGeom prst="rect">
            <a:avLst/>
          </a:prstGeom>
          <a:noFill/>
          <a:ln/>
        </p:spPr>
        <p:txBody>
          <a:bodyPr wrap="square" lIns="0" tIns="0" rIns="0" bIns="0" rtlCol="0" anchor="ctr"/>
          <a:lstStyle/>
          <a:p>
            <a:pPr marL="0" indent="0" algn="ctr">
              <a:buNone/>
            </a:pPr>
            <a:r>
              <a:rPr lang="en-US" sz="1100" dirty="0">
                <a:solidFill>
                  <a:srgbClr val="6B7280"/>
                </a:solidFill>
                <a:latin typeface="Calibri" pitchFamily="34" charset="0"/>
                <a:ea typeface="Calibri" pitchFamily="34" charset="-122"/>
                <a:cs typeface="Calibri" pitchFamily="34" charset="-120"/>
              </a:rPr>
              <a:t>Descarga UCI, llama a Open-Meteo y genera feriados. Caché local: no re-descarga.</a:t>
            </a:r>
            <a:endParaRPr lang="en-US" sz="1100" dirty="0"/>
          </a:p>
        </p:txBody>
      </p:sp>
      <p:sp>
        <p:nvSpPr>
          <p:cNvPr id="9" name="Text 7"/>
          <p:cNvSpPr/>
          <p:nvPr/>
        </p:nvSpPr>
        <p:spPr>
          <a:xfrm>
            <a:off x="3127248" y="2286000"/>
            <a:ext cx="219456" cy="365760"/>
          </a:xfrm>
          <a:prstGeom prst="rect">
            <a:avLst/>
          </a:prstGeom>
          <a:noFill/>
          <a:ln/>
        </p:spPr>
        <p:txBody>
          <a:bodyPr wrap="square" lIns="0" tIns="0" rIns="0" bIns="0" rtlCol="0" anchor="ctr"/>
          <a:lstStyle/>
          <a:p>
            <a:pPr marL="0" indent="0" algn="ctr">
              <a:buNone/>
            </a:pPr>
            <a:r>
              <a:rPr lang="en-US" sz="2000" b="1" dirty="0">
                <a:solidFill>
                  <a:srgbClr val="97BC62"/>
                </a:solidFill>
                <a:latin typeface="Calibri" pitchFamily="34" charset="0"/>
                <a:ea typeface="Calibri" pitchFamily="34" charset="-122"/>
                <a:cs typeface="Calibri" pitchFamily="34" charset="-120"/>
              </a:rPr>
              <a:t>→</a:t>
            </a:r>
            <a:endParaRPr lang="en-US" sz="2000" dirty="0"/>
          </a:p>
        </p:txBody>
      </p:sp>
      <p:sp>
        <p:nvSpPr>
          <p:cNvPr id="10" name="Shape 8"/>
          <p:cNvSpPr/>
          <p:nvPr/>
        </p:nvSpPr>
        <p:spPr>
          <a:xfrm>
            <a:off x="3346704" y="1463040"/>
            <a:ext cx="2560320" cy="2148840"/>
          </a:xfrm>
          <a:prstGeom prst="roundRect">
            <a:avLst>
              <a:gd name="adj" fmla="val 3404"/>
            </a:avLst>
          </a:prstGeom>
          <a:solidFill>
            <a:srgbClr val="F5F7F2"/>
          </a:solidFill>
          <a:ln w="12700">
            <a:solidFill>
              <a:srgbClr val="F5F7F2"/>
            </a:solidFill>
            <a:prstDash val="solid"/>
          </a:ln>
          <a:effectLst>
            <a:outerShdw blurRad="101600" dist="25400" dir="5400000" algn="bl" rotWithShape="0">
              <a:srgbClr val="1C3A1C">
                <a:alpha val="10000"/>
              </a:srgbClr>
            </a:outerShdw>
          </a:effectLst>
        </p:spPr>
        <p:txBody>
          <a:bodyPr/>
          <a:lstStyle/>
          <a:p>
            <a:endParaRPr lang="es-CL"/>
          </a:p>
        </p:txBody>
      </p:sp>
      <p:sp>
        <p:nvSpPr>
          <p:cNvPr id="11" name="Shape 9"/>
          <p:cNvSpPr/>
          <p:nvPr/>
        </p:nvSpPr>
        <p:spPr>
          <a:xfrm>
            <a:off x="4398264" y="1664208"/>
            <a:ext cx="457200" cy="457200"/>
          </a:xfrm>
          <a:prstGeom prst="ellipse">
            <a:avLst/>
          </a:prstGeom>
          <a:solidFill>
            <a:srgbClr val="97BC62"/>
          </a:solidFill>
          <a:ln/>
        </p:spPr>
        <p:txBody>
          <a:bodyPr/>
          <a:lstStyle/>
          <a:p>
            <a:endParaRPr lang="es-CL"/>
          </a:p>
        </p:txBody>
      </p:sp>
      <p:sp>
        <p:nvSpPr>
          <p:cNvPr id="12" name="Text 10"/>
          <p:cNvSpPr/>
          <p:nvPr/>
        </p:nvSpPr>
        <p:spPr>
          <a:xfrm>
            <a:off x="4398264" y="1664208"/>
            <a:ext cx="457200" cy="457200"/>
          </a:xfrm>
          <a:prstGeom prst="rect">
            <a:avLst/>
          </a:prstGeom>
          <a:noFill/>
          <a:ln/>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13" name="Text 11"/>
          <p:cNvSpPr/>
          <p:nvPr/>
        </p:nvSpPr>
        <p:spPr>
          <a:xfrm>
            <a:off x="3483864" y="2212848"/>
            <a:ext cx="2286000" cy="274320"/>
          </a:xfrm>
          <a:prstGeom prst="rect">
            <a:avLst/>
          </a:prstGeom>
          <a:noFill/>
          <a:ln/>
        </p:spPr>
        <p:txBody>
          <a:bodyPr wrap="square" lIns="0" tIns="0" rIns="0" bIns="0" rtlCol="0" anchor="ctr"/>
          <a:lstStyle/>
          <a:p>
            <a:pPr marL="0" indent="0" algn="ctr">
              <a:buNone/>
            </a:pPr>
            <a:r>
              <a:rPr lang="en-US" sz="1400" b="1" dirty="0">
                <a:solidFill>
                  <a:srgbClr val="2C5F2D"/>
                </a:solidFill>
                <a:latin typeface="Courier New" pitchFamily="34" charset="0"/>
                <a:ea typeface="Courier New" pitchFamily="34" charset="-122"/>
                <a:cs typeface="Courier New" pitchFamily="34" charset="-120"/>
              </a:rPr>
              <a:t>transform()</a:t>
            </a:r>
            <a:endParaRPr lang="en-US" sz="1400" dirty="0"/>
          </a:p>
        </p:txBody>
      </p:sp>
      <p:sp>
        <p:nvSpPr>
          <p:cNvPr id="14" name="Text 12"/>
          <p:cNvSpPr/>
          <p:nvPr/>
        </p:nvSpPr>
        <p:spPr>
          <a:xfrm>
            <a:off x="3547872" y="2542032"/>
            <a:ext cx="2157984" cy="960120"/>
          </a:xfrm>
          <a:prstGeom prst="rect">
            <a:avLst/>
          </a:prstGeom>
          <a:noFill/>
          <a:ln/>
        </p:spPr>
        <p:txBody>
          <a:bodyPr wrap="square" lIns="0" tIns="0" rIns="0" bIns="0" rtlCol="0" anchor="ctr"/>
          <a:lstStyle/>
          <a:p>
            <a:pPr marL="0" indent="0" algn="ctr">
              <a:buNone/>
            </a:pPr>
            <a:r>
              <a:rPr lang="en-US" sz="1100" dirty="0">
                <a:solidFill>
                  <a:srgbClr val="6B7280"/>
                </a:solidFill>
                <a:latin typeface="Calibri" pitchFamily="34" charset="0"/>
                <a:ea typeface="Calibri" pitchFamily="34" charset="-122"/>
                <a:cs typeface="Calibri" pitchFamily="34" charset="-120"/>
              </a:rPr>
              <a:t>Normaliza tipos, construye datetime y une las 3 fuentes con un join 1:1.</a:t>
            </a:r>
            <a:endParaRPr lang="en-US" sz="1100" dirty="0"/>
          </a:p>
        </p:txBody>
      </p:sp>
      <p:sp>
        <p:nvSpPr>
          <p:cNvPr id="15" name="Text 13"/>
          <p:cNvSpPr/>
          <p:nvPr/>
        </p:nvSpPr>
        <p:spPr>
          <a:xfrm>
            <a:off x="5925312" y="2286000"/>
            <a:ext cx="219456" cy="365760"/>
          </a:xfrm>
          <a:prstGeom prst="rect">
            <a:avLst/>
          </a:prstGeom>
          <a:noFill/>
          <a:ln/>
        </p:spPr>
        <p:txBody>
          <a:bodyPr wrap="square" lIns="0" tIns="0" rIns="0" bIns="0" rtlCol="0" anchor="ctr"/>
          <a:lstStyle/>
          <a:p>
            <a:pPr marL="0" indent="0" algn="ctr">
              <a:buNone/>
            </a:pPr>
            <a:r>
              <a:rPr lang="en-US" sz="2000" b="1" dirty="0">
                <a:solidFill>
                  <a:srgbClr val="97BC62"/>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6144768" y="1463040"/>
            <a:ext cx="2560320" cy="2148840"/>
          </a:xfrm>
          <a:prstGeom prst="roundRect">
            <a:avLst>
              <a:gd name="adj" fmla="val 3404"/>
            </a:avLst>
          </a:prstGeom>
          <a:solidFill>
            <a:srgbClr val="F5F7F2"/>
          </a:solidFill>
          <a:ln w="12700">
            <a:solidFill>
              <a:srgbClr val="F5F7F2"/>
            </a:solidFill>
            <a:prstDash val="solid"/>
          </a:ln>
          <a:effectLst>
            <a:outerShdw blurRad="101600" dist="25400" dir="5400000" algn="bl" rotWithShape="0">
              <a:srgbClr val="1C3A1C">
                <a:alpha val="10000"/>
              </a:srgbClr>
            </a:outerShdw>
          </a:effectLst>
        </p:spPr>
        <p:txBody>
          <a:bodyPr/>
          <a:lstStyle/>
          <a:p>
            <a:endParaRPr lang="es-CL"/>
          </a:p>
        </p:txBody>
      </p:sp>
      <p:sp>
        <p:nvSpPr>
          <p:cNvPr id="17" name="Shape 15"/>
          <p:cNvSpPr/>
          <p:nvPr/>
        </p:nvSpPr>
        <p:spPr>
          <a:xfrm>
            <a:off x="7196328" y="1664208"/>
            <a:ext cx="457200" cy="457200"/>
          </a:xfrm>
          <a:prstGeom prst="ellipse">
            <a:avLst/>
          </a:prstGeom>
          <a:solidFill>
            <a:srgbClr val="97BC62"/>
          </a:solidFill>
          <a:ln/>
        </p:spPr>
        <p:txBody>
          <a:bodyPr/>
          <a:lstStyle/>
          <a:p>
            <a:endParaRPr lang="es-CL"/>
          </a:p>
        </p:txBody>
      </p:sp>
      <p:sp>
        <p:nvSpPr>
          <p:cNvPr id="18" name="Text 16"/>
          <p:cNvSpPr/>
          <p:nvPr/>
        </p:nvSpPr>
        <p:spPr>
          <a:xfrm>
            <a:off x="7196328" y="1664208"/>
            <a:ext cx="457200" cy="457200"/>
          </a:xfrm>
          <a:prstGeom prst="rect">
            <a:avLst/>
          </a:prstGeom>
          <a:noFill/>
          <a:ln/>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19" name="Text 17"/>
          <p:cNvSpPr/>
          <p:nvPr/>
        </p:nvSpPr>
        <p:spPr>
          <a:xfrm>
            <a:off x="6281928" y="2212848"/>
            <a:ext cx="2286000" cy="274320"/>
          </a:xfrm>
          <a:prstGeom prst="rect">
            <a:avLst/>
          </a:prstGeom>
          <a:noFill/>
          <a:ln/>
        </p:spPr>
        <p:txBody>
          <a:bodyPr wrap="square" lIns="0" tIns="0" rIns="0" bIns="0" rtlCol="0" anchor="ctr"/>
          <a:lstStyle/>
          <a:p>
            <a:pPr marL="0" indent="0" algn="ctr">
              <a:buNone/>
            </a:pPr>
            <a:r>
              <a:rPr lang="en-US" sz="1400" b="1" dirty="0">
                <a:solidFill>
                  <a:srgbClr val="2C5F2D"/>
                </a:solidFill>
                <a:latin typeface="Courier New" pitchFamily="34" charset="0"/>
                <a:ea typeface="Courier New" pitchFamily="34" charset="-122"/>
                <a:cs typeface="Courier New" pitchFamily="34" charset="-120"/>
              </a:rPr>
              <a:t>features()</a:t>
            </a:r>
            <a:endParaRPr lang="en-US" sz="1400" dirty="0"/>
          </a:p>
        </p:txBody>
      </p:sp>
      <p:sp>
        <p:nvSpPr>
          <p:cNvPr id="20" name="Text 18"/>
          <p:cNvSpPr/>
          <p:nvPr/>
        </p:nvSpPr>
        <p:spPr>
          <a:xfrm>
            <a:off x="6345936" y="2542032"/>
            <a:ext cx="2157984" cy="960120"/>
          </a:xfrm>
          <a:prstGeom prst="rect">
            <a:avLst/>
          </a:prstGeom>
          <a:noFill/>
          <a:ln/>
        </p:spPr>
        <p:txBody>
          <a:bodyPr wrap="square" lIns="0" tIns="0" rIns="0" bIns="0" rtlCol="0" anchor="ctr"/>
          <a:lstStyle/>
          <a:p>
            <a:pPr marL="0" indent="0" algn="ctr">
              <a:buNone/>
            </a:pPr>
            <a:r>
              <a:rPr lang="en-US" sz="1100" dirty="0">
                <a:solidFill>
                  <a:srgbClr val="6B7280"/>
                </a:solidFill>
                <a:latin typeface="Calibri" pitchFamily="34" charset="0"/>
                <a:ea typeface="Calibri" pitchFamily="34" charset="-122"/>
                <a:cs typeface="Calibri" pitchFamily="34" charset="-120"/>
              </a:rPr>
              <a:t>Cíclicas sin/cos, calendario, lags y medias móviles. Descarta filas sin pasado.</a:t>
            </a:r>
            <a:endParaRPr lang="en-US" sz="1100" dirty="0"/>
          </a:p>
        </p:txBody>
      </p:sp>
      <p:sp>
        <p:nvSpPr>
          <p:cNvPr id="21" name="Text 19"/>
          <p:cNvSpPr/>
          <p:nvPr/>
        </p:nvSpPr>
        <p:spPr>
          <a:xfrm>
            <a:off x="8723376" y="2286000"/>
            <a:ext cx="219456" cy="365760"/>
          </a:xfrm>
          <a:prstGeom prst="rect">
            <a:avLst/>
          </a:prstGeom>
          <a:noFill/>
          <a:ln/>
        </p:spPr>
        <p:txBody>
          <a:bodyPr wrap="square" lIns="0" tIns="0" rIns="0" bIns="0" rtlCol="0" anchor="ctr"/>
          <a:lstStyle/>
          <a:p>
            <a:pPr marL="0" indent="0" algn="ctr">
              <a:buNone/>
            </a:pPr>
            <a:r>
              <a:rPr lang="en-US" sz="2000" b="1" dirty="0">
                <a:solidFill>
                  <a:srgbClr val="97BC62"/>
                </a:solidFill>
                <a:latin typeface="Calibri" pitchFamily="34" charset="0"/>
                <a:ea typeface="Calibri" pitchFamily="34" charset="-122"/>
                <a:cs typeface="Calibri" pitchFamily="34" charset="-120"/>
              </a:rPr>
              <a:t>→</a:t>
            </a:r>
            <a:endParaRPr lang="en-US" sz="2000" dirty="0"/>
          </a:p>
        </p:txBody>
      </p:sp>
      <p:sp>
        <p:nvSpPr>
          <p:cNvPr id="22" name="Shape 20"/>
          <p:cNvSpPr/>
          <p:nvPr/>
        </p:nvSpPr>
        <p:spPr>
          <a:xfrm>
            <a:off x="8942832" y="1463040"/>
            <a:ext cx="2560320" cy="2148840"/>
          </a:xfrm>
          <a:prstGeom prst="roundRect">
            <a:avLst>
              <a:gd name="adj" fmla="val 3404"/>
            </a:avLst>
          </a:prstGeom>
          <a:solidFill>
            <a:srgbClr val="F5F7F2"/>
          </a:solidFill>
          <a:ln w="12700">
            <a:solidFill>
              <a:srgbClr val="F5F7F2"/>
            </a:solidFill>
            <a:prstDash val="solid"/>
          </a:ln>
          <a:effectLst>
            <a:outerShdw blurRad="101600" dist="25400" dir="5400000" algn="bl" rotWithShape="0">
              <a:srgbClr val="1C3A1C">
                <a:alpha val="10000"/>
              </a:srgbClr>
            </a:outerShdw>
          </a:effectLst>
        </p:spPr>
        <p:txBody>
          <a:bodyPr/>
          <a:lstStyle/>
          <a:p>
            <a:endParaRPr lang="es-CL"/>
          </a:p>
        </p:txBody>
      </p:sp>
      <p:sp>
        <p:nvSpPr>
          <p:cNvPr id="23" name="Shape 21"/>
          <p:cNvSpPr/>
          <p:nvPr/>
        </p:nvSpPr>
        <p:spPr>
          <a:xfrm>
            <a:off x="9994392" y="1664208"/>
            <a:ext cx="457200" cy="457200"/>
          </a:xfrm>
          <a:prstGeom prst="ellipse">
            <a:avLst/>
          </a:prstGeom>
          <a:solidFill>
            <a:srgbClr val="97BC62"/>
          </a:solidFill>
          <a:ln/>
        </p:spPr>
        <p:txBody>
          <a:bodyPr/>
          <a:lstStyle/>
          <a:p>
            <a:endParaRPr lang="es-CL"/>
          </a:p>
        </p:txBody>
      </p:sp>
      <p:sp>
        <p:nvSpPr>
          <p:cNvPr id="24" name="Text 22"/>
          <p:cNvSpPr/>
          <p:nvPr/>
        </p:nvSpPr>
        <p:spPr>
          <a:xfrm>
            <a:off x="9994392" y="1664208"/>
            <a:ext cx="457200" cy="457200"/>
          </a:xfrm>
          <a:prstGeom prst="rect">
            <a:avLst/>
          </a:prstGeom>
          <a:noFill/>
          <a:ln/>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25" name="Text 23"/>
          <p:cNvSpPr/>
          <p:nvPr/>
        </p:nvSpPr>
        <p:spPr>
          <a:xfrm>
            <a:off x="9079992" y="2212848"/>
            <a:ext cx="2286000" cy="274320"/>
          </a:xfrm>
          <a:prstGeom prst="rect">
            <a:avLst/>
          </a:prstGeom>
          <a:noFill/>
          <a:ln/>
        </p:spPr>
        <p:txBody>
          <a:bodyPr wrap="square" lIns="0" tIns="0" rIns="0" bIns="0" rtlCol="0" anchor="ctr"/>
          <a:lstStyle/>
          <a:p>
            <a:pPr marL="0" indent="0" algn="ctr">
              <a:buNone/>
            </a:pPr>
            <a:r>
              <a:rPr lang="en-US" sz="1400" b="1" dirty="0">
                <a:solidFill>
                  <a:srgbClr val="2C5F2D"/>
                </a:solidFill>
                <a:latin typeface="Courier New" pitchFamily="34" charset="0"/>
                <a:ea typeface="Courier New" pitchFamily="34" charset="-122"/>
                <a:cs typeface="Courier New" pitchFamily="34" charset="-120"/>
              </a:rPr>
              <a:t>load()</a:t>
            </a:r>
            <a:endParaRPr lang="en-US" sz="1400" dirty="0"/>
          </a:p>
        </p:txBody>
      </p:sp>
      <p:sp>
        <p:nvSpPr>
          <p:cNvPr id="26" name="Text 24"/>
          <p:cNvSpPr/>
          <p:nvPr/>
        </p:nvSpPr>
        <p:spPr>
          <a:xfrm>
            <a:off x="9144000" y="2542032"/>
            <a:ext cx="2157984" cy="960120"/>
          </a:xfrm>
          <a:prstGeom prst="rect">
            <a:avLst/>
          </a:prstGeom>
          <a:noFill/>
          <a:ln/>
        </p:spPr>
        <p:txBody>
          <a:bodyPr wrap="square" lIns="0" tIns="0" rIns="0" bIns="0" rtlCol="0" anchor="ctr"/>
          <a:lstStyle/>
          <a:p>
            <a:pPr marL="0" indent="0" algn="ctr">
              <a:buNone/>
            </a:pPr>
            <a:r>
              <a:rPr lang="en-US" sz="1100" dirty="0">
                <a:solidFill>
                  <a:srgbClr val="6B7280"/>
                </a:solidFill>
                <a:latin typeface="Calibri" pitchFamily="34" charset="0"/>
                <a:ea typeface="Calibri" pitchFamily="34" charset="-122"/>
                <a:cs typeface="Calibri" pitchFamily="34" charset="-120"/>
              </a:rPr>
              <a:t>Escribe bikeshare_features.parquet, el único artefacto que consumen EDA, modelo, API y dashboard.</a:t>
            </a:r>
            <a:endParaRPr lang="en-US" sz="1100" dirty="0"/>
          </a:p>
        </p:txBody>
      </p:sp>
      <p:sp>
        <p:nvSpPr>
          <p:cNvPr id="27" name="Text 25"/>
          <p:cNvSpPr/>
          <p:nvPr/>
        </p:nvSpPr>
        <p:spPr>
          <a:xfrm>
            <a:off x="548640" y="3840480"/>
            <a:ext cx="10881360" cy="292608"/>
          </a:xfrm>
          <a:prstGeom prst="rect">
            <a:avLst/>
          </a:prstGeom>
          <a:noFill/>
          <a:ln/>
        </p:spPr>
        <p:txBody>
          <a:bodyPr wrap="square" lIns="0" tIns="0" rIns="0" bIns="0" rtlCol="0" anchor="ctr"/>
          <a:lstStyle/>
          <a:p>
            <a:pPr marL="0" indent="0">
              <a:buNone/>
            </a:pPr>
            <a:r>
              <a:rPr lang="en-US" sz="1500" b="1" dirty="0">
                <a:solidFill>
                  <a:srgbClr val="2C5F2D"/>
                </a:solidFill>
                <a:latin typeface="Calibri" pitchFamily="34" charset="0"/>
                <a:ea typeface="Calibri" pitchFamily="34" charset="-122"/>
                <a:cs typeface="Calibri" pitchFamily="34" charset="-120"/>
              </a:rPr>
              <a:t>Decisiones de diseño que defendemos</a:t>
            </a:r>
            <a:endParaRPr lang="en-US" sz="1500" dirty="0"/>
          </a:p>
        </p:txBody>
      </p:sp>
      <p:sp>
        <p:nvSpPr>
          <p:cNvPr id="28" name="Text 26"/>
          <p:cNvSpPr/>
          <p:nvPr/>
        </p:nvSpPr>
        <p:spPr>
          <a:xfrm>
            <a:off x="548640" y="4206240"/>
            <a:ext cx="10881360" cy="173736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24302A"/>
                </a:solidFill>
                <a:latin typeface="Calibri" pitchFamily="34" charset="0"/>
                <a:ea typeface="Calibri" pitchFamily="34" charset="-122"/>
                <a:cs typeface="Calibri" pitchFamily="34" charset="-120"/>
              </a:rPr>
              <a:t>Un único artefacto (.parquet): el EDA explora exactamente la misma tabla que ve el modelo. Ninguno de los tres servicios puede quedar leyendo una versión distinta.</a:t>
            </a:r>
            <a:endParaRPr lang="en-US" sz="1250" dirty="0"/>
          </a:p>
          <a:p>
            <a:pPr marL="342900" indent="-342900">
              <a:spcAft>
                <a:spcPts val="800"/>
              </a:spcAft>
              <a:buSzPct val="100000"/>
              <a:buChar char="▪"/>
            </a:pPr>
            <a:r>
              <a:rPr lang="en-US" sz="1250" dirty="0">
                <a:solidFill>
                  <a:srgbClr val="24302A"/>
                </a:solidFill>
                <a:latin typeface="Calibri" pitchFamily="34" charset="0"/>
                <a:ea typeface="Calibri" pitchFamily="34" charset="-122"/>
                <a:cs typeface="Calibri" pitchFamily="34" charset="-120"/>
              </a:rPr>
              <a:t>Paquete instalable `bikeshare` con load_processed(): reproducibilidad y trazabilidad, en vez de rutas fijas repartidas por el código.</a:t>
            </a:r>
            <a:endParaRPr lang="en-US" sz="1250" dirty="0"/>
          </a:p>
          <a:p>
            <a:pPr marL="342900" indent="-342900">
              <a:spcAft>
                <a:spcPts val="800"/>
              </a:spcAft>
              <a:buSzPct val="100000"/>
              <a:buChar char="▪"/>
            </a:pPr>
            <a:r>
              <a:rPr lang="en-US" sz="1250" dirty="0">
                <a:solidFill>
                  <a:srgbClr val="24302A"/>
                </a:solidFill>
                <a:latin typeface="Calibri" pitchFamily="34" charset="0"/>
                <a:ea typeface="Calibri" pitchFamily="34" charset="-122"/>
                <a:cs typeface="Calibri" pitchFamily="34" charset="-120"/>
              </a:rPr>
              <a:t>Sin nulos por construcción, no por suerte: el join es exacto por datetime y las filas iniciales —donde los lags aún no tienen pasado— se descartan explícitamente.</a:t>
            </a:r>
            <a:endParaRPr lang="en-US" sz="1250" dirty="0"/>
          </a:p>
        </p:txBody>
      </p:sp>
      <p:sp>
        <p:nvSpPr>
          <p:cNvPr id="29" name="Shape 27"/>
          <p:cNvSpPr/>
          <p:nvPr/>
        </p:nvSpPr>
        <p:spPr>
          <a:xfrm>
            <a:off x="548640" y="6236208"/>
            <a:ext cx="274320" cy="274320"/>
          </a:xfrm>
          <a:prstGeom prst="ellipse">
            <a:avLst/>
          </a:prstGeom>
          <a:solidFill>
            <a:srgbClr val="97BC62"/>
          </a:solidFill>
          <a:ln/>
        </p:spPr>
        <p:txBody>
          <a:bodyPr/>
          <a:lstStyle/>
          <a:p>
            <a:endParaRPr lang="es-CL"/>
          </a:p>
        </p:txBody>
      </p:sp>
      <p:sp>
        <p:nvSpPr>
          <p:cNvPr id="30" name="Text 28"/>
          <p:cNvSpPr/>
          <p:nvPr/>
        </p:nvSpPr>
        <p:spPr>
          <a:xfrm>
            <a:off x="548640" y="6236208"/>
            <a:ext cx="274320" cy="274320"/>
          </a:xfrm>
          <a:prstGeom prst="rect">
            <a:avLst/>
          </a:prstGeom>
          <a:noFill/>
          <a:ln/>
        </p:spPr>
        <p:txBody>
          <a:bodyPr wrap="square" lIns="0" tIns="0" rIns="0" bIns="0" rtlCol="0" anchor="ctr"/>
          <a:lstStyle/>
          <a:p>
            <a:pPr marL="0" indent="0" algn="ctr">
              <a:buNone/>
            </a:pPr>
            <a:r>
              <a:rPr lang="en-US" sz="1100" b="1" dirty="0">
                <a:solidFill>
                  <a:srgbClr val="1C3A1C"/>
                </a:solidFill>
                <a:latin typeface="Calibri" pitchFamily="34" charset="0"/>
                <a:ea typeface="Calibri" pitchFamily="34" charset="-122"/>
                <a:cs typeface="Calibri" pitchFamily="34" charset="-120"/>
              </a:rPr>
              <a:t>1</a:t>
            </a:r>
            <a:endParaRPr lang="en-US" sz="1100" dirty="0"/>
          </a:p>
        </p:txBody>
      </p:sp>
      <p:sp>
        <p:nvSpPr>
          <p:cNvPr id="31" name="Text 29"/>
          <p:cNvSpPr/>
          <p:nvPr/>
        </p:nvSpPr>
        <p:spPr>
          <a:xfrm>
            <a:off x="914400" y="6236208"/>
            <a:ext cx="5943600" cy="274320"/>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Sebastián González Pino — Problema, ETL y calidad de datos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19456"/>
            <a:ext cx="11064240" cy="256032"/>
          </a:xfrm>
          <a:prstGeom prst="rect">
            <a:avLst/>
          </a:prstGeom>
          <a:noFill/>
          <a:ln/>
        </p:spPr>
        <p:txBody>
          <a:bodyPr wrap="square" lIns="0" tIns="0" rIns="0" bIns="0" rtlCol="0" anchor="ctr"/>
          <a:lstStyle/>
          <a:p>
            <a:pPr marL="0" indent="0">
              <a:buNone/>
            </a:pPr>
            <a:r>
              <a:rPr lang="en-US" sz="1200" b="1" kern="0" spc="200" dirty="0">
                <a:solidFill>
                  <a:srgbClr val="97BC62"/>
                </a:solidFill>
                <a:latin typeface="Calibri" pitchFamily="34" charset="0"/>
                <a:ea typeface="Calibri" pitchFamily="34" charset="-122"/>
                <a:cs typeface="Calibri" pitchFamily="34" charset="-120"/>
              </a:rPr>
              <a:t>SEBASTIÁN GONZÁLEZ · 3 DE 3</a:t>
            </a:r>
            <a:endParaRPr lang="en-US" sz="1200" dirty="0"/>
          </a:p>
        </p:txBody>
      </p:sp>
      <p:sp>
        <p:nvSpPr>
          <p:cNvPr id="3" name="Text 1"/>
          <p:cNvSpPr/>
          <p:nvPr/>
        </p:nvSpPr>
        <p:spPr>
          <a:xfrm>
            <a:off x="548640" y="667512"/>
            <a:ext cx="11064240" cy="658368"/>
          </a:xfrm>
          <a:prstGeom prst="rect">
            <a:avLst/>
          </a:prstGeom>
          <a:noFill/>
          <a:ln/>
        </p:spPr>
        <p:txBody>
          <a:bodyPr wrap="square" lIns="0" tIns="0" rIns="0" bIns="0" rtlCol="0" anchor="ctr"/>
          <a:lstStyle/>
          <a:p>
            <a:pPr marL="0" indent="0">
              <a:buNone/>
            </a:pPr>
            <a:r>
              <a:rPr lang="en-US" sz="3400" b="1" dirty="0">
                <a:solidFill>
                  <a:srgbClr val="2C5F2D"/>
                </a:solidFill>
                <a:latin typeface="Cambria" pitchFamily="34" charset="0"/>
                <a:ea typeface="Cambria" pitchFamily="34" charset="-122"/>
                <a:cs typeface="Cambria" pitchFamily="34" charset="-120"/>
              </a:rPr>
              <a:t>Calidad de datos: un dataset sin nulos puede estar roto igual</a:t>
            </a:r>
            <a:endParaRPr lang="en-US" sz="3400" dirty="0"/>
          </a:p>
        </p:txBody>
      </p:sp>
      <p:sp>
        <p:nvSpPr>
          <p:cNvPr id="4" name="Text 2"/>
          <p:cNvSpPr/>
          <p:nvPr/>
        </p:nvSpPr>
        <p:spPr>
          <a:xfrm>
            <a:off x="548640" y="1371600"/>
            <a:ext cx="10881360" cy="384048"/>
          </a:xfrm>
          <a:prstGeom prst="rect">
            <a:avLst/>
          </a:prstGeom>
          <a:noFill/>
          <a:ln/>
        </p:spPr>
        <p:txBody>
          <a:bodyPr wrap="square" lIns="0" tIns="0" rIns="0" bIns="0" rtlCol="0" anchor="ctr"/>
          <a:lstStyle/>
          <a:p>
            <a:pPr marL="0" indent="0">
              <a:buNone/>
            </a:pPr>
            <a:r>
              <a:rPr lang="en-US" sz="1300" dirty="0">
                <a:solidFill>
                  <a:srgbClr val="6B7280"/>
                </a:solidFill>
                <a:latin typeface="Calibri" pitchFamily="34" charset="0"/>
                <a:ea typeface="Calibri" pitchFamily="34" charset="-122"/>
                <a:cs typeface="Calibri" pitchFamily="34" charset="-120"/>
              </a:rPr>
              <a:t>En series de tiempo el conteo de NaN no basta: si faltan horas del calendario, un lag_1 deja de significar «hace una hora». Por eso auditamos cuatro frentes.</a:t>
            </a:r>
            <a:endParaRPr lang="en-US" sz="1300" dirty="0"/>
          </a:p>
        </p:txBody>
      </p:sp>
      <p:sp>
        <p:nvSpPr>
          <p:cNvPr id="5" name="Shape 3"/>
          <p:cNvSpPr/>
          <p:nvPr/>
        </p:nvSpPr>
        <p:spPr>
          <a:xfrm>
            <a:off x="548640" y="1920240"/>
            <a:ext cx="5349240" cy="1143000"/>
          </a:xfrm>
          <a:prstGeom prst="roundRect">
            <a:avLst>
              <a:gd name="adj" fmla="val 6400"/>
            </a:avLst>
          </a:prstGeom>
          <a:solidFill>
            <a:srgbClr val="F5F7F2"/>
          </a:solidFill>
          <a:ln w="12700">
            <a:solidFill>
              <a:srgbClr val="F5F7F2"/>
            </a:solidFill>
            <a:prstDash val="solid"/>
          </a:ln>
          <a:effectLst>
            <a:outerShdw blurRad="101600" dist="25400" dir="5400000" algn="bl" rotWithShape="0">
              <a:srgbClr val="1C3A1C">
                <a:alpha val="10000"/>
              </a:srgbClr>
            </a:outerShdw>
          </a:effectLst>
        </p:spPr>
        <p:txBody>
          <a:bodyPr/>
          <a:lstStyle/>
          <a:p>
            <a:endParaRPr lang="es-CL"/>
          </a:p>
        </p:txBody>
      </p:sp>
      <p:sp>
        <p:nvSpPr>
          <p:cNvPr id="6" name="Shape 4"/>
          <p:cNvSpPr/>
          <p:nvPr/>
        </p:nvSpPr>
        <p:spPr>
          <a:xfrm>
            <a:off x="804672" y="2217420"/>
            <a:ext cx="548640" cy="548640"/>
          </a:xfrm>
          <a:prstGeom prst="ellipse">
            <a:avLst/>
          </a:prstGeom>
          <a:solidFill>
            <a:srgbClr val="97BC62"/>
          </a:solidFill>
          <a:ln/>
        </p:spPr>
        <p:txBody>
          <a:bodyPr/>
          <a:lstStyle/>
          <a:p>
            <a:endParaRPr lang="es-CL"/>
          </a:p>
        </p:txBody>
      </p:sp>
      <p:sp>
        <p:nvSpPr>
          <p:cNvPr id="7" name="Text 5"/>
          <p:cNvSpPr/>
          <p:nvPr/>
        </p:nvSpPr>
        <p:spPr>
          <a:xfrm>
            <a:off x="804672" y="2217420"/>
            <a:ext cx="548640" cy="54864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8" name="Text 6"/>
          <p:cNvSpPr/>
          <p:nvPr/>
        </p:nvSpPr>
        <p:spPr>
          <a:xfrm>
            <a:off x="1481328" y="2103120"/>
            <a:ext cx="4160520" cy="274320"/>
          </a:xfrm>
          <a:prstGeom prst="rect">
            <a:avLst/>
          </a:prstGeom>
          <a:noFill/>
          <a:ln/>
        </p:spPr>
        <p:txBody>
          <a:bodyPr wrap="square" lIns="0" tIns="0" rIns="0" bIns="0" rtlCol="0" anchor="ctr"/>
          <a:lstStyle/>
          <a:p>
            <a:pPr marL="0" indent="0">
              <a:buNone/>
            </a:pPr>
            <a:r>
              <a:rPr lang="en-US" sz="1500" b="1" dirty="0">
                <a:solidFill>
                  <a:srgbClr val="2C5F2D"/>
                </a:solidFill>
                <a:latin typeface="Calibri" pitchFamily="34" charset="0"/>
                <a:ea typeface="Calibri" pitchFamily="34" charset="-122"/>
                <a:cs typeface="Calibri" pitchFamily="34" charset="-120"/>
              </a:rPr>
              <a:t>Nulos técnicos</a:t>
            </a:r>
            <a:endParaRPr lang="en-US" sz="1500" dirty="0"/>
          </a:p>
        </p:txBody>
      </p:sp>
      <p:sp>
        <p:nvSpPr>
          <p:cNvPr id="9" name="Text 7"/>
          <p:cNvSpPr/>
          <p:nvPr/>
        </p:nvSpPr>
        <p:spPr>
          <a:xfrm>
            <a:off x="1481328" y="2395728"/>
            <a:ext cx="4160520" cy="521208"/>
          </a:xfrm>
          <a:prstGeom prst="rect">
            <a:avLst/>
          </a:prstGeom>
          <a:noFill/>
          <a:ln/>
        </p:spPr>
        <p:txBody>
          <a:bodyPr wrap="square" lIns="0" tIns="0" rIns="0" bIns="0" rtlCol="0" anchor="t"/>
          <a:lstStyle/>
          <a:p>
            <a:pPr marL="0" indent="0">
              <a:buNone/>
            </a:pPr>
            <a:r>
              <a:rPr lang="en-US" sz="1200" dirty="0">
                <a:solidFill>
                  <a:srgbClr val="6B7280"/>
                </a:solidFill>
                <a:latin typeface="Calibri" pitchFamily="34" charset="0"/>
                <a:ea typeface="Calibri" pitchFamily="34" charset="-122"/>
                <a:cs typeface="Calibri" pitchFamily="34" charset="-120"/>
              </a:rPr>
              <a:t>0 nulos en las 42 columnas del dataset final.</a:t>
            </a:r>
            <a:endParaRPr lang="en-US" sz="1200" dirty="0"/>
          </a:p>
        </p:txBody>
      </p:sp>
      <p:sp>
        <p:nvSpPr>
          <p:cNvPr id="10" name="Shape 8"/>
          <p:cNvSpPr/>
          <p:nvPr/>
        </p:nvSpPr>
        <p:spPr>
          <a:xfrm>
            <a:off x="6080760" y="1920240"/>
            <a:ext cx="5349240" cy="1143000"/>
          </a:xfrm>
          <a:prstGeom prst="roundRect">
            <a:avLst>
              <a:gd name="adj" fmla="val 6400"/>
            </a:avLst>
          </a:prstGeom>
          <a:solidFill>
            <a:srgbClr val="F5F7F2"/>
          </a:solidFill>
          <a:ln w="12700">
            <a:solidFill>
              <a:srgbClr val="F5F7F2"/>
            </a:solidFill>
            <a:prstDash val="solid"/>
          </a:ln>
          <a:effectLst>
            <a:outerShdw blurRad="101600" dist="25400" dir="5400000" algn="bl" rotWithShape="0">
              <a:srgbClr val="1C3A1C">
                <a:alpha val="10000"/>
              </a:srgbClr>
            </a:outerShdw>
          </a:effectLst>
        </p:spPr>
        <p:txBody>
          <a:bodyPr/>
          <a:lstStyle/>
          <a:p>
            <a:endParaRPr lang="es-CL"/>
          </a:p>
        </p:txBody>
      </p:sp>
      <p:sp>
        <p:nvSpPr>
          <p:cNvPr id="11" name="Shape 9"/>
          <p:cNvSpPr/>
          <p:nvPr/>
        </p:nvSpPr>
        <p:spPr>
          <a:xfrm>
            <a:off x="6336792" y="2217420"/>
            <a:ext cx="548640" cy="548640"/>
          </a:xfrm>
          <a:prstGeom prst="ellipse">
            <a:avLst/>
          </a:prstGeom>
          <a:solidFill>
            <a:srgbClr val="97BC62"/>
          </a:solidFill>
          <a:ln/>
        </p:spPr>
        <p:txBody>
          <a:bodyPr/>
          <a:lstStyle/>
          <a:p>
            <a:endParaRPr lang="es-CL"/>
          </a:p>
        </p:txBody>
      </p:sp>
      <p:sp>
        <p:nvSpPr>
          <p:cNvPr id="12" name="Text 10"/>
          <p:cNvSpPr/>
          <p:nvPr/>
        </p:nvSpPr>
        <p:spPr>
          <a:xfrm>
            <a:off x="6336792" y="2217420"/>
            <a:ext cx="548640" cy="54864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13" name="Text 11"/>
          <p:cNvSpPr/>
          <p:nvPr/>
        </p:nvSpPr>
        <p:spPr>
          <a:xfrm>
            <a:off x="7013448" y="2103120"/>
            <a:ext cx="4160520" cy="274320"/>
          </a:xfrm>
          <a:prstGeom prst="rect">
            <a:avLst/>
          </a:prstGeom>
          <a:noFill/>
          <a:ln/>
        </p:spPr>
        <p:txBody>
          <a:bodyPr wrap="square" lIns="0" tIns="0" rIns="0" bIns="0" rtlCol="0" anchor="ctr"/>
          <a:lstStyle/>
          <a:p>
            <a:pPr marL="0" indent="0">
              <a:buNone/>
            </a:pPr>
            <a:r>
              <a:rPr lang="en-US" sz="1500" b="1" dirty="0">
                <a:solidFill>
                  <a:srgbClr val="2C5F2D"/>
                </a:solidFill>
                <a:latin typeface="Calibri" pitchFamily="34" charset="0"/>
                <a:ea typeface="Calibri" pitchFamily="34" charset="-122"/>
                <a:cs typeface="Calibri" pitchFamily="34" charset="-120"/>
              </a:rPr>
              <a:t>Duplicados</a:t>
            </a:r>
            <a:endParaRPr lang="en-US" sz="1500" dirty="0"/>
          </a:p>
        </p:txBody>
      </p:sp>
      <p:sp>
        <p:nvSpPr>
          <p:cNvPr id="14" name="Text 12"/>
          <p:cNvSpPr/>
          <p:nvPr/>
        </p:nvSpPr>
        <p:spPr>
          <a:xfrm>
            <a:off x="7013448" y="2395728"/>
            <a:ext cx="4160520" cy="521208"/>
          </a:xfrm>
          <a:prstGeom prst="rect">
            <a:avLst/>
          </a:prstGeom>
          <a:noFill/>
          <a:ln/>
        </p:spPr>
        <p:txBody>
          <a:bodyPr wrap="square" lIns="0" tIns="0" rIns="0" bIns="0" rtlCol="0" anchor="t"/>
          <a:lstStyle/>
          <a:p>
            <a:pPr marL="0" indent="0">
              <a:buNone/>
            </a:pPr>
            <a:r>
              <a:rPr lang="en-US" sz="1200" dirty="0">
                <a:solidFill>
                  <a:srgbClr val="6B7280"/>
                </a:solidFill>
                <a:latin typeface="Calibri" pitchFamily="34" charset="0"/>
                <a:ea typeface="Calibri" pitchFamily="34" charset="-122"/>
                <a:cs typeface="Calibri" pitchFamily="34" charset="-120"/>
              </a:rPr>
              <a:t>Sin filas repetidas ni marcas de tiempo duplicadas: el join es 1:1.</a:t>
            </a:r>
            <a:endParaRPr lang="en-US" sz="1200" dirty="0"/>
          </a:p>
        </p:txBody>
      </p:sp>
      <p:sp>
        <p:nvSpPr>
          <p:cNvPr id="15" name="Shape 13"/>
          <p:cNvSpPr/>
          <p:nvPr/>
        </p:nvSpPr>
        <p:spPr>
          <a:xfrm>
            <a:off x="548640" y="3246120"/>
            <a:ext cx="5349240" cy="1143000"/>
          </a:xfrm>
          <a:prstGeom prst="roundRect">
            <a:avLst>
              <a:gd name="adj" fmla="val 6400"/>
            </a:avLst>
          </a:prstGeom>
          <a:solidFill>
            <a:srgbClr val="F5F7F2"/>
          </a:solidFill>
          <a:ln w="12700">
            <a:solidFill>
              <a:srgbClr val="F5F7F2"/>
            </a:solidFill>
            <a:prstDash val="solid"/>
          </a:ln>
          <a:effectLst>
            <a:outerShdw blurRad="101600" dist="25400" dir="5400000" algn="bl" rotWithShape="0">
              <a:srgbClr val="1C3A1C">
                <a:alpha val="10000"/>
              </a:srgbClr>
            </a:outerShdw>
          </a:effectLst>
        </p:spPr>
        <p:txBody>
          <a:bodyPr/>
          <a:lstStyle/>
          <a:p>
            <a:endParaRPr lang="es-CL"/>
          </a:p>
        </p:txBody>
      </p:sp>
      <p:sp>
        <p:nvSpPr>
          <p:cNvPr id="16" name="Shape 14"/>
          <p:cNvSpPr/>
          <p:nvPr/>
        </p:nvSpPr>
        <p:spPr>
          <a:xfrm>
            <a:off x="804672" y="3543300"/>
            <a:ext cx="548640" cy="548640"/>
          </a:xfrm>
          <a:prstGeom prst="ellipse">
            <a:avLst/>
          </a:prstGeom>
          <a:solidFill>
            <a:srgbClr val="97BC62"/>
          </a:solidFill>
          <a:ln/>
        </p:spPr>
        <p:txBody>
          <a:bodyPr/>
          <a:lstStyle/>
          <a:p>
            <a:endParaRPr lang="es-CL"/>
          </a:p>
        </p:txBody>
      </p:sp>
      <p:sp>
        <p:nvSpPr>
          <p:cNvPr id="17" name="Text 15"/>
          <p:cNvSpPr/>
          <p:nvPr/>
        </p:nvSpPr>
        <p:spPr>
          <a:xfrm>
            <a:off x="804672" y="3543300"/>
            <a:ext cx="548640" cy="54864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18" name="Text 16"/>
          <p:cNvSpPr/>
          <p:nvPr/>
        </p:nvSpPr>
        <p:spPr>
          <a:xfrm>
            <a:off x="1481328" y="3429000"/>
            <a:ext cx="4160520" cy="274320"/>
          </a:xfrm>
          <a:prstGeom prst="rect">
            <a:avLst/>
          </a:prstGeom>
          <a:noFill/>
          <a:ln/>
        </p:spPr>
        <p:txBody>
          <a:bodyPr wrap="square" lIns="0" tIns="0" rIns="0" bIns="0" rtlCol="0" anchor="ctr"/>
          <a:lstStyle/>
          <a:p>
            <a:pPr marL="0" indent="0">
              <a:buNone/>
            </a:pPr>
            <a:r>
              <a:rPr lang="en-US" sz="1500" b="1" dirty="0">
                <a:solidFill>
                  <a:srgbClr val="2C5F2D"/>
                </a:solidFill>
                <a:latin typeface="Calibri" pitchFamily="34" charset="0"/>
                <a:ea typeface="Calibri" pitchFamily="34" charset="-122"/>
                <a:cs typeface="Calibri" pitchFamily="34" charset="-120"/>
              </a:rPr>
              <a:t>Continuidad temporal</a:t>
            </a:r>
            <a:endParaRPr lang="en-US" sz="1500" dirty="0"/>
          </a:p>
        </p:txBody>
      </p:sp>
      <p:sp>
        <p:nvSpPr>
          <p:cNvPr id="19" name="Text 17"/>
          <p:cNvSpPr/>
          <p:nvPr/>
        </p:nvSpPr>
        <p:spPr>
          <a:xfrm>
            <a:off x="1481328" y="3721608"/>
            <a:ext cx="4160520" cy="521208"/>
          </a:xfrm>
          <a:prstGeom prst="rect">
            <a:avLst/>
          </a:prstGeom>
          <a:noFill/>
          <a:ln/>
        </p:spPr>
        <p:txBody>
          <a:bodyPr wrap="square" lIns="0" tIns="0" rIns="0" bIns="0" rtlCol="0" anchor="t"/>
          <a:lstStyle/>
          <a:p>
            <a:pPr marL="0" indent="0">
              <a:buNone/>
            </a:pPr>
            <a:r>
              <a:rPr lang="en-US" sz="1200" dirty="0">
                <a:solidFill>
                  <a:srgbClr val="6B7280"/>
                </a:solidFill>
                <a:latin typeface="Calibri" pitchFamily="34" charset="0"/>
                <a:ea typeface="Calibri" pitchFamily="34" charset="-122"/>
                <a:cs typeface="Calibri" pitchFamily="34" charset="-120"/>
              </a:rPr>
              <a:t>Comparamos las horas presentes contra el rango horario teórico completo.</a:t>
            </a:r>
            <a:endParaRPr lang="en-US" sz="1200" dirty="0"/>
          </a:p>
        </p:txBody>
      </p:sp>
      <p:sp>
        <p:nvSpPr>
          <p:cNvPr id="20" name="Shape 18"/>
          <p:cNvSpPr/>
          <p:nvPr/>
        </p:nvSpPr>
        <p:spPr>
          <a:xfrm>
            <a:off x="6080760" y="3246120"/>
            <a:ext cx="5349240" cy="1143000"/>
          </a:xfrm>
          <a:prstGeom prst="roundRect">
            <a:avLst>
              <a:gd name="adj" fmla="val 6400"/>
            </a:avLst>
          </a:prstGeom>
          <a:solidFill>
            <a:srgbClr val="F5F7F2"/>
          </a:solidFill>
          <a:ln w="12700">
            <a:solidFill>
              <a:srgbClr val="F5F7F2"/>
            </a:solidFill>
            <a:prstDash val="solid"/>
          </a:ln>
          <a:effectLst>
            <a:outerShdw blurRad="101600" dist="25400" dir="5400000" algn="bl" rotWithShape="0">
              <a:srgbClr val="1C3A1C">
                <a:alpha val="10000"/>
              </a:srgbClr>
            </a:outerShdw>
          </a:effectLst>
        </p:spPr>
        <p:txBody>
          <a:bodyPr/>
          <a:lstStyle/>
          <a:p>
            <a:endParaRPr lang="es-CL"/>
          </a:p>
        </p:txBody>
      </p:sp>
      <p:sp>
        <p:nvSpPr>
          <p:cNvPr id="21" name="Shape 19"/>
          <p:cNvSpPr/>
          <p:nvPr/>
        </p:nvSpPr>
        <p:spPr>
          <a:xfrm>
            <a:off x="6336792" y="3543300"/>
            <a:ext cx="548640" cy="548640"/>
          </a:xfrm>
          <a:prstGeom prst="ellipse">
            <a:avLst/>
          </a:prstGeom>
          <a:solidFill>
            <a:srgbClr val="97BC62"/>
          </a:solidFill>
          <a:ln/>
        </p:spPr>
        <p:txBody>
          <a:bodyPr/>
          <a:lstStyle/>
          <a:p>
            <a:endParaRPr lang="es-CL"/>
          </a:p>
        </p:txBody>
      </p:sp>
      <p:sp>
        <p:nvSpPr>
          <p:cNvPr id="22" name="Text 20"/>
          <p:cNvSpPr/>
          <p:nvPr/>
        </p:nvSpPr>
        <p:spPr>
          <a:xfrm>
            <a:off x="6336792" y="3543300"/>
            <a:ext cx="548640" cy="54864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23" name="Text 21"/>
          <p:cNvSpPr/>
          <p:nvPr/>
        </p:nvSpPr>
        <p:spPr>
          <a:xfrm>
            <a:off x="7013448" y="3429000"/>
            <a:ext cx="4160520" cy="274320"/>
          </a:xfrm>
          <a:prstGeom prst="rect">
            <a:avLst/>
          </a:prstGeom>
          <a:noFill/>
          <a:ln/>
        </p:spPr>
        <p:txBody>
          <a:bodyPr wrap="square" lIns="0" tIns="0" rIns="0" bIns="0" rtlCol="0" anchor="ctr"/>
          <a:lstStyle/>
          <a:p>
            <a:pPr marL="0" indent="0">
              <a:buNone/>
            </a:pPr>
            <a:r>
              <a:rPr lang="en-US" sz="1500" b="1" dirty="0">
                <a:solidFill>
                  <a:srgbClr val="2C5F2D"/>
                </a:solidFill>
                <a:latin typeface="Calibri" pitchFamily="34" charset="0"/>
                <a:ea typeface="Calibri" pitchFamily="34" charset="-122"/>
                <a:cs typeface="Calibri" pitchFamily="34" charset="-120"/>
              </a:rPr>
              <a:t>Coherencia de dominio</a:t>
            </a:r>
            <a:endParaRPr lang="en-US" sz="1500" dirty="0"/>
          </a:p>
        </p:txBody>
      </p:sp>
      <p:sp>
        <p:nvSpPr>
          <p:cNvPr id="24" name="Text 22"/>
          <p:cNvSpPr/>
          <p:nvPr/>
        </p:nvSpPr>
        <p:spPr>
          <a:xfrm>
            <a:off x="7013448" y="3721608"/>
            <a:ext cx="4160520" cy="521208"/>
          </a:xfrm>
          <a:prstGeom prst="rect">
            <a:avLst/>
          </a:prstGeom>
          <a:noFill/>
          <a:ln/>
        </p:spPr>
        <p:txBody>
          <a:bodyPr wrap="square" lIns="0" tIns="0" rIns="0" bIns="0" rtlCol="0" anchor="t"/>
          <a:lstStyle/>
          <a:p>
            <a:pPr marL="0" indent="0">
              <a:buNone/>
            </a:pPr>
            <a:r>
              <a:rPr lang="en-US" sz="1200" dirty="0">
                <a:solidFill>
                  <a:srgbClr val="6B7280"/>
                </a:solidFill>
                <a:latin typeface="Calibri" pitchFamily="34" charset="0"/>
                <a:ea typeface="Calibri" pitchFamily="34" charset="-122"/>
                <a:cs typeface="Calibri" pitchFamily="34" charset="-120"/>
              </a:rPr>
              <a:t>Sin demandas negativas ni valores meteorológicos imposibles.</a:t>
            </a:r>
            <a:endParaRPr lang="en-US" sz="1200" dirty="0"/>
          </a:p>
        </p:txBody>
      </p:sp>
      <p:sp>
        <p:nvSpPr>
          <p:cNvPr id="25" name="Shape 23"/>
          <p:cNvSpPr/>
          <p:nvPr/>
        </p:nvSpPr>
        <p:spPr>
          <a:xfrm>
            <a:off x="548640" y="4709160"/>
            <a:ext cx="10881360" cy="1280160"/>
          </a:xfrm>
          <a:prstGeom prst="roundRect">
            <a:avLst>
              <a:gd name="adj" fmla="val 5714"/>
            </a:avLst>
          </a:prstGeom>
          <a:solidFill>
            <a:srgbClr val="FBF0E8"/>
          </a:solidFill>
          <a:ln w="12700">
            <a:solidFill>
              <a:srgbClr val="FBF0E8"/>
            </a:solidFill>
            <a:prstDash val="solid"/>
          </a:ln>
        </p:spPr>
        <p:txBody>
          <a:bodyPr/>
          <a:lstStyle/>
          <a:p>
            <a:endParaRPr lang="es-CL"/>
          </a:p>
        </p:txBody>
      </p:sp>
      <p:sp>
        <p:nvSpPr>
          <p:cNvPr id="26" name="Shape 24"/>
          <p:cNvSpPr/>
          <p:nvPr/>
        </p:nvSpPr>
        <p:spPr>
          <a:xfrm>
            <a:off x="841248" y="5029200"/>
            <a:ext cx="502920" cy="502920"/>
          </a:xfrm>
          <a:prstGeom prst="ellipse">
            <a:avLst/>
          </a:prstGeom>
          <a:solidFill>
            <a:srgbClr val="C1440E"/>
          </a:solidFill>
          <a:ln/>
        </p:spPr>
        <p:txBody>
          <a:bodyPr/>
          <a:lstStyle/>
          <a:p>
            <a:endParaRPr lang="es-CL"/>
          </a:p>
        </p:txBody>
      </p:sp>
      <p:sp>
        <p:nvSpPr>
          <p:cNvPr id="27" name="Text 25"/>
          <p:cNvSpPr/>
          <p:nvPr/>
        </p:nvSpPr>
        <p:spPr>
          <a:xfrm>
            <a:off x="841248" y="5029200"/>
            <a:ext cx="50292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28" name="Text 26"/>
          <p:cNvSpPr/>
          <p:nvPr/>
        </p:nvSpPr>
        <p:spPr>
          <a:xfrm>
            <a:off x="1508760" y="4864608"/>
            <a:ext cx="9601200" cy="274320"/>
          </a:xfrm>
          <a:prstGeom prst="rect">
            <a:avLst/>
          </a:prstGeom>
          <a:noFill/>
          <a:ln/>
        </p:spPr>
        <p:txBody>
          <a:bodyPr wrap="square" lIns="0" tIns="0" rIns="0" bIns="0" rtlCol="0" anchor="ctr"/>
          <a:lstStyle/>
          <a:p>
            <a:pPr marL="0" indent="0">
              <a:buNone/>
            </a:pPr>
            <a:r>
              <a:rPr lang="en-US" sz="1400" b="1" dirty="0">
                <a:solidFill>
                  <a:srgbClr val="C1440E"/>
                </a:solidFill>
                <a:latin typeface="Calibri" pitchFamily="34" charset="0"/>
                <a:ea typeface="Calibri" pitchFamily="34" charset="-122"/>
                <a:cs typeface="Calibri" pitchFamily="34" charset="-120"/>
              </a:rPr>
              <a:t>Hallazgo que declaramos como limitación, no lo escondemos</a:t>
            </a:r>
            <a:endParaRPr lang="en-US" sz="1400" dirty="0"/>
          </a:p>
        </p:txBody>
      </p:sp>
      <p:sp>
        <p:nvSpPr>
          <p:cNvPr id="29" name="Text 27"/>
          <p:cNvSpPr/>
          <p:nvPr/>
        </p:nvSpPr>
        <p:spPr>
          <a:xfrm>
            <a:off x="1508760" y="5157216"/>
            <a:ext cx="9601200" cy="731520"/>
          </a:xfrm>
          <a:prstGeom prst="rect">
            <a:avLst/>
          </a:prstGeom>
          <a:noFill/>
          <a:ln/>
        </p:spPr>
        <p:txBody>
          <a:bodyPr wrap="square" lIns="0" tIns="0" rIns="0" bIns="0" rtlCol="0" anchor="ctr"/>
          <a:lstStyle/>
          <a:p>
            <a:pPr marL="0" indent="0">
              <a:buNone/>
            </a:pPr>
            <a:r>
              <a:rPr lang="en-US" sz="1150" dirty="0">
                <a:solidFill>
                  <a:srgbClr val="24302A"/>
                </a:solidFill>
                <a:latin typeface="Calibri" pitchFamily="34" charset="0"/>
                <a:ea typeface="Calibri" pitchFamily="34" charset="-122"/>
                <a:cs typeface="Calibri" pitchFamily="34" charset="-120"/>
              </a:rPr>
              <a:t>El registro original de UCI no contiene todas las horas del bienio. Un shift() sobre filas asume que la fila anterior es la hora anterior, y eso no siempre se cumple. La cobertura es alta, así que el sesgo es marginal frente al costo de imputar horas que quizás nunca existieron — pero queda documentado en el notebook como fuente de error conocida.</a:t>
            </a:r>
            <a:endParaRPr lang="en-US" sz="1150" dirty="0"/>
          </a:p>
        </p:txBody>
      </p:sp>
      <p:sp>
        <p:nvSpPr>
          <p:cNvPr id="30" name="Shape 28"/>
          <p:cNvSpPr/>
          <p:nvPr/>
        </p:nvSpPr>
        <p:spPr>
          <a:xfrm>
            <a:off x="548640" y="6236208"/>
            <a:ext cx="274320" cy="274320"/>
          </a:xfrm>
          <a:prstGeom prst="ellipse">
            <a:avLst/>
          </a:prstGeom>
          <a:solidFill>
            <a:srgbClr val="97BC62"/>
          </a:solidFill>
          <a:ln/>
        </p:spPr>
        <p:txBody>
          <a:bodyPr/>
          <a:lstStyle/>
          <a:p>
            <a:endParaRPr lang="es-CL"/>
          </a:p>
        </p:txBody>
      </p:sp>
      <p:sp>
        <p:nvSpPr>
          <p:cNvPr id="31" name="Text 29"/>
          <p:cNvSpPr/>
          <p:nvPr/>
        </p:nvSpPr>
        <p:spPr>
          <a:xfrm>
            <a:off x="548640" y="6236208"/>
            <a:ext cx="274320" cy="274320"/>
          </a:xfrm>
          <a:prstGeom prst="rect">
            <a:avLst/>
          </a:prstGeom>
          <a:noFill/>
          <a:ln/>
        </p:spPr>
        <p:txBody>
          <a:bodyPr wrap="square" lIns="0" tIns="0" rIns="0" bIns="0" rtlCol="0" anchor="ctr"/>
          <a:lstStyle/>
          <a:p>
            <a:pPr marL="0" indent="0" algn="ctr">
              <a:buNone/>
            </a:pPr>
            <a:r>
              <a:rPr lang="en-US" sz="1100" b="1" dirty="0">
                <a:solidFill>
                  <a:srgbClr val="1C3A1C"/>
                </a:solidFill>
                <a:latin typeface="Calibri" pitchFamily="34" charset="0"/>
                <a:ea typeface="Calibri" pitchFamily="34" charset="-122"/>
                <a:cs typeface="Calibri" pitchFamily="34" charset="-120"/>
              </a:rPr>
              <a:t>1</a:t>
            </a:r>
            <a:endParaRPr lang="en-US" sz="1100" dirty="0"/>
          </a:p>
        </p:txBody>
      </p:sp>
      <p:sp>
        <p:nvSpPr>
          <p:cNvPr id="32" name="Text 30"/>
          <p:cNvSpPr/>
          <p:nvPr/>
        </p:nvSpPr>
        <p:spPr>
          <a:xfrm>
            <a:off x="914400" y="6236208"/>
            <a:ext cx="5943600" cy="274320"/>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Sebastián González Pino — Problema, ETL y calidad de datos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73736"/>
            <a:ext cx="11064240" cy="256032"/>
          </a:xfrm>
          <a:prstGeom prst="rect">
            <a:avLst/>
          </a:prstGeom>
          <a:noFill/>
          <a:ln/>
        </p:spPr>
        <p:txBody>
          <a:bodyPr wrap="square" lIns="0" tIns="0" rIns="0" bIns="0" rtlCol="0" anchor="ctr"/>
          <a:lstStyle/>
          <a:p>
            <a:pPr marL="0" indent="0">
              <a:buNone/>
            </a:pPr>
            <a:r>
              <a:rPr lang="en-US" sz="1200" b="1" kern="0" spc="200" dirty="0">
                <a:solidFill>
                  <a:srgbClr val="97BC62"/>
                </a:solidFill>
                <a:latin typeface="Calibri" pitchFamily="34" charset="0"/>
                <a:ea typeface="Calibri" pitchFamily="34" charset="-122"/>
                <a:cs typeface="Calibri" pitchFamily="34" charset="-120"/>
              </a:rPr>
              <a:t>HERNÁN LIPPKE · 1 DE 3</a:t>
            </a:r>
            <a:endParaRPr lang="en-US" sz="1200" dirty="0"/>
          </a:p>
        </p:txBody>
      </p:sp>
      <p:sp>
        <p:nvSpPr>
          <p:cNvPr id="3" name="Text 1"/>
          <p:cNvSpPr/>
          <p:nvPr/>
        </p:nvSpPr>
        <p:spPr>
          <a:xfrm>
            <a:off x="548640" y="566928"/>
            <a:ext cx="11064240" cy="658368"/>
          </a:xfrm>
          <a:prstGeom prst="rect">
            <a:avLst/>
          </a:prstGeom>
          <a:noFill/>
          <a:ln/>
        </p:spPr>
        <p:txBody>
          <a:bodyPr wrap="square" lIns="0" tIns="0" rIns="0" bIns="0" rtlCol="0" anchor="ctr"/>
          <a:lstStyle/>
          <a:p>
            <a:pPr marL="0" indent="0">
              <a:buNone/>
            </a:pPr>
            <a:r>
              <a:rPr lang="en-US" sz="3400" b="1" dirty="0">
                <a:solidFill>
                  <a:srgbClr val="2C5F2D"/>
                </a:solidFill>
                <a:latin typeface="Cambria" pitchFamily="34" charset="0"/>
                <a:ea typeface="Cambria" pitchFamily="34" charset="-122"/>
                <a:cs typeface="Cambria" pitchFamily="34" charset="-120"/>
              </a:rPr>
              <a:t>La demanda: asimétrica, dispersa y sin «hora promedio»</a:t>
            </a:r>
            <a:endParaRPr lang="en-US" sz="3400" dirty="0"/>
          </a:p>
        </p:txBody>
      </p:sp>
      <p:sp>
        <p:nvSpPr>
          <p:cNvPr id="9" name="Text 7"/>
          <p:cNvSpPr/>
          <p:nvPr/>
        </p:nvSpPr>
        <p:spPr>
          <a:xfrm>
            <a:off x="7498080" y="1371600"/>
            <a:ext cx="3931920" cy="274320"/>
          </a:xfrm>
          <a:prstGeom prst="rect">
            <a:avLst/>
          </a:prstGeom>
          <a:noFill/>
          <a:ln/>
        </p:spPr>
        <p:txBody>
          <a:bodyPr wrap="square" lIns="0" tIns="0" rIns="0" bIns="0" rtlCol="0" anchor="ctr"/>
          <a:lstStyle/>
          <a:p>
            <a:pPr marL="0" indent="0">
              <a:buNone/>
            </a:pPr>
            <a:r>
              <a:rPr lang="en-US" sz="1500" b="1" dirty="0">
                <a:solidFill>
                  <a:srgbClr val="2C5F2D"/>
                </a:solidFill>
                <a:latin typeface="Calibri" pitchFamily="34" charset="0"/>
                <a:ea typeface="Calibri" pitchFamily="34" charset="-122"/>
                <a:cs typeface="Calibri" pitchFamily="34" charset="-120"/>
              </a:rPr>
              <a:t>Qué muestra</a:t>
            </a:r>
            <a:endParaRPr lang="en-US" sz="1500" dirty="0"/>
          </a:p>
        </p:txBody>
      </p:sp>
      <p:sp>
        <p:nvSpPr>
          <p:cNvPr id="10" name="Text 8"/>
          <p:cNvSpPr/>
          <p:nvPr/>
        </p:nvSpPr>
        <p:spPr>
          <a:xfrm>
            <a:off x="7498080" y="1719072"/>
            <a:ext cx="3931920" cy="219456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24302A"/>
                </a:solidFill>
                <a:latin typeface="Calibri" pitchFamily="34" charset="0"/>
                <a:ea typeface="Calibri" pitchFamily="34" charset="-122"/>
                <a:cs typeface="Calibri" pitchFamily="34" charset="-120"/>
              </a:rPr>
              <a:t>Cola derecha larga: media &gt; mediana. La masa de horas tiene demanda baja (madrugada) y unas pocas concentran los peaks.</a:t>
            </a:r>
            <a:endParaRPr lang="en-US" sz="1200" dirty="0"/>
          </a:p>
          <a:p>
            <a:pPr marL="342900" indent="-342900">
              <a:spcAft>
                <a:spcPts val="800"/>
              </a:spcAft>
              <a:buSzPct val="100000"/>
              <a:buChar char="▪"/>
            </a:pPr>
            <a:r>
              <a:rPr lang="en-US" sz="1200" dirty="0">
                <a:solidFill>
                  <a:srgbClr val="24302A"/>
                </a:solidFill>
                <a:latin typeface="Calibri" pitchFamily="34" charset="0"/>
                <a:ea typeface="Calibri" pitchFamily="34" charset="-122"/>
                <a:cs typeface="Calibri" pitchFamily="34" charset="-120"/>
              </a:rPr>
              <a:t>Coeficiente de variación cercano al 100%: la desviación es del orden de la media. «La hora promedio» no existe.</a:t>
            </a:r>
            <a:endParaRPr lang="en-US" sz="1200" dirty="0"/>
          </a:p>
          <a:p>
            <a:pPr marL="342900" indent="-342900">
              <a:spcAft>
                <a:spcPts val="800"/>
              </a:spcAft>
              <a:buSzPct val="100000"/>
              <a:buChar char="▪"/>
            </a:pPr>
            <a:r>
              <a:rPr lang="en-US" sz="1200" dirty="0">
                <a:solidFill>
                  <a:srgbClr val="24302A"/>
                </a:solidFill>
                <a:latin typeface="Calibri" pitchFamily="34" charset="0"/>
                <a:ea typeface="Calibri" pitchFamily="34" charset="-122"/>
                <a:cs typeface="Calibri" pitchFamily="34" charset="-120"/>
              </a:rPr>
              <a:t>El sistema se dimensiona para eventos raros: el 10% de horas más altas concentra una fracción desproporcionada de los viajes.</a:t>
            </a:r>
            <a:endParaRPr lang="en-US" sz="1200" dirty="0"/>
          </a:p>
        </p:txBody>
      </p:sp>
      <p:sp>
        <p:nvSpPr>
          <p:cNvPr id="11" name="Shape 9"/>
          <p:cNvSpPr/>
          <p:nvPr/>
        </p:nvSpPr>
        <p:spPr>
          <a:xfrm>
            <a:off x="7498080" y="3977640"/>
            <a:ext cx="3931920" cy="1097280"/>
          </a:xfrm>
          <a:prstGeom prst="roundRect">
            <a:avLst>
              <a:gd name="adj" fmla="val 6667"/>
            </a:avLst>
          </a:prstGeom>
          <a:solidFill>
            <a:srgbClr val="1C3A1C"/>
          </a:solidFill>
          <a:ln w="12700">
            <a:solidFill>
              <a:srgbClr val="1C3A1C"/>
            </a:solidFill>
            <a:prstDash val="solid"/>
          </a:ln>
        </p:spPr>
        <p:txBody>
          <a:bodyPr/>
          <a:lstStyle/>
          <a:p>
            <a:endParaRPr lang="es-CL"/>
          </a:p>
        </p:txBody>
      </p:sp>
      <p:sp>
        <p:nvSpPr>
          <p:cNvPr id="12" name="Text 10"/>
          <p:cNvSpPr/>
          <p:nvPr/>
        </p:nvSpPr>
        <p:spPr>
          <a:xfrm>
            <a:off x="7680960" y="4114800"/>
            <a:ext cx="3566160" cy="256032"/>
          </a:xfrm>
          <a:prstGeom prst="rect">
            <a:avLst/>
          </a:prstGeom>
          <a:noFill/>
          <a:ln/>
        </p:spPr>
        <p:txBody>
          <a:bodyPr wrap="square" lIns="0" tIns="0" rIns="0" bIns="0" rtlCol="0" anchor="ctr"/>
          <a:lstStyle/>
          <a:p>
            <a:pPr marL="0" indent="0">
              <a:buNone/>
            </a:pPr>
            <a:r>
              <a:rPr lang="en-US" sz="1300" b="1" dirty="0">
                <a:solidFill>
                  <a:srgbClr val="97BC62"/>
                </a:solidFill>
                <a:latin typeface="Calibri" pitchFamily="34" charset="0"/>
                <a:ea typeface="Calibri" pitchFamily="34" charset="-122"/>
                <a:cs typeface="Calibri" pitchFamily="34" charset="-120"/>
              </a:rPr>
              <a:t>Decisión: reportamos MAE</a:t>
            </a:r>
            <a:endParaRPr lang="en-US" sz="1300" dirty="0"/>
          </a:p>
        </p:txBody>
      </p:sp>
      <p:sp>
        <p:nvSpPr>
          <p:cNvPr id="13" name="Text 11"/>
          <p:cNvSpPr/>
          <p:nvPr/>
        </p:nvSpPr>
        <p:spPr>
          <a:xfrm>
            <a:off x="7680960" y="4389120"/>
            <a:ext cx="3566160" cy="621792"/>
          </a:xfrm>
          <a:prstGeom prst="rect">
            <a:avLst/>
          </a:prstGeom>
          <a:noFill/>
          <a:ln/>
        </p:spPr>
        <p:txBody>
          <a:bodyPr wrap="square" lIns="0" tIns="0" rIns="0" bIns="0" rtlCol="0" anchor="ctr"/>
          <a:lstStyle/>
          <a:p>
            <a:pPr marL="0" indent="0">
              <a:buNone/>
            </a:pPr>
            <a:r>
              <a:rPr lang="en-US" sz="1050" dirty="0">
                <a:solidFill>
                  <a:srgbClr val="C9D6C2"/>
                </a:solidFill>
                <a:latin typeface="Calibri" pitchFamily="34" charset="0"/>
                <a:ea typeface="Calibri" pitchFamily="34" charset="-122"/>
                <a:cs typeface="Calibri" pitchFamily="34" charset="-120"/>
              </a:rPr>
              <a:t>El RMSE eleva los errores al cuadrado y con esta cola queda dominado por un puñado de horas punta. El MAE (≈27 bicis/h) es la cifra que el operador interpreta directo.</a:t>
            </a:r>
            <a:endParaRPr lang="en-US" sz="1050" dirty="0"/>
          </a:p>
        </p:txBody>
      </p:sp>
      <p:sp>
        <p:nvSpPr>
          <p:cNvPr id="14" name="Shape 12"/>
          <p:cNvSpPr/>
          <p:nvPr/>
        </p:nvSpPr>
        <p:spPr>
          <a:xfrm>
            <a:off x="548640" y="5257800"/>
            <a:ext cx="10881360" cy="777240"/>
          </a:xfrm>
          <a:prstGeom prst="roundRect">
            <a:avLst>
              <a:gd name="adj" fmla="val 7059"/>
            </a:avLst>
          </a:prstGeom>
          <a:solidFill>
            <a:srgbClr val="F5F7F2"/>
          </a:solidFill>
          <a:ln w="12700">
            <a:solidFill>
              <a:srgbClr val="F5F7F2"/>
            </a:solidFill>
            <a:prstDash val="solid"/>
          </a:ln>
        </p:spPr>
        <p:txBody>
          <a:bodyPr/>
          <a:lstStyle/>
          <a:p>
            <a:endParaRPr lang="es-CL"/>
          </a:p>
        </p:txBody>
      </p:sp>
      <p:sp>
        <p:nvSpPr>
          <p:cNvPr id="15" name="Text 13"/>
          <p:cNvSpPr/>
          <p:nvPr/>
        </p:nvSpPr>
        <p:spPr>
          <a:xfrm>
            <a:off x="777240" y="5349240"/>
            <a:ext cx="10424160" cy="594360"/>
          </a:xfrm>
          <a:prstGeom prst="rect">
            <a:avLst/>
          </a:prstGeom>
          <a:noFill/>
          <a:ln/>
        </p:spPr>
        <p:txBody>
          <a:bodyPr wrap="square" lIns="0" tIns="0" rIns="0" bIns="0" rtlCol="0" anchor="ctr"/>
          <a:lstStyle/>
          <a:p>
            <a:pPr marL="0" indent="0">
              <a:buNone/>
            </a:pPr>
            <a:r>
              <a:rPr lang="en-US" sz="1150" b="1" dirty="0">
                <a:solidFill>
                  <a:srgbClr val="2C5F2D"/>
                </a:solidFill>
                <a:latin typeface="Calibri" pitchFamily="34" charset="0"/>
                <a:ea typeface="Calibri" pitchFamily="34" charset="-122"/>
                <a:cs typeface="Calibri" pitchFamily="34" charset="-120"/>
              </a:rPr>
              <a:t>Outliers: no los eliminamos ni los winsorizamos. </a:t>
            </a:r>
            <a:r>
              <a:rPr lang="en-US" sz="1150" dirty="0">
                <a:solidFill>
                  <a:srgbClr val="24302A"/>
                </a:solidFill>
                <a:latin typeface="Calibri" pitchFamily="34" charset="0"/>
                <a:ea typeface="Calibri" pitchFamily="34" charset="-122"/>
                <a:cs typeface="Calibri" pitchFamily="34" charset="-120"/>
              </a:rPr>
              <a:t>Los valores que el criterio IQR marca como atípicos se concentran en las horas punta (8h y 17–18h): no son ruido, son el commuting, justo lo que el operador nos pide anticipar. El IQR asume unimodalidad y simetría — supuestos que esta distribución no cumple.</a:t>
            </a:r>
            <a:endParaRPr lang="en-US" sz="1150" dirty="0"/>
          </a:p>
        </p:txBody>
      </p:sp>
      <p:sp>
        <p:nvSpPr>
          <p:cNvPr id="16" name="Shape 14"/>
          <p:cNvSpPr/>
          <p:nvPr/>
        </p:nvSpPr>
        <p:spPr>
          <a:xfrm>
            <a:off x="548640" y="6236208"/>
            <a:ext cx="274320" cy="274320"/>
          </a:xfrm>
          <a:prstGeom prst="ellipse">
            <a:avLst/>
          </a:prstGeom>
          <a:solidFill>
            <a:srgbClr val="97BC62"/>
          </a:solidFill>
          <a:ln/>
        </p:spPr>
        <p:txBody>
          <a:bodyPr/>
          <a:lstStyle/>
          <a:p>
            <a:endParaRPr lang="es-CL"/>
          </a:p>
        </p:txBody>
      </p:sp>
      <p:sp>
        <p:nvSpPr>
          <p:cNvPr id="17" name="Text 15"/>
          <p:cNvSpPr/>
          <p:nvPr/>
        </p:nvSpPr>
        <p:spPr>
          <a:xfrm>
            <a:off x="548640" y="6236208"/>
            <a:ext cx="274320" cy="274320"/>
          </a:xfrm>
          <a:prstGeom prst="rect">
            <a:avLst/>
          </a:prstGeom>
          <a:noFill/>
          <a:ln/>
        </p:spPr>
        <p:txBody>
          <a:bodyPr wrap="square" lIns="0" tIns="0" rIns="0" bIns="0" rtlCol="0" anchor="ctr"/>
          <a:lstStyle/>
          <a:p>
            <a:pPr marL="0" indent="0" algn="ctr">
              <a:buNone/>
            </a:pPr>
            <a:r>
              <a:rPr lang="en-US" sz="1100" b="1" dirty="0">
                <a:solidFill>
                  <a:srgbClr val="1C3A1C"/>
                </a:solidFill>
                <a:latin typeface="Calibri" pitchFamily="34" charset="0"/>
                <a:ea typeface="Calibri" pitchFamily="34" charset="-122"/>
                <a:cs typeface="Calibri" pitchFamily="34" charset="-120"/>
              </a:rPr>
              <a:t>2</a:t>
            </a:r>
            <a:endParaRPr lang="en-US" sz="1100" dirty="0"/>
          </a:p>
        </p:txBody>
      </p:sp>
      <p:sp>
        <p:nvSpPr>
          <p:cNvPr id="18" name="Text 16"/>
          <p:cNvSpPr/>
          <p:nvPr/>
        </p:nvSpPr>
        <p:spPr>
          <a:xfrm>
            <a:off x="914400" y="6236208"/>
            <a:ext cx="5943600" cy="274320"/>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Hernán Lippke Vega — Análisis exploratorio con Plotly</a:t>
            </a:r>
            <a:endParaRPr lang="en-US" sz="1100" dirty="0"/>
          </a:p>
        </p:txBody>
      </p:sp>
      <p:pic>
        <p:nvPicPr>
          <p:cNvPr id="19" name="Picture 18" descr="01_distribucion_demanda.png"/>
          <p:cNvPicPr>
            <a:picLocks noChangeAspect="1"/>
          </p:cNvPicPr>
          <p:nvPr/>
        </p:nvPicPr>
        <p:blipFill>
          <a:blip r:embed="rId3"/>
          <a:stretch>
            <a:fillRect/>
          </a:stretch>
        </p:blipFill>
        <p:spPr>
          <a:xfrm>
            <a:off x="562708" y="1371600"/>
            <a:ext cx="6646984" cy="370332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lIns="0" tIns="0" rIns="0" bIns="0" rtlCol="0" anchor="ctr"/>
          <a:lstStyle/>
          <a:p>
            <a:pPr marL="0" indent="0">
              <a:buNone/>
            </a:pPr>
            <a:r>
              <a:rPr lang="en-US" sz="1200" b="1" kern="0" spc="200" dirty="0">
                <a:solidFill>
                  <a:srgbClr val="97BC62"/>
                </a:solidFill>
                <a:latin typeface="Calibri" pitchFamily="34" charset="0"/>
                <a:ea typeface="Calibri" pitchFamily="34" charset="-122"/>
                <a:cs typeface="Calibri" pitchFamily="34" charset="-120"/>
              </a:rPr>
              <a:t>HERNÁN LIPPKE · 2 DE 3</a:t>
            </a:r>
            <a:endParaRPr lang="en-US" sz="1200" dirty="0"/>
          </a:p>
        </p:txBody>
      </p:sp>
      <p:sp>
        <p:nvSpPr>
          <p:cNvPr id="3" name="Text 1"/>
          <p:cNvSpPr/>
          <p:nvPr/>
        </p:nvSpPr>
        <p:spPr>
          <a:xfrm>
            <a:off x="548640" y="566928"/>
            <a:ext cx="11064240" cy="658368"/>
          </a:xfrm>
          <a:prstGeom prst="rect">
            <a:avLst/>
          </a:prstGeom>
          <a:noFill/>
          <a:ln/>
        </p:spPr>
        <p:txBody>
          <a:bodyPr wrap="square" lIns="0" tIns="0" rIns="0" bIns="0" rtlCol="0" anchor="ctr"/>
          <a:lstStyle/>
          <a:p>
            <a:pPr marL="0" indent="0">
              <a:buNone/>
            </a:pPr>
            <a:r>
              <a:rPr lang="en-US" sz="3400" b="1" dirty="0">
                <a:solidFill>
                  <a:srgbClr val="2C5F2D"/>
                </a:solidFill>
                <a:latin typeface="Cambria" pitchFamily="34" charset="0"/>
                <a:ea typeface="Cambria" pitchFamily="34" charset="-122"/>
                <a:cs typeface="Cambria" pitchFamily="34" charset="-120"/>
              </a:rPr>
              <a:t>No hay un patrón: hay dos regímenes distintos</a:t>
            </a:r>
            <a:endParaRPr lang="en-US" sz="3400" dirty="0"/>
          </a:p>
        </p:txBody>
      </p:sp>
      <p:sp>
        <p:nvSpPr>
          <p:cNvPr id="9" name="Text 7"/>
          <p:cNvSpPr/>
          <p:nvPr/>
        </p:nvSpPr>
        <p:spPr>
          <a:xfrm>
            <a:off x="6858000" y="1371600"/>
            <a:ext cx="4572000" cy="274320"/>
          </a:xfrm>
          <a:prstGeom prst="rect">
            <a:avLst/>
          </a:prstGeom>
          <a:noFill/>
          <a:ln/>
        </p:spPr>
        <p:txBody>
          <a:bodyPr wrap="square" lIns="0" tIns="0" rIns="0" bIns="0" rtlCol="0" anchor="ctr"/>
          <a:lstStyle/>
          <a:p>
            <a:pPr marL="0" indent="0">
              <a:buNone/>
            </a:pPr>
            <a:r>
              <a:rPr lang="en-US" sz="1500" b="1" dirty="0">
                <a:solidFill>
                  <a:srgbClr val="2C5F2D"/>
                </a:solidFill>
                <a:latin typeface="Calibri" pitchFamily="34" charset="0"/>
                <a:ea typeface="Calibri" pitchFamily="34" charset="-122"/>
                <a:cs typeface="Calibri" pitchFamily="34" charset="-120"/>
              </a:rPr>
              <a:t>Lunes a viernes</a:t>
            </a:r>
            <a:endParaRPr lang="en-US" sz="1500" dirty="0"/>
          </a:p>
        </p:txBody>
      </p:sp>
      <p:sp>
        <p:nvSpPr>
          <p:cNvPr id="10" name="Text 8"/>
          <p:cNvSpPr/>
          <p:nvPr/>
        </p:nvSpPr>
        <p:spPr>
          <a:xfrm>
            <a:off x="6858000" y="1691640"/>
            <a:ext cx="4572000" cy="77724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Dos bandas calientes en torno a las 8:00 y las 17:00–18:00, repetidas con regularidad de reloj. Es la firma del commuting: la bicicleta como transporte al trabajo, no como paseo.</a:t>
            </a:r>
            <a:endParaRPr lang="en-US" sz="1200" dirty="0"/>
          </a:p>
        </p:txBody>
      </p:sp>
      <p:sp>
        <p:nvSpPr>
          <p:cNvPr id="11" name="Text 9"/>
          <p:cNvSpPr/>
          <p:nvPr/>
        </p:nvSpPr>
        <p:spPr>
          <a:xfrm>
            <a:off x="6858000" y="2560320"/>
            <a:ext cx="4572000" cy="274320"/>
          </a:xfrm>
          <a:prstGeom prst="rect">
            <a:avLst/>
          </a:prstGeom>
          <a:noFill/>
          <a:ln/>
        </p:spPr>
        <p:txBody>
          <a:bodyPr wrap="square" lIns="0" tIns="0" rIns="0" bIns="0" rtlCol="0" anchor="ctr"/>
          <a:lstStyle/>
          <a:p>
            <a:pPr marL="0" indent="0">
              <a:buNone/>
            </a:pPr>
            <a:r>
              <a:rPr lang="en-US" sz="1500" b="1" dirty="0">
                <a:solidFill>
                  <a:srgbClr val="2C5F2D"/>
                </a:solidFill>
                <a:latin typeface="Calibri" pitchFamily="34" charset="0"/>
                <a:ea typeface="Calibri" pitchFamily="34" charset="-122"/>
                <a:cs typeface="Calibri" pitchFamily="34" charset="-120"/>
              </a:rPr>
              <a:t>Sábado y domingo</a:t>
            </a:r>
            <a:endParaRPr lang="en-US" sz="1500" dirty="0"/>
          </a:p>
        </p:txBody>
      </p:sp>
      <p:sp>
        <p:nvSpPr>
          <p:cNvPr id="12" name="Text 10"/>
          <p:cNvSpPr/>
          <p:nvPr/>
        </p:nvSpPr>
        <p:spPr>
          <a:xfrm>
            <a:off x="6858000" y="2880360"/>
            <a:ext cx="4572000" cy="77724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Las bandas desaparecen. Emerge una mancha ancha al mediodía: uso recreativo, más tardío y repartido. No son variaciones de un mismo patrón — son dos patrones.</a:t>
            </a:r>
            <a:endParaRPr lang="en-US" sz="1200" dirty="0"/>
          </a:p>
        </p:txBody>
      </p:sp>
      <p:sp>
        <p:nvSpPr>
          <p:cNvPr id="13" name="Shape 11"/>
          <p:cNvSpPr/>
          <p:nvPr/>
        </p:nvSpPr>
        <p:spPr>
          <a:xfrm>
            <a:off x="6858000" y="3749040"/>
            <a:ext cx="4572000" cy="1097280"/>
          </a:xfrm>
          <a:prstGeom prst="roundRect">
            <a:avLst>
              <a:gd name="adj" fmla="val 6667"/>
            </a:avLst>
          </a:prstGeom>
          <a:solidFill>
            <a:srgbClr val="F5F7F2"/>
          </a:solidFill>
          <a:ln w="12700">
            <a:solidFill>
              <a:srgbClr val="F5F7F2"/>
            </a:solidFill>
            <a:prstDash val="solid"/>
          </a:ln>
          <a:effectLst>
            <a:outerShdw blurRad="101600" dist="25400" dir="5400000" algn="bl" rotWithShape="0">
              <a:srgbClr val="1C3A1C">
                <a:alpha val="10000"/>
              </a:srgbClr>
            </a:outerShdw>
          </a:effectLst>
        </p:spPr>
        <p:txBody>
          <a:bodyPr/>
          <a:lstStyle/>
          <a:p>
            <a:endParaRPr lang="es-CL"/>
          </a:p>
        </p:txBody>
      </p:sp>
      <p:sp>
        <p:nvSpPr>
          <p:cNvPr id="14" name="Shape 12"/>
          <p:cNvSpPr/>
          <p:nvPr/>
        </p:nvSpPr>
        <p:spPr>
          <a:xfrm>
            <a:off x="7114032" y="4023360"/>
            <a:ext cx="548640" cy="548640"/>
          </a:xfrm>
          <a:prstGeom prst="ellipse">
            <a:avLst/>
          </a:prstGeom>
          <a:solidFill>
            <a:srgbClr val="97BC62"/>
          </a:solidFill>
          <a:ln/>
        </p:spPr>
        <p:txBody>
          <a:bodyPr/>
          <a:lstStyle/>
          <a:p>
            <a:endParaRPr lang="es-CL"/>
          </a:p>
        </p:txBody>
      </p:sp>
      <p:sp>
        <p:nvSpPr>
          <p:cNvPr id="15" name="Text 13"/>
          <p:cNvSpPr/>
          <p:nvPr/>
        </p:nvSpPr>
        <p:spPr>
          <a:xfrm>
            <a:off x="7114032" y="4023360"/>
            <a:ext cx="548640" cy="54864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16" name="Text 14"/>
          <p:cNvSpPr/>
          <p:nvPr/>
        </p:nvSpPr>
        <p:spPr>
          <a:xfrm>
            <a:off x="7790688" y="3931920"/>
            <a:ext cx="3383280" cy="274320"/>
          </a:xfrm>
          <a:prstGeom prst="rect">
            <a:avLst/>
          </a:prstGeom>
          <a:noFill/>
          <a:ln/>
        </p:spPr>
        <p:txBody>
          <a:bodyPr wrap="square" lIns="0" tIns="0" rIns="0" bIns="0" rtlCol="0" anchor="ctr"/>
          <a:lstStyle/>
          <a:p>
            <a:pPr marL="0" indent="0">
              <a:buNone/>
            </a:pPr>
            <a:r>
              <a:rPr lang="en-US" sz="1500" b="1" dirty="0">
                <a:solidFill>
                  <a:srgbClr val="2C5F2D"/>
                </a:solidFill>
                <a:latin typeface="Calibri" pitchFamily="34" charset="0"/>
                <a:ea typeface="Calibri" pitchFamily="34" charset="-122"/>
                <a:cs typeface="Calibri" pitchFamily="34" charset="-120"/>
              </a:rPr>
              <a:t>workingday / is_weekend</a:t>
            </a:r>
            <a:endParaRPr lang="en-US" sz="1500" dirty="0"/>
          </a:p>
        </p:txBody>
      </p:sp>
      <p:sp>
        <p:nvSpPr>
          <p:cNvPr id="17" name="Text 15"/>
          <p:cNvSpPr/>
          <p:nvPr/>
        </p:nvSpPr>
        <p:spPr>
          <a:xfrm>
            <a:off x="7790688" y="4224528"/>
            <a:ext cx="3383280" cy="475488"/>
          </a:xfrm>
          <a:prstGeom prst="rect">
            <a:avLst/>
          </a:prstGeom>
          <a:noFill/>
          <a:ln/>
        </p:spPr>
        <p:txBody>
          <a:bodyPr wrap="square" lIns="0" tIns="0" rIns="0" bIns="0" rtlCol="0" anchor="t"/>
          <a:lstStyle/>
          <a:p>
            <a:pPr marL="0" indent="0">
              <a:buNone/>
            </a:pPr>
            <a:r>
              <a:rPr lang="en-US" sz="1200" dirty="0">
                <a:solidFill>
                  <a:srgbClr val="6B7280"/>
                </a:solidFill>
                <a:latin typeface="Calibri" pitchFamily="34" charset="0"/>
                <a:ea typeface="Calibri" pitchFamily="34" charset="-122"/>
                <a:cs typeface="Calibri" pitchFamily="34" charset="-120"/>
              </a:rPr>
              <a:t>No son features cosméticas: le permiten al modelo cambiar de régimen en vez de aprender un promedio que no describe a ninguno.</a:t>
            </a:r>
            <a:endParaRPr lang="en-US" sz="1200" dirty="0"/>
          </a:p>
        </p:txBody>
      </p:sp>
      <p:sp>
        <p:nvSpPr>
          <p:cNvPr id="18" name="Shape 16"/>
          <p:cNvSpPr/>
          <p:nvPr/>
        </p:nvSpPr>
        <p:spPr>
          <a:xfrm>
            <a:off x="6858000" y="4983480"/>
            <a:ext cx="4572000" cy="1097280"/>
          </a:xfrm>
          <a:prstGeom prst="roundRect">
            <a:avLst>
              <a:gd name="adj" fmla="val 6667"/>
            </a:avLst>
          </a:prstGeom>
          <a:solidFill>
            <a:srgbClr val="F5F7F2"/>
          </a:solidFill>
          <a:ln w="12700">
            <a:solidFill>
              <a:srgbClr val="F5F7F2"/>
            </a:solidFill>
            <a:prstDash val="solid"/>
          </a:ln>
          <a:effectLst>
            <a:outerShdw blurRad="101600" dist="25400" dir="5400000" algn="bl" rotWithShape="0">
              <a:srgbClr val="1C3A1C">
                <a:alpha val="10000"/>
              </a:srgbClr>
            </a:outerShdw>
          </a:effectLst>
        </p:spPr>
        <p:txBody>
          <a:bodyPr/>
          <a:lstStyle/>
          <a:p>
            <a:endParaRPr lang="es-CL"/>
          </a:p>
        </p:txBody>
      </p:sp>
      <p:sp>
        <p:nvSpPr>
          <p:cNvPr id="19" name="Shape 17"/>
          <p:cNvSpPr/>
          <p:nvPr/>
        </p:nvSpPr>
        <p:spPr>
          <a:xfrm>
            <a:off x="7114032" y="5257800"/>
            <a:ext cx="548640" cy="548640"/>
          </a:xfrm>
          <a:prstGeom prst="ellipse">
            <a:avLst/>
          </a:prstGeom>
          <a:solidFill>
            <a:srgbClr val="97BC62"/>
          </a:solidFill>
          <a:ln/>
        </p:spPr>
        <p:txBody>
          <a:bodyPr/>
          <a:lstStyle/>
          <a:p>
            <a:endParaRPr lang="es-CL"/>
          </a:p>
        </p:txBody>
      </p:sp>
      <p:sp>
        <p:nvSpPr>
          <p:cNvPr id="20" name="Text 18"/>
          <p:cNvSpPr/>
          <p:nvPr/>
        </p:nvSpPr>
        <p:spPr>
          <a:xfrm>
            <a:off x="7114032" y="5257800"/>
            <a:ext cx="548640" cy="54864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21" name="Text 19"/>
          <p:cNvSpPr/>
          <p:nvPr/>
        </p:nvSpPr>
        <p:spPr>
          <a:xfrm>
            <a:off x="7790688" y="5166360"/>
            <a:ext cx="3383280" cy="274320"/>
          </a:xfrm>
          <a:prstGeom prst="rect">
            <a:avLst/>
          </a:prstGeom>
          <a:noFill/>
          <a:ln/>
        </p:spPr>
        <p:txBody>
          <a:bodyPr wrap="square" lIns="0" tIns="0" rIns="0" bIns="0" rtlCol="0" anchor="ctr"/>
          <a:lstStyle/>
          <a:p>
            <a:pPr marL="0" indent="0">
              <a:buNone/>
            </a:pPr>
            <a:r>
              <a:rPr lang="en-US" sz="1500" b="1" dirty="0">
                <a:solidFill>
                  <a:srgbClr val="2C5F2D"/>
                </a:solidFill>
                <a:latin typeface="Calibri" pitchFamily="34" charset="0"/>
                <a:ea typeface="Calibri" pitchFamily="34" charset="-122"/>
                <a:cs typeface="Calibri" pitchFamily="34" charset="-120"/>
              </a:rPr>
              <a:t>Por qué XGBoost</a:t>
            </a:r>
            <a:endParaRPr lang="en-US" sz="1500" dirty="0"/>
          </a:p>
        </p:txBody>
      </p:sp>
      <p:sp>
        <p:nvSpPr>
          <p:cNvPr id="22" name="Text 20"/>
          <p:cNvSpPr/>
          <p:nvPr/>
        </p:nvSpPr>
        <p:spPr>
          <a:xfrm>
            <a:off x="7790688" y="5458968"/>
            <a:ext cx="3383280" cy="475488"/>
          </a:xfrm>
          <a:prstGeom prst="rect">
            <a:avLst/>
          </a:prstGeom>
          <a:noFill/>
          <a:ln/>
        </p:spPr>
        <p:txBody>
          <a:bodyPr wrap="square" lIns="0" tIns="0" rIns="0" bIns="0" rtlCol="0" anchor="t"/>
          <a:lstStyle/>
          <a:p>
            <a:pPr marL="0" indent="0">
              <a:buNone/>
            </a:pPr>
            <a:r>
              <a:rPr lang="en-US" sz="1200" dirty="0">
                <a:solidFill>
                  <a:srgbClr val="6B7280"/>
                </a:solidFill>
                <a:latin typeface="Calibri" pitchFamily="34" charset="0"/>
                <a:ea typeface="Calibri" pitchFamily="34" charset="-122"/>
                <a:cs typeface="Calibri" pitchFamily="34" charset="-120"/>
              </a:rPr>
              <a:t>El efecto de la hora depende del día: esa interacción es no lineal y un modelo aditivo no la representa. Los árboles la capturan de forma nativa.</a:t>
            </a:r>
            <a:endParaRPr lang="en-US" sz="1200" dirty="0"/>
          </a:p>
        </p:txBody>
      </p:sp>
      <p:sp>
        <p:nvSpPr>
          <p:cNvPr id="23" name="Text 21"/>
          <p:cNvSpPr/>
          <p:nvPr/>
        </p:nvSpPr>
        <p:spPr>
          <a:xfrm>
            <a:off x="548640" y="5440680"/>
            <a:ext cx="6035040" cy="502920"/>
          </a:xfrm>
          <a:prstGeom prst="rect">
            <a:avLst/>
          </a:prstGeom>
          <a:noFill/>
          <a:ln/>
        </p:spPr>
        <p:txBody>
          <a:bodyPr wrap="square" lIns="0" tIns="0" rIns="0" bIns="0"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La banda intercuartílica del perfil horario es estrecha en la madrugada y ancha en el peak: hay más incertidumbre justo donde más importa.</a:t>
            </a:r>
            <a:endParaRPr lang="en-US" sz="1100" dirty="0"/>
          </a:p>
        </p:txBody>
      </p:sp>
      <p:sp>
        <p:nvSpPr>
          <p:cNvPr id="24" name="Shape 22"/>
          <p:cNvSpPr/>
          <p:nvPr/>
        </p:nvSpPr>
        <p:spPr>
          <a:xfrm>
            <a:off x="548640" y="6236208"/>
            <a:ext cx="274320" cy="274320"/>
          </a:xfrm>
          <a:prstGeom prst="ellipse">
            <a:avLst/>
          </a:prstGeom>
          <a:solidFill>
            <a:srgbClr val="97BC62"/>
          </a:solidFill>
          <a:ln/>
        </p:spPr>
        <p:txBody>
          <a:bodyPr/>
          <a:lstStyle/>
          <a:p>
            <a:endParaRPr lang="es-CL"/>
          </a:p>
        </p:txBody>
      </p:sp>
      <p:sp>
        <p:nvSpPr>
          <p:cNvPr id="25" name="Text 23"/>
          <p:cNvSpPr/>
          <p:nvPr/>
        </p:nvSpPr>
        <p:spPr>
          <a:xfrm>
            <a:off x="548640" y="6236208"/>
            <a:ext cx="274320" cy="274320"/>
          </a:xfrm>
          <a:prstGeom prst="rect">
            <a:avLst/>
          </a:prstGeom>
          <a:noFill/>
          <a:ln/>
        </p:spPr>
        <p:txBody>
          <a:bodyPr wrap="square" lIns="0" tIns="0" rIns="0" bIns="0" rtlCol="0" anchor="ctr"/>
          <a:lstStyle/>
          <a:p>
            <a:pPr marL="0" indent="0" algn="ctr">
              <a:buNone/>
            </a:pPr>
            <a:r>
              <a:rPr lang="en-US" sz="1100" b="1" dirty="0">
                <a:solidFill>
                  <a:srgbClr val="1C3A1C"/>
                </a:solidFill>
                <a:latin typeface="Calibri" pitchFamily="34" charset="0"/>
                <a:ea typeface="Calibri" pitchFamily="34" charset="-122"/>
                <a:cs typeface="Calibri" pitchFamily="34" charset="-120"/>
              </a:rPr>
              <a:t>2</a:t>
            </a:r>
            <a:endParaRPr lang="en-US" sz="1100" dirty="0"/>
          </a:p>
        </p:txBody>
      </p:sp>
      <p:sp>
        <p:nvSpPr>
          <p:cNvPr id="26" name="Text 24"/>
          <p:cNvSpPr/>
          <p:nvPr/>
        </p:nvSpPr>
        <p:spPr>
          <a:xfrm>
            <a:off x="914400" y="6236208"/>
            <a:ext cx="5943600" cy="274320"/>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Hernán Lippke Vega — Análisis exploratorio con Plotly</a:t>
            </a:r>
            <a:endParaRPr lang="en-US" sz="1100" dirty="0"/>
          </a:p>
        </p:txBody>
      </p:sp>
      <p:pic>
        <p:nvPicPr>
          <p:cNvPr id="27" name="Picture 26" descr="02_heatmap_hora_dia.png"/>
          <p:cNvPicPr>
            <a:picLocks noChangeAspect="1"/>
          </p:cNvPicPr>
          <p:nvPr/>
        </p:nvPicPr>
        <p:blipFill>
          <a:blip r:embed="rId3"/>
          <a:stretch>
            <a:fillRect/>
          </a:stretch>
        </p:blipFill>
        <p:spPr>
          <a:xfrm>
            <a:off x="562610" y="1371600"/>
            <a:ext cx="6007100" cy="393192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01168"/>
            <a:ext cx="11064240" cy="256032"/>
          </a:xfrm>
          <a:prstGeom prst="rect">
            <a:avLst/>
          </a:prstGeom>
          <a:noFill/>
          <a:ln/>
        </p:spPr>
        <p:txBody>
          <a:bodyPr wrap="square" lIns="0" tIns="0" rIns="0" bIns="0" rtlCol="0" anchor="ctr"/>
          <a:lstStyle/>
          <a:p>
            <a:pPr marL="0" indent="0">
              <a:buNone/>
            </a:pPr>
            <a:r>
              <a:rPr lang="en-US" sz="1200" b="1" kern="0" spc="200" dirty="0">
                <a:solidFill>
                  <a:srgbClr val="97BC62"/>
                </a:solidFill>
                <a:latin typeface="Calibri" pitchFamily="34" charset="0"/>
                <a:ea typeface="Calibri" pitchFamily="34" charset="-122"/>
                <a:cs typeface="Calibri" pitchFamily="34" charset="-120"/>
              </a:rPr>
              <a:t>HERNÁN LIPPKE · 3 DE 3</a:t>
            </a:r>
            <a:endParaRPr lang="en-US" sz="1200" dirty="0"/>
          </a:p>
        </p:txBody>
      </p:sp>
      <p:sp>
        <p:nvSpPr>
          <p:cNvPr id="3" name="Text 1"/>
          <p:cNvSpPr/>
          <p:nvPr/>
        </p:nvSpPr>
        <p:spPr>
          <a:xfrm>
            <a:off x="548640" y="566928"/>
            <a:ext cx="11064240" cy="658368"/>
          </a:xfrm>
          <a:prstGeom prst="rect">
            <a:avLst/>
          </a:prstGeom>
          <a:noFill/>
          <a:ln/>
        </p:spPr>
        <p:txBody>
          <a:bodyPr wrap="square" lIns="0" tIns="0" rIns="0" bIns="0" rtlCol="0" anchor="ctr"/>
          <a:lstStyle/>
          <a:p>
            <a:pPr marL="0" indent="0">
              <a:buNone/>
            </a:pPr>
            <a:r>
              <a:rPr lang="en-US" sz="3400" b="1" dirty="0">
                <a:solidFill>
                  <a:srgbClr val="2C5F2D"/>
                </a:solidFill>
                <a:latin typeface="Cambria" pitchFamily="34" charset="0"/>
                <a:ea typeface="Cambria" pitchFamily="34" charset="-122"/>
                <a:cs typeface="Cambria" pitchFamily="34" charset="-120"/>
              </a:rPr>
              <a:t>Clima y feriados: por qué las fuentes 2 y 3 se ganaron su lugar</a:t>
            </a:r>
            <a:endParaRPr lang="en-US" sz="3400" dirty="0"/>
          </a:p>
        </p:txBody>
      </p:sp>
      <p:sp>
        <p:nvSpPr>
          <p:cNvPr id="4" name="Text 2"/>
          <p:cNvSpPr/>
          <p:nvPr/>
        </p:nvSpPr>
        <p:spPr>
          <a:xfrm>
            <a:off x="548640" y="1353312"/>
            <a:ext cx="10881360" cy="329184"/>
          </a:xfrm>
          <a:prstGeom prst="rect">
            <a:avLst/>
          </a:prstGeom>
          <a:noFill/>
          <a:ln/>
        </p:spPr>
        <p:txBody>
          <a:bodyPr wrap="square" lIns="0" tIns="0" rIns="0" bIns="0" rtlCol="0" anchor="ctr"/>
          <a:lstStyle/>
          <a:p>
            <a:pPr marL="0" indent="0">
              <a:buNone/>
            </a:pPr>
            <a:r>
              <a:rPr lang="en-US" sz="1300" dirty="0">
                <a:solidFill>
                  <a:srgbClr val="6B7280"/>
                </a:solidFill>
                <a:latin typeface="Calibri" pitchFamily="34" charset="0"/>
                <a:ea typeface="Calibri" pitchFamily="34" charset="-122"/>
                <a:cs typeface="Calibri" pitchFamily="34" charset="-120"/>
              </a:rPr>
              <a:t>Integrar dos fuentes extra añadió complejidad al ETL. Si no aportaran señal, esa complejidad sería un costo injustificado. Lo pusimos a prueba.</a:t>
            </a:r>
            <a:endParaRPr lang="en-US" sz="1300" dirty="0"/>
          </a:p>
        </p:txBody>
      </p:sp>
      <p:sp>
        <p:nvSpPr>
          <p:cNvPr id="10" name="Shape 8"/>
          <p:cNvSpPr/>
          <p:nvPr/>
        </p:nvSpPr>
        <p:spPr>
          <a:xfrm>
            <a:off x="6400800" y="1783080"/>
            <a:ext cx="5029200" cy="1508760"/>
          </a:xfrm>
          <a:prstGeom prst="roundRect">
            <a:avLst>
              <a:gd name="adj" fmla="val 4848"/>
            </a:avLst>
          </a:prstGeom>
          <a:solidFill>
            <a:srgbClr val="F5F7F2"/>
          </a:solidFill>
          <a:ln w="12700">
            <a:solidFill>
              <a:srgbClr val="F5F7F2"/>
            </a:solidFill>
            <a:prstDash val="solid"/>
          </a:ln>
          <a:effectLst>
            <a:outerShdw blurRad="101600" dist="25400" dir="5400000" algn="bl" rotWithShape="0">
              <a:srgbClr val="1C3A1C">
                <a:alpha val="10000"/>
              </a:srgbClr>
            </a:outerShdw>
          </a:effectLst>
        </p:spPr>
        <p:txBody>
          <a:bodyPr/>
          <a:lstStyle/>
          <a:p>
            <a:endParaRPr lang="es-CL"/>
          </a:p>
        </p:txBody>
      </p:sp>
      <p:sp>
        <p:nvSpPr>
          <p:cNvPr id="11" name="Text 9"/>
          <p:cNvSpPr/>
          <p:nvPr/>
        </p:nvSpPr>
        <p:spPr>
          <a:xfrm>
            <a:off x="6629400" y="1920240"/>
            <a:ext cx="4572000" cy="274320"/>
          </a:xfrm>
          <a:prstGeom prst="rect">
            <a:avLst/>
          </a:prstGeom>
          <a:noFill/>
          <a:ln/>
        </p:spPr>
        <p:txBody>
          <a:bodyPr wrap="square" lIns="0" tIns="0" rIns="0" bIns="0" rtlCol="0" anchor="ctr"/>
          <a:lstStyle/>
          <a:p>
            <a:pPr marL="0" indent="0">
              <a:buNone/>
            </a:pPr>
            <a:r>
              <a:rPr lang="en-US" sz="1400" b="1" dirty="0">
                <a:solidFill>
                  <a:srgbClr val="2C5F2D"/>
                </a:solidFill>
                <a:latin typeface="Calibri" pitchFamily="34" charset="0"/>
                <a:ea typeface="Calibri" pitchFamily="34" charset="-122"/>
                <a:cs typeface="Calibri" pitchFamily="34" charset="-120"/>
              </a:rPr>
              <a:t>Fuente 2 — Open-Meteo: validada</a:t>
            </a:r>
            <a:endParaRPr lang="en-US" sz="1400" dirty="0"/>
          </a:p>
        </p:txBody>
      </p:sp>
      <p:sp>
        <p:nvSpPr>
          <p:cNvPr id="12" name="Text 10"/>
          <p:cNvSpPr/>
          <p:nvPr/>
        </p:nvSpPr>
        <p:spPr>
          <a:xfrm>
            <a:off x="6629400" y="2231136"/>
            <a:ext cx="4572000" cy="960120"/>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El efecto de la lluvia es grande y monótono. Y para descartar que sea la hora disfrazada de lluvia, repetimos el análisis solo en horas punta: el patrón se mantiene. El weathersit del UCI es categórico y grueso; Open-Meteo aporta los milímetros que distinguen una llovizna de un aguacero.</a:t>
            </a:r>
            <a:endParaRPr lang="en-US" sz="1100" dirty="0"/>
          </a:p>
        </p:txBody>
      </p:sp>
      <p:sp>
        <p:nvSpPr>
          <p:cNvPr id="13" name="Shape 11"/>
          <p:cNvSpPr/>
          <p:nvPr/>
        </p:nvSpPr>
        <p:spPr>
          <a:xfrm>
            <a:off x="6400800" y="3456432"/>
            <a:ext cx="5029200" cy="1527048"/>
          </a:xfrm>
          <a:prstGeom prst="roundRect">
            <a:avLst>
              <a:gd name="adj" fmla="val 4790"/>
            </a:avLst>
          </a:prstGeom>
          <a:solidFill>
            <a:srgbClr val="F5F7F2"/>
          </a:solidFill>
          <a:ln w="12700">
            <a:solidFill>
              <a:srgbClr val="F5F7F2"/>
            </a:solidFill>
            <a:prstDash val="solid"/>
          </a:ln>
          <a:effectLst>
            <a:outerShdw blurRad="101600" dist="25400" dir="5400000" algn="bl" rotWithShape="0">
              <a:srgbClr val="1C3A1C">
                <a:alpha val="10000"/>
              </a:srgbClr>
            </a:outerShdw>
          </a:effectLst>
        </p:spPr>
        <p:txBody>
          <a:bodyPr/>
          <a:lstStyle/>
          <a:p>
            <a:endParaRPr lang="es-CL"/>
          </a:p>
        </p:txBody>
      </p:sp>
      <p:sp>
        <p:nvSpPr>
          <p:cNvPr id="14" name="Text 12"/>
          <p:cNvSpPr/>
          <p:nvPr/>
        </p:nvSpPr>
        <p:spPr>
          <a:xfrm>
            <a:off x="6629400" y="3593592"/>
            <a:ext cx="4572000" cy="274320"/>
          </a:xfrm>
          <a:prstGeom prst="rect">
            <a:avLst/>
          </a:prstGeom>
          <a:noFill/>
          <a:ln/>
        </p:spPr>
        <p:txBody>
          <a:bodyPr wrap="square" lIns="0" tIns="0" rIns="0" bIns="0" rtlCol="0" anchor="ctr"/>
          <a:lstStyle/>
          <a:p>
            <a:pPr marL="0" indent="0">
              <a:buNone/>
            </a:pPr>
            <a:r>
              <a:rPr lang="en-US" sz="1400" b="1" dirty="0">
                <a:solidFill>
                  <a:srgbClr val="2C5F2D"/>
                </a:solidFill>
                <a:latin typeface="Calibri" pitchFamily="34" charset="0"/>
                <a:ea typeface="Calibri" pitchFamily="34" charset="-122"/>
                <a:cs typeface="Calibri" pitchFamily="34" charset="-120"/>
              </a:rPr>
              <a:t>Fuente 3 — holidays: validada, pero por otra razón</a:t>
            </a:r>
            <a:endParaRPr lang="en-US" sz="1400" dirty="0"/>
          </a:p>
        </p:txBody>
      </p:sp>
      <p:sp>
        <p:nvSpPr>
          <p:cNvPr id="15" name="Text 13"/>
          <p:cNvSpPr/>
          <p:nvPr/>
        </p:nvSpPr>
        <p:spPr>
          <a:xfrm>
            <a:off x="6629400" y="3904488"/>
            <a:ext cx="4572000" cy="960120"/>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La demanda media de un feriado es casi igual a la de un día laboral. Pero su forma no: el feriado pierde el doble peak y adopta la meseta del fin de semana. Sin is_holiday, el modelo mandaría camiones al centro a las 8 AM de un día en que nadie va a trabajar.</a:t>
            </a:r>
            <a:endParaRPr lang="en-US" sz="1100" dirty="0"/>
          </a:p>
        </p:txBody>
      </p:sp>
      <p:sp>
        <p:nvSpPr>
          <p:cNvPr id="16" name="Shape 14"/>
          <p:cNvSpPr/>
          <p:nvPr/>
        </p:nvSpPr>
        <p:spPr>
          <a:xfrm>
            <a:off x="548640" y="5212080"/>
            <a:ext cx="10881360" cy="822960"/>
          </a:xfrm>
          <a:prstGeom prst="roundRect">
            <a:avLst>
              <a:gd name="adj" fmla="val 8889"/>
            </a:avLst>
          </a:prstGeom>
          <a:solidFill>
            <a:srgbClr val="1C3A1C"/>
          </a:solidFill>
          <a:ln w="12700">
            <a:solidFill>
              <a:srgbClr val="1C3A1C"/>
            </a:solidFill>
            <a:prstDash val="solid"/>
          </a:ln>
        </p:spPr>
        <p:txBody>
          <a:bodyPr/>
          <a:lstStyle/>
          <a:p>
            <a:endParaRPr lang="es-CL"/>
          </a:p>
        </p:txBody>
      </p:sp>
      <p:sp>
        <p:nvSpPr>
          <p:cNvPr id="17" name="Text 15"/>
          <p:cNvSpPr/>
          <p:nvPr/>
        </p:nvSpPr>
        <p:spPr>
          <a:xfrm>
            <a:off x="777240" y="5394960"/>
            <a:ext cx="457200" cy="457200"/>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18" name="Text 16"/>
          <p:cNvSpPr/>
          <p:nvPr/>
        </p:nvSpPr>
        <p:spPr>
          <a:xfrm>
            <a:off x="1325880" y="5321808"/>
            <a:ext cx="9875520" cy="603504"/>
          </a:xfrm>
          <a:prstGeom prst="rect">
            <a:avLst/>
          </a:prstGeom>
          <a:noFill/>
          <a:ln/>
        </p:spPr>
        <p:txBody>
          <a:bodyPr wrap="square" lIns="0" tIns="0" rIns="0" bIns="0" rtlCol="0" anchor="ctr"/>
          <a:lstStyle/>
          <a:p>
            <a:pPr marL="0" indent="0">
              <a:buNone/>
            </a:pPr>
            <a:r>
              <a:rPr lang="en-US" sz="1200" b="1" dirty="0">
                <a:solidFill>
                  <a:srgbClr val="97BC62"/>
                </a:solidFill>
                <a:latin typeface="Calibri" pitchFamily="34" charset="0"/>
                <a:ea typeface="Calibri" pitchFamily="34" charset="-122"/>
                <a:cs typeface="Calibri" pitchFamily="34" charset="-120"/>
              </a:rPr>
              <a:t>Lección metodológica:  </a:t>
            </a:r>
            <a:r>
              <a:rPr lang="en-US" sz="1200" dirty="0">
                <a:solidFill>
                  <a:srgbClr val="C9D6C2"/>
                </a:solidFill>
                <a:latin typeface="Calibri" pitchFamily="34" charset="0"/>
                <a:ea typeface="Calibri" pitchFamily="34" charset="-122"/>
                <a:cs typeface="Calibri" pitchFamily="34" charset="-120"/>
              </a:rPr>
              <a:t>comparar promedios cuando la variable tiene forma es una trampa. El feriado y la hora son los dos ejemplos del informe: promedios casi iguales con formas radicalmente distintas; correlación lineal ínfima con poder predictivo enorme.</a:t>
            </a:r>
            <a:endParaRPr lang="en-US" sz="1200" dirty="0"/>
          </a:p>
        </p:txBody>
      </p:sp>
      <p:sp>
        <p:nvSpPr>
          <p:cNvPr id="19" name="Shape 17"/>
          <p:cNvSpPr/>
          <p:nvPr/>
        </p:nvSpPr>
        <p:spPr>
          <a:xfrm>
            <a:off x="548640" y="6236208"/>
            <a:ext cx="274320" cy="274320"/>
          </a:xfrm>
          <a:prstGeom prst="ellipse">
            <a:avLst/>
          </a:prstGeom>
          <a:solidFill>
            <a:srgbClr val="97BC62"/>
          </a:solidFill>
          <a:ln/>
        </p:spPr>
        <p:txBody>
          <a:bodyPr/>
          <a:lstStyle/>
          <a:p>
            <a:endParaRPr lang="es-CL"/>
          </a:p>
        </p:txBody>
      </p:sp>
      <p:sp>
        <p:nvSpPr>
          <p:cNvPr id="20" name="Text 18"/>
          <p:cNvSpPr/>
          <p:nvPr/>
        </p:nvSpPr>
        <p:spPr>
          <a:xfrm>
            <a:off x="548640" y="6236208"/>
            <a:ext cx="274320" cy="274320"/>
          </a:xfrm>
          <a:prstGeom prst="rect">
            <a:avLst/>
          </a:prstGeom>
          <a:noFill/>
          <a:ln/>
        </p:spPr>
        <p:txBody>
          <a:bodyPr wrap="square" lIns="0" tIns="0" rIns="0" bIns="0" rtlCol="0" anchor="ctr"/>
          <a:lstStyle/>
          <a:p>
            <a:pPr marL="0" indent="0" algn="ctr">
              <a:buNone/>
            </a:pPr>
            <a:r>
              <a:rPr lang="en-US" sz="1100" b="1" dirty="0">
                <a:solidFill>
                  <a:srgbClr val="1C3A1C"/>
                </a:solidFill>
                <a:latin typeface="Calibri" pitchFamily="34" charset="0"/>
                <a:ea typeface="Calibri" pitchFamily="34" charset="-122"/>
                <a:cs typeface="Calibri" pitchFamily="34" charset="-120"/>
              </a:rPr>
              <a:t>2</a:t>
            </a:r>
            <a:endParaRPr lang="en-US" sz="1100" dirty="0"/>
          </a:p>
        </p:txBody>
      </p:sp>
      <p:sp>
        <p:nvSpPr>
          <p:cNvPr id="21" name="Text 19"/>
          <p:cNvSpPr/>
          <p:nvPr/>
        </p:nvSpPr>
        <p:spPr>
          <a:xfrm>
            <a:off x="914400" y="6236208"/>
            <a:ext cx="5943600" cy="274320"/>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Hernán Lippke Vega — Análisis exploratorio con Plotly</a:t>
            </a:r>
            <a:endParaRPr lang="en-US" sz="1100" dirty="0"/>
          </a:p>
        </p:txBody>
      </p:sp>
      <p:pic>
        <p:nvPicPr>
          <p:cNvPr id="22" name="Picture 21" descr="03_lluvia_y_feriados.png"/>
          <p:cNvPicPr>
            <a:picLocks noChangeAspect="1"/>
          </p:cNvPicPr>
          <p:nvPr/>
        </p:nvPicPr>
        <p:blipFill>
          <a:blip r:embed="rId3"/>
          <a:stretch>
            <a:fillRect/>
          </a:stretch>
        </p:blipFill>
        <p:spPr>
          <a:xfrm>
            <a:off x="554603" y="1783080"/>
            <a:ext cx="5565913" cy="32004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10312"/>
            <a:ext cx="11064240" cy="256032"/>
          </a:xfrm>
          <a:prstGeom prst="rect">
            <a:avLst/>
          </a:prstGeom>
          <a:noFill/>
          <a:ln/>
        </p:spPr>
        <p:txBody>
          <a:bodyPr wrap="square" lIns="0" tIns="0" rIns="0" bIns="0" rtlCol="0" anchor="ctr"/>
          <a:lstStyle/>
          <a:p>
            <a:pPr marL="0" indent="0">
              <a:buNone/>
            </a:pPr>
            <a:r>
              <a:rPr lang="en-US" sz="1200" b="1" kern="0" spc="200" dirty="0">
                <a:solidFill>
                  <a:srgbClr val="97BC62"/>
                </a:solidFill>
                <a:latin typeface="Calibri" pitchFamily="34" charset="0"/>
                <a:ea typeface="Calibri" pitchFamily="34" charset="-122"/>
                <a:cs typeface="Calibri" pitchFamily="34" charset="-120"/>
              </a:rPr>
              <a:t>MATÍAS ARAUZ · 1 DE 3</a:t>
            </a:r>
            <a:endParaRPr lang="en-US" sz="1200" dirty="0"/>
          </a:p>
        </p:txBody>
      </p:sp>
      <p:sp>
        <p:nvSpPr>
          <p:cNvPr id="3" name="Text 1"/>
          <p:cNvSpPr/>
          <p:nvPr/>
        </p:nvSpPr>
        <p:spPr>
          <a:xfrm>
            <a:off x="548640" y="566928"/>
            <a:ext cx="11064240" cy="658368"/>
          </a:xfrm>
          <a:prstGeom prst="rect">
            <a:avLst/>
          </a:prstGeom>
          <a:noFill/>
          <a:ln/>
        </p:spPr>
        <p:txBody>
          <a:bodyPr wrap="square" lIns="0" tIns="0" rIns="0" bIns="0" rtlCol="0" anchor="ctr"/>
          <a:lstStyle/>
          <a:p>
            <a:pPr marL="0" indent="0">
              <a:buNone/>
            </a:pPr>
            <a:r>
              <a:rPr lang="en-US" sz="3400" b="1" dirty="0">
                <a:solidFill>
                  <a:srgbClr val="2C5F2D"/>
                </a:solidFill>
                <a:latin typeface="Cambria" pitchFamily="34" charset="0"/>
                <a:ea typeface="Cambria" pitchFamily="34" charset="-122"/>
                <a:cs typeface="Cambria" pitchFamily="34" charset="-120"/>
              </a:rPr>
              <a:t>La demanda tiene memoria: la evidencia detrás de los lags</a:t>
            </a:r>
            <a:endParaRPr lang="en-US" sz="3400" dirty="0"/>
          </a:p>
        </p:txBody>
      </p:sp>
      <p:sp>
        <p:nvSpPr>
          <p:cNvPr id="9" name="Text 7"/>
          <p:cNvSpPr/>
          <p:nvPr/>
        </p:nvSpPr>
        <p:spPr>
          <a:xfrm>
            <a:off x="7498080" y="1371600"/>
            <a:ext cx="3931920" cy="274320"/>
          </a:xfrm>
          <a:prstGeom prst="rect">
            <a:avLst/>
          </a:prstGeom>
          <a:noFill/>
          <a:ln/>
        </p:spPr>
        <p:txBody>
          <a:bodyPr wrap="square" lIns="0" tIns="0" rIns="0" bIns="0" rtlCol="0" anchor="ctr"/>
          <a:lstStyle/>
          <a:p>
            <a:pPr marL="0" indent="0">
              <a:buNone/>
            </a:pPr>
            <a:r>
              <a:rPr lang="en-US" sz="1500" b="1" dirty="0">
                <a:solidFill>
                  <a:srgbClr val="2C5F2D"/>
                </a:solidFill>
                <a:latin typeface="Calibri" pitchFamily="34" charset="0"/>
                <a:ea typeface="Calibri" pitchFamily="34" charset="-122"/>
                <a:cs typeface="Calibri" pitchFamily="34" charset="-120"/>
              </a:rPr>
              <a:t>Lo que dice el correlograma</a:t>
            </a:r>
            <a:endParaRPr lang="en-US" sz="1500" dirty="0"/>
          </a:p>
        </p:txBody>
      </p:sp>
      <p:sp>
        <p:nvSpPr>
          <p:cNvPr id="10" name="Text 8"/>
          <p:cNvSpPr/>
          <p:nvPr/>
        </p:nvSpPr>
        <p:spPr>
          <a:xfrm>
            <a:off x="7498080" y="1719072"/>
            <a:ext cx="3931920" cy="192024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24302A"/>
                </a:solidFill>
                <a:latin typeface="Calibri" pitchFamily="34" charset="0"/>
                <a:ea typeface="Calibri" pitchFamily="34" charset="-122"/>
                <a:cs typeface="Calibri" pitchFamily="34" charset="-120"/>
              </a:rPr>
              <a:t>El lag de 1 hora tiene autocorrelación altísima: los flujos urbanos no se apagan de golpe.</a:t>
            </a:r>
            <a:endParaRPr lang="en-US" sz="1200" dirty="0"/>
          </a:p>
          <a:p>
            <a:pPr marL="342900" indent="-342900">
              <a:spcAft>
                <a:spcPts val="800"/>
              </a:spcAft>
              <a:buSzPct val="100000"/>
              <a:buChar char="▪"/>
            </a:pPr>
            <a:r>
              <a:rPr lang="en-US" sz="1200" dirty="0">
                <a:solidFill>
                  <a:srgbClr val="24302A"/>
                </a:solidFill>
                <a:latin typeface="Calibri" pitchFamily="34" charset="0"/>
                <a:ea typeface="Calibri" pitchFamily="34" charset="-122"/>
                <a:cs typeface="Calibri" pitchFamily="34" charset="-120"/>
              </a:rPr>
              <a:t>Picos nítidos en los lags 24, 48 y 72: la serie se parece a sí misma cada 24 horas.</a:t>
            </a:r>
            <a:endParaRPr lang="en-US" sz="1200" dirty="0"/>
          </a:p>
          <a:p>
            <a:pPr marL="342900" indent="-342900">
              <a:spcAft>
                <a:spcPts val="800"/>
              </a:spcAft>
              <a:buSzPct val="100000"/>
              <a:buChar char="▪"/>
            </a:pPr>
            <a:r>
              <a:rPr lang="en-US" sz="1200" dirty="0">
                <a:solidFill>
                  <a:srgbClr val="24302A"/>
                </a:solidFill>
                <a:latin typeface="Calibri" pitchFamily="34" charset="0"/>
                <a:ea typeface="Calibri" pitchFamily="34" charset="-122"/>
                <a:cs typeface="Calibri" pitchFamily="34" charset="-120"/>
              </a:rPr>
              <a:t>Valle en el lag 12: la demanda de ahora es opuesta a la de hace 12 horas (mediodía vs. medianoche).</a:t>
            </a:r>
            <a:endParaRPr lang="en-US" sz="1200" dirty="0"/>
          </a:p>
        </p:txBody>
      </p:sp>
      <p:sp>
        <p:nvSpPr>
          <p:cNvPr id="11" name="Text 9"/>
          <p:cNvSpPr/>
          <p:nvPr/>
        </p:nvSpPr>
        <p:spPr>
          <a:xfrm>
            <a:off x="7498080" y="3703320"/>
            <a:ext cx="3931920" cy="731520"/>
          </a:xfrm>
          <a:prstGeom prst="rect">
            <a:avLst/>
          </a:prstGeom>
          <a:noFill/>
          <a:ln/>
        </p:spPr>
        <p:txBody>
          <a:bodyPr wrap="square" lIns="0" tIns="0" rIns="0" bIns="0"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El correlograma redescubre, solo con estadística, el ciclo diario que el perfil horario ya mostraba. Dos métodos independientes apuntando al mismo hallazgo.</a:t>
            </a:r>
            <a:endParaRPr lang="en-US" sz="1100" dirty="0"/>
          </a:p>
        </p:txBody>
      </p:sp>
      <p:sp>
        <p:nvSpPr>
          <p:cNvPr id="12" name="Shape 10"/>
          <p:cNvSpPr/>
          <p:nvPr/>
        </p:nvSpPr>
        <p:spPr>
          <a:xfrm>
            <a:off x="548640" y="4663440"/>
            <a:ext cx="5349240" cy="1325880"/>
          </a:xfrm>
          <a:prstGeom prst="roundRect">
            <a:avLst>
              <a:gd name="adj" fmla="val 5517"/>
            </a:avLst>
          </a:prstGeom>
          <a:solidFill>
            <a:srgbClr val="F5F7F2"/>
          </a:solidFill>
          <a:ln w="12700">
            <a:solidFill>
              <a:srgbClr val="F5F7F2"/>
            </a:solidFill>
            <a:prstDash val="solid"/>
          </a:ln>
          <a:effectLst>
            <a:outerShdw blurRad="101600" dist="25400" dir="5400000" algn="bl" rotWithShape="0">
              <a:srgbClr val="1C3A1C">
                <a:alpha val="10000"/>
              </a:srgbClr>
            </a:outerShdw>
          </a:effectLst>
        </p:spPr>
        <p:txBody>
          <a:bodyPr/>
          <a:lstStyle/>
          <a:p>
            <a:endParaRPr lang="es-CL"/>
          </a:p>
        </p:txBody>
      </p:sp>
      <p:sp>
        <p:nvSpPr>
          <p:cNvPr id="13" name="Shape 11"/>
          <p:cNvSpPr/>
          <p:nvPr/>
        </p:nvSpPr>
        <p:spPr>
          <a:xfrm>
            <a:off x="777240" y="4892040"/>
            <a:ext cx="457200" cy="457200"/>
          </a:xfrm>
          <a:prstGeom prst="ellipse">
            <a:avLst/>
          </a:prstGeom>
          <a:solidFill>
            <a:srgbClr val="2C5F2D"/>
          </a:solidFill>
          <a:ln/>
        </p:spPr>
        <p:txBody>
          <a:bodyPr/>
          <a:lstStyle/>
          <a:p>
            <a:endParaRPr lang="es-CL"/>
          </a:p>
        </p:txBody>
      </p:sp>
      <p:sp>
        <p:nvSpPr>
          <p:cNvPr id="14" name="Text 12"/>
          <p:cNvSpPr/>
          <p:nvPr/>
        </p:nvSpPr>
        <p:spPr>
          <a:xfrm>
            <a:off x="777240" y="4892040"/>
            <a:ext cx="457200" cy="457200"/>
          </a:xfrm>
          <a:prstGeom prst="rect">
            <a:avLst/>
          </a:prstGeom>
          <a:noFill/>
          <a:ln/>
        </p:spPr>
        <p:txBody>
          <a:bodyPr wrap="square" lIns="0" tIns="0" rIns="0" bIns="0" rtlCol="0" anchor="ctr"/>
          <a:lstStyle/>
          <a:p>
            <a:pPr marL="0" indent="0" algn="ctr">
              <a:buNone/>
            </a:pPr>
            <a:r>
              <a:rPr lang="en-US" sz="1500" dirty="0">
                <a:solidFill>
                  <a:srgbClr val="000000"/>
                </a:solidFill>
              </a:rPr>
              <a:t>🛡️</a:t>
            </a:r>
            <a:endParaRPr lang="en-US" sz="1500" dirty="0"/>
          </a:p>
        </p:txBody>
      </p:sp>
      <p:sp>
        <p:nvSpPr>
          <p:cNvPr id="15" name="Text 13"/>
          <p:cNvSpPr/>
          <p:nvPr/>
        </p:nvSpPr>
        <p:spPr>
          <a:xfrm>
            <a:off x="1371600" y="4828032"/>
            <a:ext cx="4297680" cy="274320"/>
          </a:xfrm>
          <a:prstGeom prst="rect">
            <a:avLst/>
          </a:prstGeom>
          <a:noFill/>
          <a:ln/>
        </p:spPr>
        <p:txBody>
          <a:bodyPr wrap="square" lIns="0" tIns="0" rIns="0" bIns="0" rtlCol="0" anchor="ctr"/>
          <a:lstStyle/>
          <a:p>
            <a:pPr marL="0" indent="0">
              <a:buNone/>
            </a:pPr>
            <a:r>
              <a:rPr lang="en-US" sz="1400" b="1" dirty="0">
                <a:solidFill>
                  <a:srgbClr val="2C5F2D"/>
                </a:solidFill>
                <a:latin typeface="Calibri" pitchFamily="34" charset="0"/>
                <a:ea typeface="Calibri" pitchFamily="34" charset="-122"/>
                <a:cs typeface="Calibri" pitchFamily="34" charset="-120"/>
              </a:rPr>
              <a:t>Auditoría anti-leakage</a:t>
            </a:r>
            <a:endParaRPr lang="en-US" sz="1400" dirty="0"/>
          </a:p>
        </p:txBody>
      </p:sp>
      <p:sp>
        <p:nvSpPr>
          <p:cNvPr id="16" name="Text 14"/>
          <p:cNvSpPr/>
          <p:nvPr/>
        </p:nvSpPr>
        <p:spPr>
          <a:xfrm>
            <a:off x="1371600" y="5120640"/>
            <a:ext cx="4297680" cy="777240"/>
          </a:xfrm>
          <a:prstGeom prst="rect">
            <a:avLst/>
          </a:prstGeom>
          <a:noFill/>
          <a:ln/>
        </p:spPr>
        <p:txBody>
          <a:bodyPr wrap="square" lIns="0" tIns="0" rIns="0" bIns="0" rtlCol="0" anchor="ctr"/>
          <a:lstStyle/>
          <a:p>
            <a:pPr marL="0" indent="0">
              <a:buNone/>
            </a:pPr>
            <a:r>
              <a:rPr lang="en-US" sz="1050" dirty="0">
                <a:solidFill>
                  <a:srgbClr val="6B7280"/>
                </a:solidFill>
                <a:latin typeface="Calibri" pitchFamily="34" charset="0"/>
                <a:ea typeface="Calibri" pitchFamily="34" charset="-122"/>
                <a:cs typeface="Calibri" pitchFamily="34" charset="-120"/>
              </a:rPr>
              <a:t>Verificamos que cada cnt_lag_k reproduzca exactamente un shift(k) hacia el pasado. Dos errores clásicos lo romperían: calcularlo antes de ordenar por fecha, o usar una media móvil centrada (que mira al futuro).</a:t>
            </a:r>
            <a:endParaRPr lang="en-US" sz="1050" dirty="0"/>
          </a:p>
        </p:txBody>
      </p:sp>
      <p:sp>
        <p:nvSpPr>
          <p:cNvPr id="17" name="Shape 15"/>
          <p:cNvSpPr/>
          <p:nvPr/>
        </p:nvSpPr>
        <p:spPr>
          <a:xfrm>
            <a:off x="6080760" y="4663440"/>
            <a:ext cx="5349240" cy="1325880"/>
          </a:xfrm>
          <a:prstGeom prst="roundRect">
            <a:avLst>
              <a:gd name="adj" fmla="val 5517"/>
            </a:avLst>
          </a:prstGeom>
          <a:solidFill>
            <a:srgbClr val="FBF0E8"/>
          </a:solidFill>
          <a:ln w="12700">
            <a:solidFill>
              <a:srgbClr val="FBF0E8"/>
            </a:solidFill>
            <a:prstDash val="solid"/>
          </a:ln>
        </p:spPr>
        <p:txBody>
          <a:bodyPr/>
          <a:lstStyle/>
          <a:p>
            <a:endParaRPr lang="es-CL"/>
          </a:p>
        </p:txBody>
      </p:sp>
      <p:sp>
        <p:nvSpPr>
          <p:cNvPr id="18" name="Shape 16"/>
          <p:cNvSpPr/>
          <p:nvPr/>
        </p:nvSpPr>
        <p:spPr>
          <a:xfrm>
            <a:off x="6309360" y="4892040"/>
            <a:ext cx="457200" cy="457200"/>
          </a:xfrm>
          <a:prstGeom prst="ellipse">
            <a:avLst/>
          </a:prstGeom>
          <a:solidFill>
            <a:srgbClr val="C1440E"/>
          </a:solidFill>
          <a:ln/>
        </p:spPr>
        <p:txBody>
          <a:bodyPr/>
          <a:lstStyle/>
          <a:p>
            <a:endParaRPr lang="es-CL"/>
          </a:p>
        </p:txBody>
      </p:sp>
      <p:sp>
        <p:nvSpPr>
          <p:cNvPr id="19" name="Text 17"/>
          <p:cNvSpPr/>
          <p:nvPr/>
        </p:nvSpPr>
        <p:spPr>
          <a:xfrm>
            <a:off x="6309360" y="4892040"/>
            <a:ext cx="457200" cy="457200"/>
          </a:xfrm>
          <a:prstGeom prst="rect">
            <a:avLst/>
          </a:prstGeom>
          <a:noFill/>
          <a:ln/>
        </p:spPr>
        <p:txBody>
          <a:bodyPr wrap="square" lIns="0" tIns="0" rIns="0" bIns="0" rtlCol="0" anchor="ctr"/>
          <a:lstStyle/>
          <a:p>
            <a:pPr marL="0" indent="0" algn="ctr">
              <a:buNone/>
            </a:pPr>
            <a:r>
              <a:rPr lang="en-US" sz="1500" dirty="0">
                <a:solidFill>
                  <a:srgbClr val="000000"/>
                </a:solidFill>
              </a:rPr>
              <a:t>⏳</a:t>
            </a:r>
            <a:endParaRPr lang="en-US" sz="1500" dirty="0"/>
          </a:p>
        </p:txBody>
      </p:sp>
      <p:sp>
        <p:nvSpPr>
          <p:cNvPr id="20" name="Text 18"/>
          <p:cNvSpPr/>
          <p:nvPr/>
        </p:nvSpPr>
        <p:spPr>
          <a:xfrm>
            <a:off x="6903720" y="4828032"/>
            <a:ext cx="4297680" cy="274320"/>
          </a:xfrm>
          <a:prstGeom prst="rect">
            <a:avLst/>
          </a:prstGeom>
          <a:noFill/>
          <a:ln/>
        </p:spPr>
        <p:txBody>
          <a:bodyPr wrap="square" lIns="0" tIns="0" rIns="0" bIns="0" rtlCol="0" anchor="ctr"/>
          <a:lstStyle/>
          <a:p>
            <a:pPr marL="0" indent="0">
              <a:buNone/>
            </a:pPr>
            <a:r>
              <a:rPr lang="en-US" sz="1400" b="1" dirty="0">
                <a:solidFill>
                  <a:srgbClr val="C1440E"/>
                </a:solidFill>
                <a:latin typeface="Calibri" pitchFamily="34" charset="0"/>
                <a:ea typeface="Calibri" pitchFamily="34" charset="-122"/>
                <a:cs typeface="Calibri" pitchFamily="34" charset="-120"/>
              </a:rPr>
              <a:t>El límite que asumimos: horizonte de 1 hora</a:t>
            </a:r>
            <a:endParaRPr lang="en-US" sz="1400" dirty="0"/>
          </a:p>
        </p:txBody>
      </p:sp>
      <p:sp>
        <p:nvSpPr>
          <p:cNvPr id="21" name="Text 19"/>
          <p:cNvSpPr/>
          <p:nvPr/>
        </p:nvSpPr>
        <p:spPr>
          <a:xfrm>
            <a:off x="6903720" y="5120640"/>
            <a:ext cx="4297680" cy="822960"/>
          </a:xfrm>
          <a:prstGeom prst="rect">
            <a:avLst/>
          </a:prstGeom>
          <a:noFill/>
          <a:ln/>
        </p:spPr>
        <p:txBody>
          <a:bodyPr wrap="square" lIns="0" tIns="0" rIns="0" bIns="0" rtlCol="0" anchor="ctr"/>
          <a:lstStyle/>
          <a:p>
            <a:pPr marL="0" indent="0">
              <a:buNone/>
            </a:pPr>
            <a:r>
              <a:rPr lang="en-US" sz="1050" dirty="0">
                <a:solidFill>
                  <a:srgbClr val="24302A"/>
                </a:solidFill>
                <a:latin typeface="Calibri" pitchFamily="34" charset="0"/>
                <a:ea typeface="Calibri" pitchFamily="34" charset="-122"/>
                <a:cs typeface="Calibri" pitchFamily="34" charset="-120"/>
              </a:rPr>
              <a:t>Un modelo apoyado en lags predice muy bien la próxima hora, pero se degrada a 72 h: ahí cnt_lag_1 no existe y habría que alimentarlo con predicciones propias, acumulando error. Coherente con el caso de uso operativo; no sirve para planificar la semana.</a:t>
            </a:r>
            <a:endParaRPr lang="en-US" sz="1050" dirty="0"/>
          </a:p>
        </p:txBody>
      </p:sp>
      <p:sp>
        <p:nvSpPr>
          <p:cNvPr id="22" name="Shape 20"/>
          <p:cNvSpPr/>
          <p:nvPr/>
        </p:nvSpPr>
        <p:spPr>
          <a:xfrm>
            <a:off x="548640" y="6236208"/>
            <a:ext cx="274320" cy="274320"/>
          </a:xfrm>
          <a:prstGeom prst="ellipse">
            <a:avLst/>
          </a:prstGeom>
          <a:solidFill>
            <a:srgbClr val="97BC62"/>
          </a:solidFill>
          <a:ln/>
        </p:spPr>
        <p:txBody>
          <a:bodyPr/>
          <a:lstStyle/>
          <a:p>
            <a:endParaRPr lang="es-CL"/>
          </a:p>
        </p:txBody>
      </p:sp>
      <p:sp>
        <p:nvSpPr>
          <p:cNvPr id="23" name="Text 21"/>
          <p:cNvSpPr/>
          <p:nvPr/>
        </p:nvSpPr>
        <p:spPr>
          <a:xfrm>
            <a:off x="548640" y="6236208"/>
            <a:ext cx="274320" cy="274320"/>
          </a:xfrm>
          <a:prstGeom prst="rect">
            <a:avLst/>
          </a:prstGeom>
          <a:noFill/>
          <a:ln/>
        </p:spPr>
        <p:txBody>
          <a:bodyPr wrap="square" lIns="0" tIns="0" rIns="0" bIns="0" rtlCol="0" anchor="ctr"/>
          <a:lstStyle/>
          <a:p>
            <a:pPr marL="0" indent="0" algn="ctr">
              <a:buNone/>
            </a:pPr>
            <a:r>
              <a:rPr lang="en-US" sz="1100" b="1" dirty="0">
                <a:solidFill>
                  <a:srgbClr val="1C3A1C"/>
                </a:solidFill>
                <a:latin typeface="Calibri" pitchFamily="34" charset="0"/>
                <a:ea typeface="Calibri" pitchFamily="34" charset="-122"/>
                <a:cs typeface="Calibri" pitchFamily="34" charset="-120"/>
              </a:rPr>
              <a:t>3</a:t>
            </a:r>
            <a:endParaRPr lang="en-US" sz="1100" dirty="0"/>
          </a:p>
        </p:txBody>
      </p:sp>
      <p:sp>
        <p:nvSpPr>
          <p:cNvPr id="24" name="Text 22"/>
          <p:cNvSpPr/>
          <p:nvPr/>
        </p:nvSpPr>
        <p:spPr>
          <a:xfrm>
            <a:off x="914400" y="6236208"/>
            <a:ext cx="5943600" cy="274320"/>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Matías Arauz — Ingeniería de características y modelado</a:t>
            </a:r>
            <a:endParaRPr lang="en-US" sz="1100" dirty="0"/>
          </a:p>
        </p:txBody>
      </p:sp>
      <p:pic>
        <p:nvPicPr>
          <p:cNvPr id="25" name="Picture 24" descr="04_autocorrelacion.png"/>
          <p:cNvPicPr>
            <a:picLocks noChangeAspect="1"/>
          </p:cNvPicPr>
          <p:nvPr/>
        </p:nvPicPr>
        <p:blipFill>
          <a:blip r:embed="rId3"/>
          <a:stretch>
            <a:fillRect/>
          </a:stretch>
        </p:blipFill>
        <p:spPr>
          <a:xfrm>
            <a:off x="571500" y="1371600"/>
            <a:ext cx="6629399" cy="306324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lIns="0" tIns="0" rIns="0" bIns="0" rtlCol="0" anchor="ctr"/>
          <a:lstStyle/>
          <a:p>
            <a:pPr marL="0" indent="0">
              <a:buNone/>
            </a:pPr>
            <a:r>
              <a:rPr lang="en-US" sz="1200" b="1" kern="0" spc="200" dirty="0">
                <a:solidFill>
                  <a:srgbClr val="97BC62"/>
                </a:solidFill>
                <a:latin typeface="Calibri" pitchFamily="34" charset="0"/>
                <a:ea typeface="Calibri" pitchFamily="34" charset="-122"/>
                <a:cs typeface="Calibri" pitchFamily="34" charset="-120"/>
              </a:rPr>
              <a:t>MATÍAS ARAUZ · 2 DE 3</a:t>
            </a:r>
            <a:endParaRPr lang="en-US" sz="1200" dirty="0"/>
          </a:p>
        </p:txBody>
      </p:sp>
      <p:sp>
        <p:nvSpPr>
          <p:cNvPr id="3" name="Text 1"/>
          <p:cNvSpPr/>
          <p:nvPr/>
        </p:nvSpPr>
        <p:spPr>
          <a:xfrm>
            <a:off x="548640" y="566928"/>
            <a:ext cx="11064240" cy="658368"/>
          </a:xfrm>
          <a:prstGeom prst="rect">
            <a:avLst/>
          </a:prstGeom>
          <a:noFill/>
          <a:ln/>
        </p:spPr>
        <p:txBody>
          <a:bodyPr wrap="square" lIns="0" tIns="0" rIns="0" bIns="0" rtlCol="0" anchor="ctr"/>
          <a:lstStyle/>
          <a:p>
            <a:pPr marL="0" indent="0">
              <a:buNone/>
            </a:pPr>
            <a:r>
              <a:rPr lang="en-US" sz="3400" b="1" dirty="0">
                <a:solidFill>
                  <a:srgbClr val="2C5F2D"/>
                </a:solidFill>
                <a:latin typeface="Cambria" pitchFamily="34" charset="0"/>
                <a:ea typeface="Cambria" pitchFamily="34" charset="-122"/>
                <a:cs typeface="Cambria" pitchFamily="34" charset="-120"/>
              </a:rPr>
              <a:t>De hallazgo a feature: cada variable tiene su evidencia</a:t>
            </a:r>
            <a:endParaRPr lang="en-US" sz="3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675120" cy="2846832"/>
        </p:xfrm>
        <a:graphic>
          <a:graphicData uri="http://schemas.openxmlformats.org/drawingml/2006/table">
            <a:tbl>
              <a:tblPr/>
              <a:tblGrid>
                <a:gridCol w="164592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834640">
                  <a:extLst>
                    <a:ext uri="{9D8B030D-6E8A-4147-A177-3AD203B41FA5}">
                      <a16:colId xmlns:a16="http://schemas.microsoft.com/office/drawing/2014/main" val="20002"/>
                    </a:ext>
                  </a:extLst>
                </a:gridCol>
              </a:tblGrid>
              <a:tr h="402336">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Feature</a:t>
                      </a:r>
                      <a:endParaRPr lang="en-US" sz="1100" dirty="0">
                        <a:latin typeface="Calibri" charset="0"/>
                        <a:ea typeface="Calibri" charset="0"/>
                        <a:cs typeface="Calibri" charset="0"/>
                      </a:endParaRPr>
                    </a:p>
                  </a:txBody>
                  <a:tcPr marL="64008" marR="64008" marT="64008" marB="64008" anchor="ctr">
                    <a:lnL w="6350" cap="flat" cmpd="sng" algn="ctr">
                      <a:solidFill>
                        <a:srgbClr val="E4E9E1"/>
                      </a:solidFill>
                      <a:prstDash val="solid"/>
                      <a:round/>
                      <a:headEnd type="none" w="med" len="med"/>
                      <a:tailEnd type="none" w="med" len="med"/>
                    </a:lnL>
                    <a:lnR w="6350" cap="flat" cmpd="sng" algn="ctr">
                      <a:solidFill>
                        <a:srgbClr val="E4E9E1"/>
                      </a:solidFill>
                      <a:prstDash val="solid"/>
                      <a:round/>
                      <a:headEnd type="none" w="med" len="med"/>
                      <a:tailEnd type="none" w="med" len="med"/>
                    </a:lnR>
                    <a:lnT w="6350" cap="flat" cmpd="sng" algn="ctr">
                      <a:solidFill>
                        <a:srgbClr val="E4E9E1"/>
                      </a:solidFill>
                      <a:prstDash val="solid"/>
                      <a:round/>
                      <a:headEnd type="none" w="med" len="med"/>
                      <a:tailEnd type="none" w="med" len="med"/>
                    </a:lnT>
                    <a:lnB w="6350" cap="flat" cmpd="sng" algn="ctr">
                      <a:solidFill>
                        <a:srgbClr val="E4E9E1"/>
                      </a:solidFill>
                      <a:prstDash val="solid"/>
                      <a:round/>
                      <a:headEnd type="none" w="med" len="med"/>
                      <a:tailEnd type="none" w="med" len="med"/>
                    </a:lnB>
                    <a:solidFill>
                      <a:srgbClr val="FFFFF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Hallazgo del EDA que la motiva</a:t>
                      </a:r>
                      <a:endParaRPr lang="en-US" sz="1100" dirty="0">
                        <a:latin typeface="Calibri" charset="0"/>
                        <a:ea typeface="Calibri" charset="0"/>
                        <a:cs typeface="Calibri" charset="0"/>
                      </a:endParaRPr>
                    </a:p>
                  </a:txBody>
                  <a:tcPr marL="64008" marR="64008" marT="64008" marB="64008" anchor="ctr">
                    <a:lnL w="6350" cap="flat" cmpd="sng" algn="ctr">
                      <a:solidFill>
                        <a:srgbClr val="E4E9E1"/>
                      </a:solidFill>
                      <a:prstDash val="solid"/>
                      <a:round/>
                      <a:headEnd type="none" w="med" len="med"/>
                      <a:tailEnd type="none" w="med" len="med"/>
                    </a:lnL>
                    <a:lnR w="6350" cap="flat" cmpd="sng" algn="ctr">
                      <a:solidFill>
                        <a:srgbClr val="E4E9E1"/>
                      </a:solidFill>
                      <a:prstDash val="solid"/>
                      <a:round/>
                      <a:headEnd type="none" w="med" len="med"/>
                      <a:tailEnd type="none" w="med" len="med"/>
                    </a:lnR>
                    <a:lnT w="6350" cap="flat" cmpd="sng" algn="ctr">
                      <a:solidFill>
                        <a:srgbClr val="E4E9E1"/>
                      </a:solidFill>
                      <a:prstDash val="solid"/>
                      <a:round/>
                      <a:headEnd type="none" w="med" len="med"/>
                      <a:tailEnd type="none" w="med" len="med"/>
                    </a:lnT>
                    <a:lnB w="6350" cap="flat" cmpd="sng" algn="ctr">
                      <a:solidFill>
                        <a:srgbClr val="E4E9E1"/>
                      </a:solidFill>
                      <a:prstDash val="solid"/>
                      <a:round/>
                      <a:headEnd type="none" w="med" len="med"/>
                      <a:tailEnd type="none" w="med" len="med"/>
                    </a:lnB>
                    <a:solidFill>
                      <a:srgbClr val="FFFFF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Problema que resuelve</a:t>
                      </a:r>
                      <a:endParaRPr lang="en-US" sz="1100" dirty="0">
                        <a:latin typeface="Calibri" charset="0"/>
                        <a:ea typeface="Calibri" charset="0"/>
                        <a:cs typeface="Calibri" charset="0"/>
                      </a:endParaRPr>
                    </a:p>
                  </a:txBody>
                  <a:tcPr marL="64008" marR="64008" marT="64008" marB="64008" anchor="ctr">
                    <a:lnL w="6350" cap="flat" cmpd="sng" algn="ctr">
                      <a:solidFill>
                        <a:srgbClr val="E4E9E1"/>
                      </a:solidFill>
                      <a:prstDash val="solid"/>
                      <a:round/>
                      <a:headEnd type="none" w="med" len="med"/>
                      <a:tailEnd type="none" w="med" len="med"/>
                    </a:lnL>
                    <a:lnR w="6350" cap="flat" cmpd="sng" algn="ctr">
                      <a:solidFill>
                        <a:srgbClr val="E4E9E1"/>
                      </a:solidFill>
                      <a:prstDash val="solid"/>
                      <a:round/>
                      <a:headEnd type="none" w="med" len="med"/>
                      <a:tailEnd type="none" w="med" len="med"/>
                    </a:lnR>
                    <a:lnT w="6350" cap="flat" cmpd="sng" algn="ctr">
                      <a:solidFill>
                        <a:srgbClr val="E4E9E1"/>
                      </a:solidFill>
                      <a:prstDash val="solid"/>
                      <a:round/>
                      <a:headEnd type="none" w="med" len="med"/>
                      <a:tailEnd type="none" w="med" len="med"/>
                    </a:lnT>
                    <a:lnB w="6350" cap="flat" cmpd="sng" algn="ctr">
                      <a:solidFill>
                        <a:srgbClr val="E4E9E1"/>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402336">
                <a:tc>
                  <a:txBody>
                    <a:bodyPr/>
                    <a:lstStyle/>
                    <a:p>
                      <a:pPr marL="0" indent="0">
                        <a:buNone/>
                      </a:pPr>
                      <a:r>
                        <a:rPr lang="en-US" sz="950" b="1" dirty="0">
                          <a:solidFill>
                            <a:srgbClr val="2C5F2D"/>
                          </a:solidFill>
                          <a:latin typeface="Courier New" pitchFamily="34" charset="0"/>
                          <a:ea typeface="Courier New" pitchFamily="34" charset="-122"/>
                          <a:cs typeface="Courier New" pitchFamily="34" charset="-120"/>
                        </a:rPr>
                        <a:t>hour_sin, hour_cos</a:t>
                      </a:r>
                      <a:endParaRPr lang="en-US" sz="950" dirty="0">
                        <a:latin typeface="Courier New" charset="0"/>
                        <a:ea typeface="Courier New" charset="0"/>
                        <a:cs typeface="Courier New" charset="0"/>
                      </a:endParaRPr>
                    </a:p>
                  </a:txBody>
                  <a:tcPr marL="64008" marR="64008" marT="64008" marB="64008" anchor="ctr">
                    <a:lnL w="6350" cap="flat" cmpd="sng" algn="ctr">
                      <a:solidFill>
                        <a:srgbClr val="E4E9E1"/>
                      </a:solidFill>
                      <a:prstDash val="solid"/>
                      <a:round/>
                      <a:headEnd type="none" w="med" len="med"/>
                      <a:tailEnd type="none" w="med" len="med"/>
                    </a:lnL>
                    <a:lnR w="6350" cap="flat" cmpd="sng" algn="ctr">
                      <a:solidFill>
                        <a:srgbClr val="E4E9E1"/>
                      </a:solidFill>
                      <a:prstDash val="solid"/>
                      <a:round/>
                      <a:headEnd type="none" w="med" len="med"/>
                      <a:tailEnd type="none" w="med" len="med"/>
                    </a:lnR>
                    <a:lnT w="6350" cap="flat" cmpd="sng" algn="ctr">
                      <a:solidFill>
                        <a:srgbClr val="E4E9E1"/>
                      </a:solidFill>
                      <a:prstDash val="solid"/>
                      <a:round/>
                      <a:headEnd type="none" w="med" len="med"/>
                      <a:tailEnd type="none" w="med" len="med"/>
                    </a:lnT>
                    <a:lnB w="6350" cap="flat" cmpd="sng" algn="ctr">
                      <a:solidFill>
                        <a:srgbClr val="E4E9E1"/>
                      </a:solidFill>
                      <a:prstDash val="solid"/>
                      <a:round/>
                      <a:headEnd type="none" w="med" len="med"/>
                      <a:tailEnd type="none" w="med" len="med"/>
                    </a:lnB>
                    <a:solidFill>
                      <a:srgbClr val="FFFFFF"/>
                    </a:solidFill>
                  </a:tcPr>
                </a:tc>
                <a:tc>
                  <a:txBody>
                    <a:bodyPr/>
                    <a:lstStyle/>
                    <a:p>
                      <a:pPr marL="0" indent="0">
                        <a:buNone/>
                      </a:pPr>
                      <a:r>
                        <a:rPr lang="en-US" sz="1000" dirty="0">
                          <a:solidFill>
                            <a:srgbClr val="24302A"/>
                          </a:solidFill>
                          <a:latin typeface="Calibri" pitchFamily="34" charset="0"/>
                          <a:ea typeface="Calibri" pitchFamily="34" charset="-122"/>
                          <a:cs typeface="Calibri" pitchFamily="34" charset="-120"/>
                        </a:rPr>
                        <a:t>Perfil horario cíclico</a:t>
                      </a:r>
                      <a:endParaRPr lang="en-US" sz="1000" dirty="0">
                        <a:latin typeface="Calibri" charset="0"/>
                        <a:ea typeface="Calibri" charset="0"/>
                        <a:cs typeface="Calibri" charset="0"/>
                      </a:endParaRPr>
                    </a:p>
                  </a:txBody>
                  <a:tcPr marL="64008" marR="64008" marT="64008" marB="64008" anchor="ctr">
                    <a:lnL w="6350" cap="flat" cmpd="sng" algn="ctr">
                      <a:solidFill>
                        <a:srgbClr val="E4E9E1"/>
                      </a:solidFill>
                      <a:prstDash val="solid"/>
                      <a:round/>
                      <a:headEnd type="none" w="med" len="med"/>
                      <a:tailEnd type="none" w="med" len="med"/>
                    </a:lnL>
                    <a:lnR w="6350" cap="flat" cmpd="sng" algn="ctr">
                      <a:solidFill>
                        <a:srgbClr val="E4E9E1"/>
                      </a:solidFill>
                      <a:prstDash val="solid"/>
                      <a:round/>
                      <a:headEnd type="none" w="med" len="med"/>
                      <a:tailEnd type="none" w="med" len="med"/>
                    </a:lnR>
                    <a:lnT w="6350" cap="flat" cmpd="sng" algn="ctr">
                      <a:solidFill>
                        <a:srgbClr val="E4E9E1"/>
                      </a:solidFill>
                      <a:prstDash val="solid"/>
                      <a:round/>
                      <a:headEnd type="none" w="med" len="med"/>
                      <a:tailEnd type="none" w="med" len="med"/>
                    </a:lnT>
                    <a:lnB w="6350" cap="flat" cmpd="sng" algn="ctr">
                      <a:solidFill>
                        <a:srgbClr val="E4E9E1"/>
                      </a:solidFill>
                      <a:prstDash val="solid"/>
                      <a:round/>
                      <a:headEnd type="none" w="med" len="med"/>
                      <a:tailEnd type="none" w="med" len="med"/>
                    </a:lnB>
                    <a:solidFill>
                      <a:srgbClr val="FFFFFF"/>
                    </a:solidFill>
                  </a:tcPr>
                </a:tc>
                <a:tc>
                  <a:txBody>
                    <a:bodyPr/>
                    <a:lstStyle/>
                    <a:p>
                      <a:pPr marL="0" indent="0">
                        <a:buNone/>
                      </a:pPr>
                      <a:r>
                        <a:rPr lang="en-US" sz="1000" dirty="0">
                          <a:solidFill>
                            <a:srgbClr val="6B7280"/>
                          </a:solidFill>
                          <a:latin typeface="Calibri" pitchFamily="34" charset="0"/>
                          <a:ea typeface="Calibri" pitchFamily="34" charset="-122"/>
                          <a:cs typeface="Calibri" pitchFamily="34" charset="-120"/>
                        </a:rPr>
                        <a:t>La hora 23 y la 0 son vecinas</a:t>
                      </a:r>
                      <a:endParaRPr lang="en-US" sz="1000" dirty="0">
                        <a:latin typeface="Calibri" charset="0"/>
                        <a:ea typeface="Calibri" charset="0"/>
                        <a:cs typeface="Calibri" charset="0"/>
                      </a:endParaRPr>
                    </a:p>
                  </a:txBody>
                  <a:tcPr marL="64008" marR="64008" marT="64008" marB="64008" anchor="ctr">
                    <a:lnL w="6350" cap="flat" cmpd="sng" algn="ctr">
                      <a:solidFill>
                        <a:srgbClr val="E4E9E1"/>
                      </a:solidFill>
                      <a:prstDash val="solid"/>
                      <a:round/>
                      <a:headEnd type="none" w="med" len="med"/>
                      <a:tailEnd type="none" w="med" len="med"/>
                    </a:lnL>
                    <a:lnR w="6350" cap="flat" cmpd="sng" algn="ctr">
                      <a:solidFill>
                        <a:srgbClr val="E4E9E1"/>
                      </a:solidFill>
                      <a:prstDash val="solid"/>
                      <a:round/>
                      <a:headEnd type="none" w="med" len="med"/>
                      <a:tailEnd type="none" w="med" len="med"/>
                    </a:lnR>
                    <a:lnT w="6350" cap="flat" cmpd="sng" algn="ctr">
                      <a:solidFill>
                        <a:srgbClr val="E4E9E1"/>
                      </a:solidFill>
                      <a:prstDash val="solid"/>
                      <a:round/>
                      <a:headEnd type="none" w="med" len="med"/>
                      <a:tailEnd type="none" w="med" len="med"/>
                    </a:lnT>
                    <a:lnB w="6350" cap="flat" cmpd="sng" algn="ctr">
                      <a:solidFill>
                        <a:srgbClr val="E4E9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02336">
                <a:tc>
                  <a:txBody>
                    <a:bodyPr/>
                    <a:lstStyle/>
                    <a:p>
                      <a:pPr marL="0" indent="0">
                        <a:buNone/>
                      </a:pPr>
                      <a:r>
                        <a:rPr lang="en-US" sz="950" b="1" dirty="0">
                          <a:solidFill>
                            <a:srgbClr val="2C5F2D"/>
                          </a:solidFill>
                          <a:latin typeface="Courier New" pitchFamily="34" charset="0"/>
                          <a:ea typeface="Courier New" pitchFamily="34" charset="-122"/>
                          <a:cs typeface="Courier New" pitchFamily="34" charset="-120"/>
                        </a:rPr>
                        <a:t>month_sin, month_cos</a:t>
                      </a:r>
                      <a:endParaRPr lang="en-US" sz="950" dirty="0">
                        <a:latin typeface="Courier New" charset="0"/>
                        <a:ea typeface="Courier New" charset="0"/>
                        <a:cs typeface="Courier New" charset="0"/>
                      </a:endParaRPr>
                    </a:p>
                  </a:txBody>
                  <a:tcPr marL="64008" marR="64008" marT="64008" marB="64008" anchor="ctr">
                    <a:lnL w="6350" cap="flat" cmpd="sng" algn="ctr">
                      <a:solidFill>
                        <a:srgbClr val="E4E9E1"/>
                      </a:solidFill>
                      <a:prstDash val="solid"/>
                      <a:round/>
                      <a:headEnd type="none" w="med" len="med"/>
                      <a:tailEnd type="none" w="med" len="med"/>
                    </a:lnL>
                    <a:lnR w="6350" cap="flat" cmpd="sng" algn="ctr">
                      <a:solidFill>
                        <a:srgbClr val="E4E9E1"/>
                      </a:solidFill>
                      <a:prstDash val="solid"/>
                      <a:round/>
                      <a:headEnd type="none" w="med" len="med"/>
                      <a:tailEnd type="none" w="med" len="med"/>
                    </a:lnR>
                    <a:lnT w="6350" cap="flat" cmpd="sng" algn="ctr">
                      <a:solidFill>
                        <a:srgbClr val="E4E9E1"/>
                      </a:solidFill>
                      <a:prstDash val="solid"/>
                      <a:round/>
                      <a:headEnd type="none" w="med" len="med"/>
                      <a:tailEnd type="none" w="med" len="med"/>
                    </a:lnT>
                    <a:lnB w="6350" cap="flat" cmpd="sng" algn="ctr">
                      <a:solidFill>
                        <a:srgbClr val="E4E9E1"/>
                      </a:solidFill>
                      <a:prstDash val="solid"/>
                      <a:round/>
                      <a:headEnd type="none" w="med" len="med"/>
                      <a:tailEnd type="none" w="med" len="med"/>
                    </a:lnB>
                    <a:solidFill>
                      <a:srgbClr val="FFFFFF"/>
                    </a:solidFill>
                  </a:tcPr>
                </a:tc>
                <a:tc>
                  <a:txBody>
                    <a:bodyPr/>
                    <a:lstStyle/>
                    <a:p>
                      <a:pPr marL="0" indent="0">
                        <a:buNone/>
                      </a:pPr>
                      <a:r>
                        <a:rPr lang="en-US" sz="1000" dirty="0">
                          <a:solidFill>
                            <a:srgbClr val="24302A"/>
                          </a:solidFill>
                          <a:latin typeface="Calibri" pitchFamily="34" charset="0"/>
                          <a:ea typeface="Calibri" pitchFamily="34" charset="-122"/>
                          <a:cs typeface="Calibri" pitchFamily="34" charset="-120"/>
                        </a:rPr>
                        <a:t>Onda estacional anual</a:t>
                      </a:r>
                      <a:endParaRPr lang="en-US" sz="1000" dirty="0">
                        <a:latin typeface="Calibri" charset="0"/>
                        <a:ea typeface="Calibri" charset="0"/>
                        <a:cs typeface="Calibri" charset="0"/>
                      </a:endParaRPr>
                    </a:p>
                  </a:txBody>
                  <a:tcPr marL="64008" marR="64008" marT="64008" marB="64008" anchor="ctr">
                    <a:lnL w="6350" cap="flat" cmpd="sng" algn="ctr">
                      <a:solidFill>
                        <a:srgbClr val="E4E9E1"/>
                      </a:solidFill>
                      <a:prstDash val="solid"/>
                      <a:round/>
                      <a:headEnd type="none" w="med" len="med"/>
                      <a:tailEnd type="none" w="med" len="med"/>
                    </a:lnL>
                    <a:lnR w="6350" cap="flat" cmpd="sng" algn="ctr">
                      <a:solidFill>
                        <a:srgbClr val="E4E9E1"/>
                      </a:solidFill>
                      <a:prstDash val="solid"/>
                      <a:round/>
                      <a:headEnd type="none" w="med" len="med"/>
                      <a:tailEnd type="none" w="med" len="med"/>
                    </a:lnR>
                    <a:lnT w="6350" cap="flat" cmpd="sng" algn="ctr">
                      <a:solidFill>
                        <a:srgbClr val="E4E9E1"/>
                      </a:solidFill>
                      <a:prstDash val="solid"/>
                      <a:round/>
                      <a:headEnd type="none" w="med" len="med"/>
                      <a:tailEnd type="none" w="med" len="med"/>
                    </a:lnT>
                    <a:lnB w="6350" cap="flat" cmpd="sng" algn="ctr">
                      <a:solidFill>
                        <a:srgbClr val="E4E9E1"/>
                      </a:solidFill>
                      <a:prstDash val="solid"/>
                      <a:round/>
                      <a:headEnd type="none" w="med" len="med"/>
                      <a:tailEnd type="none" w="med" len="med"/>
                    </a:lnB>
                    <a:solidFill>
                      <a:srgbClr val="FFFFFF"/>
                    </a:solidFill>
                  </a:tcPr>
                </a:tc>
                <a:tc>
                  <a:txBody>
                    <a:bodyPr/>
                    <a:lstStyle/>
                    <a:p>
                      <a:pPr marL="0" indent="0">
                        <a:buNone/>
                      </a:pPr>
                      <a:r>
                        <a:rPr lang="en-US" sz="1000" dirty="0">
                          <a:solidFill>
                            <a:srgbClr val="6B7280"/>
                          </a:solidFill>
                          <a:latin typeface="Calibri" pitchFamily="34" charset="0"/>
                          <a:ea typeface="Calibri" pitchFamily="34" charset="-122"/>
                          <a:cs typeface="Calibri" pitchFamily="34" charset="-120"/>
                        </a:rPr>
                        <a:t>Diciembre y enero son contiguos</a:t>
                      </a:r>
                      <a:endParaRPr lang="en-US" sz="1000" dirty="0">
                        <a:latin typeface="Calibri" charset="0"/>
                        <a:ea typeface="Calibri" charset="0"/>
                        <a:cs typeface="Calibri" charset="0"/>
                      </a:endParaRPr>
                    </a:p>
                  </a:txBody>
                  <a:tcPr marL="64008" marR="64008" marT="64008" marB="64008" anchor="ctr">
                    <a:lnL w="6350" cap="flat" cmpd="sng" algn="ctr">
                      <a:solidFill>
                        <a:srgbClr val="E4E9E1"/>
                      </a:solidFill>
                      <a:prstDash val="solid"/>
                      <a:round/>
                      <a:headEnd type="none" w="med" len="med"/>
                      <a:tailEnd type="none" w="med" len="med"/>
                    </a:lnL>
                    <a:lnR w="6350" cap="flat" cmpd="sng" algn="ctr">
                      <a:solidFill>
                        <a:srgbClr val="E4E9E1"/>
                      </a:solidFill>
                      <a:prstDash val="solid"/>
                      <a:round/>
                      <a:headEnd type="none" w="med" len="med"/>
                      <a:tailEnd type="none" w="med" len="med"/>
                    </a:lnR>
                    <a:lnT w="6350" cap="flat" cmpd="sng" algn="ctr">
                      <a:solidFill>
                        <a:srgbClr val="E4E9E1"/>
                      </a:solidFill>
                      <a:prstDash val="solid"/>
                      <a:round/>
                      <a:headEnd type="none" w="med" len="med"/>
                      <a:tailEnd type="none" w="med" len="med"/>
                    </a:lnT>
                    <a:lnB w="6350" cap="flat" cmpd="sng" algn="ctr">
                      <a:solidFill>
                        <a:srgbClr val="E4E9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02336">
                <a:tc>
                  <a:txBody>
                    <a:bodyPr/>
                    <a:lstStyle/>
                    <a:p>
                      <a:pPr marL="0" indent="0">
                        <a:buNone/>
                      </a:pPr>
                      <a:r>
                        <a:rPr lang="en-US" sz="950" b="1" dirty="0">
                          <a:solidFill>
                            <a:srgbClr val="2C5F2D"/>
                          </a:solidFill>
                          <a:latin typeface="Courier New" pitchFamily="34" charset="0"/>
                          <a:ea typeface="Courier New" pitchFamily="34" charset="-122"/>
                          <a:cs typeface="Courier New" pitchFamily="34" charset="-120"/>
                        </a:rPr>
                        <a:t>workingday, is_weekend</a:t>
                      </a:r>
                      <a:endParaRPr lang="en-US" sz="950" dirty="0">
                        <a:latin typeface="Courier New" charset="0"/>
                        <a:ea typeface="Courier New" charset="0"/>
                        <a:cs typeface="Courier New" charset="0"/>
                      </a:endParaRPr>
                    </a:p>
                  </a:txBody>
                  <a:tcPr marL="64008" marR="64008" marT="64008" marB="64008" anchor="ctr">
                    <a:lnL w="6350" cap="flat" cmpd="sng" algn="ctr">
                      <a:solidFill>
                        <a:srgbClr val="E4E9E1"/>
                      </a:solidFill>
                      <a:prstDash val="solid"/>
                      <a:round/>
                      <a:headEnd type="none" w="med" len="med"/>
                      <a:tailEnd type="none" w="med" len="med"/>
                    </a:lnL>
                    <a:lnR w="6350" cap="flat" cmpd="sng" algn="ctr">
                      <a:solidFill>
                        <a:srgbClr val="E4E9E1"/>
                      </a:solidFill>
                      <a:prstDash val="solid"/>
                      <a:round/>
                      <a:headEnd type="none" w="med" len="med"/>
                      <a:tailEnd type="none" w="med" len="med"/>
                    </a:lnR>
                    <a:lnT w="6350" cap="flat" cmpd="sng" algn="ctr">
                      <a:solidFill>
                        <a:srgbClr val="E4E9E1"/>
                      </a:solidFill>
                      <a:prstDash val="solid"/>
                      <a:round/>
                      <a:headEnd type="none" w="med" len="med"/>
                      <a:tailEnd type="none" w="med" len="med"/>
                    </a:lnT>
                    <a:lnB w="6350" cap="flat" cmpd="sng" algn="ctr">
                      <a:solidFill>
                        <a:srgbClr val="E4E9E1"/>
                      </a:solidFill>
                      <a:prstDash val="solid"/>
                      <a:round/>
                      <a:headEnd type="none" w="med" len="med"/>
                      <a:tailEnd type="none" w="med" len="med"/>
                    </a:lnB>
                    <a:solidFill>
                      <a:srgbClr val="FFFFFF"/>
                    </a:solidFill>
                  </a:tcPr>
                </a:tc>
                <a:tc>
                  <a:txBody>
                    <a:bodyPr/>
                    <a:lstStyle/>
                    <a:p>
                      <a:pPr marL="0" indent="0">
                        <a:buNone/>
                      </a:pPr>
                      <a:r>
                        <a:rPr lang="en-US" sz="1000" dirty="0">
                          <a:solidFill>
                            <a:srgbClr val="24302A"/>
                          </a:solidFill>
                          <a:latin typeface="Calibri" pitchFamily="34" charset="0"/>
                          <a:ea typeface="Calibri" pitchFamily="34" charset="-122"/>
                          <a:cs typeface="Calibri" pitchFamily="34" charset="-120"/>
                        </a:rPr>
                        <a:t>Dos regímenes de demanda</a:t>
                      </a:r>
                      <a:endParaRPr lang="en-US" sz="1000" dirty="0">
                        <a:latin typeface="Calibri" charset="0"/>
                        <a:ea typeface="Calibri" charset="0"/>
                        <a:cs typeface="Calibri" charset="0"/>
                      </a:endParaRPr>
                    </a:p>
                  </a:txBody>
                  <a:tcPr marL="64008" marR="64008" marT="64008" marB="64008" anchor="ctr">
                    <a:lnL w="6350" cap="flat" cmpd="sng" algn="ctr">
                      <a:solidFill>
                        <a:srgbClr val="E4E9E1"/>
                      </a:solidFill>
                      <a:prstDash val="solid"/>
                      <a:round/>
                      <a:headEnd type="none" w="med" len="med"/>
                      <a:tailEnd type="none" w="med" len="med"/>
                    </a:lnL>
                    <a:lnR w="6350" cap="flat" cmpd="sng" algn="ctr">
                      <a:solidFill>
                        <a:srgbClr val="E4E9E1"/>
                      </a:solidFill>
                      <a:prstDash val="solid"/>
                      <a:round/>
                      <a:headEnd type="none" w="med" len="med"/>
                      <a:tailEnd type="none" w="med" len="med"/>
                    </a:lnR>
                    <a:lnT w="6350" cap="flat" cmpd="sng" algn="ctr">
                      <a:solidFill>
                        <a:srgbClr val="E4E9E1"/>
                      </a:solidFill>
                      <a:prstDash val="solid"/>
                      <a:round/>
                      <a:headEnd type="none" w="med" len="med"/>
                      <a:tailEnd type="none" w="med" len="med"/>
                    </a:lnT>
                    <a:lnB w="6350" cap="flat" cmpd="sng" algn="ctr">
                      <a:solidFill>
                        <a:srgbClr val="E4E9E1"/>
                      </a:solidFill>
                      <a:prstDash val="solid"/>
                      <a:round/>
                      <a:headEnd type="none" w="med" len="med"/>
                      <a:tailEnd type="none" w="med" len="med"/>
                    </a:lnB>
                    <a:solidFill>
                      <a:srgbClr val="FFFFFF"/>
                    </a:solidFill>
                  </a:tcPr>
                </a:tc>
                <a:tc>
                  <a:txBody>
                    <a:bodyPr/>
                    <a:lstStyle/>
                    <a:p>
                      <a:pPr marL="0" indent="0">
                        <a:buNone/>
                      </a:pPr>
                      <a:r>
                        <a:rPr lang="en-US" sz="1000" dirty="0">
                          <a:solidFill>
                            <a:srgbClr val="6B7280"/>
                          </a:solidFill>
                          <a:latin typeface="Calibri" pitchFamily="34" charset="0"/>
                          <a:ea typeface="Calibri" pitchFamily="34" charset="-122"/>
                          <a:cs typeface="Calibri" pitchFamily="34" charset="-120"/>
                        </a:rPr>
                        <a:t>El modelo cambia de patrón</a:t>
                      </a:r>
                      <a:endParaRPr lang="en-US" sz="1000" dirty="0">
                        <a:latin typeface="Calibri" charset="0"/>
                        <a:ea typeface="Calibri" charset="0"/>
                        <a:cs typeface="Calibri" charset="0"/>
                      </a:endParaRPr>
                    </a:p>
                  </a:txBody>
                  <a:tcPr marL="64008" marR="64008" marT="64008" marB="64008" anchor="ctr">
                    <a:lnL w="6350" cap="flat" cmpd="sng" algn="ctr">
                      <a:solidFill>
                        <a:srgbClr val="E4E9E1"/>
                      </a:solidFill>
                      <a:prstDash val="solid"/>
                      <a:round/>
                      <a:headEnd type="none" w="med" len="med"/>
                      <a:tailEnd type="none" w="med" len="med"/>
                    </a:lnL>
                    <a:lnR w="6350" cap="flat" cmpd="sng" algn="ctr">
                      <a:solidFill>
                        <a:srgbClr val="E4E9E1"/>
                      </a:solidFill>
                      <a:prstDash val="solid"/>
                      <a:round/>
                      <a:headEnd type="none" w="med" len="med"/>
                      <a:tailEnd type="none" w="med" len="med"/>
                    </a:lnR>
                    <a:lnT w="6350" cap="flat" cmpd="sng" algn="ctr">
                      <a:solidFill>
                        <a:srgbClr val="E4E9E1"/>
                      </a:solidFill>
                      <a:prstDash val="solid"/>
                      <a:round/>
                      <a:headEnd type="none" w="med" len="med"/>
                      <a:tailEnd type="none" w="med" len="med"/>
                    </a:lnT>
                    <a:lnB w="6350" cap="flat" cmpd="sng" algn="ctr">
                      <a:solidFill>
                        <a:srgbClr val="E4E9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02336">
                <a:tc>
                  <a:txBody>
                    <a:bodyPr/>
                    <a:lstStyle/>
                    <a:p>
                      <a:pPr marL="0" indent="0">
                        <a:buNone/>
                      </a:pPr>
                      <a:r>
                        <a:rPr lang="en-US" sz="950" b="1" dirty="0">
                          <a:solidFill>
                            <a:srgbClr val="2C5F2D"/>
                          </a:solidFill>
                          <a:latin typeface="Courier New" pitchFamily="34" charset="0"/>
                          <a:ea typeface="Courier New" pitchFamily="34" charset="-122"/>
                          <a:cs typeface="Courier New" pitchFamily="34" charset="-120"/>
                        </a:rPr>
                        <a:t>is_holiday</a:t>
                      </a:r>
                      <a:endParaRPr lang="en-US" sz="950" dirty="0">
                        <a:latin typeface="Courier New" charset="0"/>
                        <a:ea typeface="Courier New" charset="0"/>
                        <a:cs typeface="Courier New" charset="0"/>
                      </a:endParaRPr>
                    </a:p>
                  </a:txBody>
                  <a:tcPr marL="64008" marR="64008" marT="64008" marB="64008" anchor="ctr">
                    <a:lnL w="6350" cap="flat" cmpd="sng" algn="ctr">
                      <a:solidFill>
                        <a:srgbClr val="E4E9E1"/>
                      </a:solidFill>
                      <a:prstDash val="solid"/>
                      <a:round/>
                      <a:headEnd type="none" w="med" len="med"/>
                      <a:tailEnd type="none" w="med" len="med"/>
                    </a:lnL>
                    <a:lnR w="6350" cap="flat" cmpd="sng" algn="ctr">
                      <a:solidFill>
                        <a:srgbClr val="E4E9E1"/>
                      </a:solidFill>
                      <a:prstDash val="solid"/>
                      <a:round/>
                      <a:headEnd type="none" w="med" len="med"/>
                      <a:tailEnd type="none" w="med" len="med"/>
                    </a:lnR>
                    <a:lnT w="6350" cap="flat" cmpd="sng" algn="ctr">
                      <a:solidFill>
                        <a:srgbClr val="E4E9E1"/>
                      </a:solidFill>
                      <a:prstDash val="solid"/>
                      <a:round/>
                      <a:headEnd type="none" w="med" len="med"/>
                      <a:tailEnd type="none" w="med" len="med"/>
                    </a:lnT>
                    <a:lnB w="6350" cap="flat" cmpd="sng" algn="ctr">
                      <a:solidFill>
                        <a:srgbClr val="E4E9E1"/>
                      </a:solidFill>
                      <a:prstDash val="solid"/>
                      <a:round/>
                      <a:headEnd type="none" w="med" len="med"/>
                      <a:tailEnd type="none" w="med" len="med"/>
                    </a:lnB>
                    <a:solidFill>
                      <a:srgbClr val="FFFFFF"/>
                    </a:solidFill>
                  </a:tcPr>
                </a:tc>
                <a:tc>
                  <a:txBody>
                    <a:bodyPr/>
                    <a:lstStyle/>
                    <a:p>
                      <a:pPr marL="0" indent="0">
                        <a:buNone/>
                      </a:pPr>
                      <a:r>
                        <a:rPr lang="en-US" sz="1000" dirty="0">
                          <a:solidFill>
                            <a:srgbClr val="24302A"/>
                          </a:solidFill>
                          <a:latin typeface="Calibri" pitchFamily="34" charset="0"/>
                          <a:ea typeface="Calibri" pitchFamily="34" charset="-122"/>
                          <a:cs typeface="Calibri" pitchFamily="34" charset="-120"/>
                        </a:rPr>
                        <a:t>El feriado pierde el doble peak</a:t>
                      </a:r>
                      <a:endParaRPr lang="en-US" sz="1000" dirty="0">
                        <a:latin typeface="Calibri" charset="0"/>
                        <a:ea typeface="Calibri" charset="0"/>
                        <a:cs typeface="Calibri" charset="0"/>
                      </a:endParaRPr>
                    </a:p>
                  </a:txBody>
                  <a:tcPr marL="64008" marR="64008" marT="64008" marB="64008" anchor="ctr">
                    <a:lnL w="6350" cap="flat" cmpd="sng" algn="ctr">
                      <a:solidFill>
                        <a:srgbClr val="E4E9E1"/>
                      </a:solidFill>
                      <a:prstDash val="solid"/>
                      <a:round/>
                      <a:headEnd type="none" w="med" len="med"/>
                      <a:tailEnd type="none" w="med" len="med"/>
                    </a:lnL>
                    <a:lnR w="6350" cap="flat" cmpd="sng" algn="ctr">
                      <a:solidFill>
                        <a:srgbClr val="E4E9E1"/>
                      </a:solidFill>
                      <a:prstDash val="solid"/>
                      <a:round/>
                      <a:headEnd type="none" w="med" len="med"/>
                      <a:tailEnd type="none" w="med" len="med"/>
                    </a:lnR>
                    <a:lnT w="6350" cap="flat" cmpd="sng" algn="ctr">
                      <a:solidFill>
                        <a:srgbClr val="E4E9E1"/>
                      </a:solidFill>
                      <a:prstDash val="solid"/>
                      <a:round/>
                      <a:headEnd type="none" w="med" len="med"/>
                      <a:tailEnd type="none" w="med" len="med"/>
                    </a:lnT>
                    <a:lnB w="6350" cap="flat" cmpd="sng" algn="ctr">
                      <a:solidFill>
                        <a:srgbClr val="E4E9E1"/>
                      </a:solidFill>
                      <a:prstDash val="solid"/>
                      <a:round/>
                      <a:headEnd type="none" w="med" len="med"/>
                      <a:tailEnd type="none" w="med" len="med"/>
                    </a:lnB>
                    <a:solidFill>
                      <a:srgbClr val="FFFFFF"/>
                    </a:solidFill>
                  </a:tcPr>
                </a:tc>
                <a:tc>
                  <a:txBody>
                    <a:bodyPr/>
                    <a:lstStyle/>
                    <a:p>
                      <a:pPr marL="0" indent="0">
                        <a:buNone/>
                      </a:pPr>
                      <a:r>
                        <a:rPr lang="en-US" sz="1000" dirty="0">
                          <a:solidFill>
                            <a:srgbClr val="6B7280"/>
                          </a:solidFill>
                          <a:latin typeface="Calibri" pitchFamily="34" charset="0"/>
                          <a:ea typeface="Calibri" pitchFamily="34" charset="-122"/>
                          <a:cs typeface="Calibri" pitchFamily="34" charset="-120"/>
                        </a:rPr>
                        <a:t>Evita predecir un peak inexistente</a:t>
                      </a:r>
                      <a:endParaRPr lang="en-US" sz="1000" dirty="0">
                        <a:latin typeface="Calibri" charset="0"/>
                        <a:ea typeface="Calibri" charset="0"/>
                        <a:cs typeface="Calibri" charset="0"/>
                      </a:endParaRPr>
                    </a:p>
                  </a:txBody>
                  <a:tcPr marL="64008" marR="64008" marT="64008" marB="64008" anchor="ctr">
                    <a:lnL w="6350" cap="flat" cmpd="sng" algn="ctr">
                      <a:solidFill>
                        <a:srgbClr val="E4E9E1"/>
                      </a:solidFill>
                      <a:prstDash val="solid"/>
                      <a:round/>
                      <a:headEnd type="none" w="med" len="med"/>
                      <a:tailEnd type="none" w="med" len="med"/>
                    </a:lnL>
                    <a:lnR w="6350" cap="flat" cmpd="sng" algn="ctr">
                      <a:solidFill>
                        <a:srgbClr val="E4E9E1"/>
                      </a:solidFill>
                      <a:prstDash val="solid"/>
                      <a:round/>
                      <a:headEnd type="none" w="med" len="med"/>
                      <a:tailEnd type="none" w="med" len="med"/>
                    </a:lnR>
                    <a:lnT w="6350" cap="flat" cmpd="sng" algn="ctr">
                      <a:solidFill>
                        <a:srgbClr val="E4E9E1"/>
                      </a:solidFill>
                      <a:prstDash val="solid"/>
                      <a:round/>
                      <a:headEnd type="none" w="med" len="med"/>
                      <a:tailEnd type="none" w="med" len="med"/>
                    </a:lnT>
                    <a:lnB w="6350" cap="flat" cmpd="sng" algn="ctr">
                      <a:solidFill>
                        <a:srgbClr val="E4E9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02336">
                <a:tc>
                  <a:txBody>
                    <a:bodyPr/>
                    <a:lstStyle/>
                    <a:p>
                      <a:pPr marL="0" indent="0">
                        <a:buNone/>
                      </a:pPr>
                      <a:r>
                        <a:rPr lang="en-US" sz="950" b="1" dirty="0">
                          <a:solidFill>
                            <a:srgbClr val="2C5F2D"/>
                          </a:solidFill>
                          <a:latin typeface="Courier New" pitchFamily="34" charset="0"/>
                          <a:ea typeface="Courier New" pitchFamily="34" charset="-122"/>
                          <a:cs typeface="Courier New" pitchFamily="34" charset="-120"/>
                        </a:rPr>
                        <a:t>cnt_lag_1, cnt_lag_24</a:t>
                      </a:r>
                      <a:endParaRPr lang="en-US" sz="950" dirty="0">
                        <a:latin typeface="Courier New" charset="0"/>
                        <a:ea typeface="Courier New" charset="0"/>
                        <a:cs typeface="Courier New" charset="0"/>
                      </a:endParaRPr>
                    </a:p>
                  </a:txBody>
                  <a:tcPr marL="64008" marR="64008" marT="64008" marB="64008" anchor="ctr">
                    <a:lnL w="6350" cap="flat" cmpd="sng" algn="ctr">
                      <a:solidFill>
                        <a:srgbClr val="E4E9E1"/>
                      </a:solidFill>
                      <a:prstDash val="solid"/>
                      <a:round/>
                      <a:headEnd type="none" w="med" len="med"/>
                      <a:tailEnd type="none" w="med" len="med"/>
                    </a:lnL>
                    <a:lnR w="6350" cap="flat" cmpd="sng" algn="ctr">
                      <a:solidFill>
                        <a:srgbClr val="E4E9E1"/>
                      </a:solidFill>
                      <a:prstDash val="solid"/>
                      <a:round/>
                      <a:headEnd type="none" w="med" len="med"/>
                      <a:tailEnd type="none" w="med" len="med"/>
                    </a:lnR>
                    <a:lnT w="6350" cap="flat" cmpd="sng" algn="ctr">
                      <a:solidFill>
                        <a:srgbClr val="E4E9E1"/>
                      </a:solidFill>
                      <a:prstDash val="solid"/>
                      <a:round/>
                      <a:headEnd type="none" w="med" len="med"/>
                      <a:tailEnd type="none" w="med" len="med"/>
                    </a:lnT>
                    <a:lnB w="6350" cap="flat" cmpd="sng" algn="ctr">
                      <a:solidFill>
                        <a:srgbClr val="E4E9E1"/>
                      </a:solidFill>
                      <a:prstDash val="solid"/>
                      <a:round/>
                      <a:headEnd type="none" w="med" len="med"/>
                      <a:tailEnd type="none" w="med" len="med"/>
                    </a:lnB>
                    <a:solidFill>
                      <a:srgbClr val="FFFFFF"/>
                    </a:solidFill>
                  </a:tcPr>
                </a:tc>
                <a:tc>
                  <a:txBody>
                    <a:bodyPr/>
                    <a:lstStyle/>
                    <a:p>
                      <a:pPr marL="0" indent="0">
                        <a:buNone/>
                      </a:pPr>
                      <a:r>
                        <a:rPr lang="en-US" sz="1000" dirty="0">
                          <a:solidFill>
                            <a:srgbClr val="24302A"/>
                          </a:solidFill>
                          <a:latin typeface="Calibri" pitchFamily="34" charset="0"/>
                          <a:ea typeface="Calibri" pitchFamily="34" charset="-122"/>
                          <a:cs typeface="Calibri" pitchFamily="34" charset="-120"/>
                        </a:rPr>
                        <a:t>Autocorrelación alta, ciclo 24 h</a:t>
                      </a:r>
                      <a:endParaRPr lang="en-US" sz="1000" dirty="0">
                        <a:latin typeface="Calibri" charset="0"/>
                        <a:ea typeface="Calibri" charset="0"/>
                        <a:cs typeface="Calibri" charset="0"/>
                      </a:endParaRPr>
                    </a:p>
                  </a:txBody>
                  <a:tcPr marL="64008" marR="64008" marT="64008" marB="64008" anchor="ctr">
                    <a:lnL w="6350" cap="flat" cmpd="sng" algn="ctr">
                      <a:solidFill>
                        <a:srgbClr val="E4E9E1"/>
                      </a:solidFill>
                      <a:prstDash val="solid"/>
                      <a:round/>
                      <a:headEnd type="none" w="med" len="med"/>
                      <a:tailEnd type="none" w="med" len="med"/>
                    </a:lnL>
                    <a:lnR w="6350" cap="flat" cmpd="sng" algn="ctr">
                      <a:solidFill>
                        <a:srgbClr val="E4E9E1"/>
                      </a:solidFill>
                      <a:prstDash val="solid"/>
                      <a:round/>
                      <a:headEnd type="none" w="med" len="med"/>
                      <a:tailEnd type="none" w="med" len="med"/>
                    </a:lnR>
                    <a:lnT w="6350" cap="flat" cmpd="sng" algn="ctr">
                      <a:solidFill>
                        <a:srgbClr val="E4E9E1"/>
                      </a:solidFill>
                      <a:prstDash val="solid"/>
                      <a:round/>
                      <a:headEnd type="none" w="med" len="med"/>
                      <a:tailEnd type="none" w="med" len="med"/>
                    </a:lnT>
                    <a:lnB w="6350" cap="flat" cmpd="sng" algn="ctr">
                      <a:solidFill>
                        <a:srgbClr val="E4E9E1"/>
                      </a:solidFill>
                      <a:prstDash val="solid"/>
                      <a:round/>
                      <a:headEnd type="none" w="med" len="med"/>
                      <a:tailEnd type="none" w="med" len="med"/>
                    </a:lnB>
                    <a:solidFill>
                      <a:srgbClr val="FFFFFF"/>
                    </a:solidFill>
                  </a:tcPr>
                </a:tc>
                <a:tc>
                  <a:txBody>
                    <a:bodyPr/>
                    <a:lstStyle/>
                    <a:p>
                      <a:pPr marL="0" indent="0">
                        <a:buNone/>
                      </a:pPr>
                      <a:r>
                        <a:rPr lang="en-US" sz="1000" dirty="0">
                          <a:solidFill>
                            <a:srgbClr val="6B7280"/>
                          </a:solidFill>
                          <a:latin typeface="Calibri" pitchFamily="34" charset="0"/>
                          <a:ea typeface="Calibri" pitchFamily="34" charset="-122"/>
                          <a:cs typeface="Calibri" pitchFamily="34" charset="-120"/>
                        </a:rPr>
                        <a:t>Aporta el estado del sistema</a:t>
                      </a:r>
                      <a:endParaRPr lang="en-US" sz="1000" dirty="0">
                        <a:latin typeface="Calibri" charset="0"/>
                        <a:ea typeface="Calibri" charset="0"/>
                        <a:cs typeface="Calibri" charset="0"/>
                      </a:endParaRPr>
                    </a:p>
                  </a:txBody>
                  <a:tcPr marL="64008" marR="64008" marT="64008" marB="64008" anchor="ctr">
                    <a:lnL w="6350" cap="flat" cmpd="sng" algn="ctr">
                      <a:solidFill>
                        <a:srgbClr val="E4E9E1"/>
                      </a:solidFill>
                      <a:prstDash val="solid"/>
                      <a:round/>
                      <a:headEnd type="none" w="med" len="med"/>
                      <a:tailEnd type="none" w="med" len="med"/>
                    </a:lnL>
                    <a:lnR w="6350" cap="flat" cmpd="sng" algn="ctr">
                      <a:solidFill>
                        <a:srgbClr val="E4E9E1"/>
                      </a:solidFill>
                      <a:prstDash val="solid"/>
                      <a:round/>
                      <a:headEnd type="none" w="med" len="med"/>
                      <a:tailEnd type="none" w="med" len="med"/>
                    </a:lnR>
                    <a:lnT w="6350" cap="flat" cmpd="sng" algn="ctr">
                      <a:solidFill>
                        <a:srgbClr val="E4E9E1"/>
                      </a:solidFill>
                      <a:prstDash val="solid"/>
                      <a:round/>
                      <a:headEnd type="none" w="med" len="med"/>
                      <a:tailEnd type="none" w="med" len="med"/>
                    </a:lnT>
                    <a:lnB w="6350" cap="flat" cmpd="sng" algn="ctr">
                      <a:solidFill>
                        <a:srgbClr val="E4E9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02336">
                <a:tc>
                  <a:txBody>
                    <a:bodyPr/>
                    <a:lstStyle/>
                    <a:p>
                      <a:pPr marL="0" indent="0">
                        <a:buNone/>
                      </a:pPr>
                      <a:r>
                        <a:rPr lang="en-US" sz="950" b="1" dirty="0">
                          <a:solidFill>
                            <a:srgbClr val="2C5F2D"/>
                          </a:solidFill>
                          <a:latin typeface="Courier New" pitchFamily="34" charset="0"/>
                          <a:ea typeface="Courier New" pitchFamily="34" charset="-122"/>
                          <a:cs typeface="Courier New" pitchFamily="34" charset="-120"/>
                        </a:rPr>
                        <a:t>medias móviles</a:t>
                      </a:r>
                      <a:endParaRPr lang="en-US" sz="950" dirty="0">
                        <a:latin typeface="Courier New" charset="0"/>
                        <a:ea typeface="Courier New" charset="0"/>
                        <a:cs typeface="Courier New" charset="0"/>
                      </a:endParaRPr>
                    </a:p>
                  </a:txBody>
                  <a:tcPr marL="64008" marR="64008" marT="64008" marB="64008" anchor="ctr">
                    <a:lnL w="6350" cap="flat" cmpd="sng" algn="ctr">
                      <a:solidFill>
                        <a:srgbClr val="E4E9E1"/>
                      </a:solidFill>
                      <a:prstDash val="solid"/>
                      <a:round/>
                      <a:headEnd type="none" w="med" len="med"/>
                      <a:tailEnd type="none" w="med" len="med"/>
                    </a:lnL>
                    <a:lnR w="6350" cap="flat" cmpd="sng" algn="ctr">
                      <a:solidFill>
                        <a:srgbClr val="E4E9E1"/>
                      </a:solidFill>
                      <a:prstDash val="solid"/>
                      <a:round/>
                      <a:headEnd type="none" w="med" len="med"/>
                      <a:tailEnd type="none" w="med" len="med"/>
                    </a:lnR>
                    <a:lnT w="6350" cap="flat" cmpd="sng" algn="ctr">
                      <a:solidFill>
                        <a:srgbClr val="E4E9E1"/>
                      </a:solidFill>
                      <a:prstDash val="solid"/>
                      <a:round/>
                      <a:headEnd type="none" w="med" len="med"/>
                      <a:tailEnd type="none" w="med" len="med"/>
                    </a:lnT>
                    <a:lnB w="6350" cap="flat" cmpd="sng" algn="ctr">
                      <a:solidFill>
                        <a:srgbClr val="E4E9E1"/>
                      </a:solidFill>
                      <a:prstDash val="solid"/>
                      <a:round/>
                      <a:headEnd type="none" w="med" len="med"/>
                      <a:tailEnd type="none" w="med" len="med"/>
                    </a:lnB>
                    <a:solidFill>
                      <a:srgbClr val="FFFFFF"/>
                    </a:solidFill>
                  </a:tcPr>
                </a:tc>
                <a:tc>
                  <a:txBody>
                    <a:bodyPr/>
                    <a:lstStyle/>
                    <a:p>
                      <a:pPr marL="0" indent="0">
                        <a:buNone/>
                      </a:pPr>
                      <a:r>
                        <a:rPr lang="en-US" sz="1000" dirty="0">
                          <a:solidFill>
                            <a:srgbClr val="24302A"/>
                          </a:solidFill>
                          <a:latin typeface="Calibri" pitchFamily="34" charset="0"/>
                          <a:ea typeface="Calibri" pitchFamily="34" charset="-122"/>
                          <a:cs typeface="Calibri" pitchFamily="34" charset="-120"/>
                        </a:rPr>
                        <a:t>Ruido de alta frecuencia</a:t>
                      </a:r>
                      <a:endParaRPr lang="en-US" sz="1000" dirty="0">
                        <a:latin typeface="Calibri" charset="0"/>
                        <a:ea typeface="Calibri" charset="0"/>
                        <a:cs typeface="Calibri" charset="0"/>
                      </a:endParaRPr>
                    </a:p>
                  </a:txBody>
                  <a:tcPr marL="64008" marR="64008" marT="64008" marB="64008" anchor="ctr">
                    <a:lnL w="6350" cap="flat" cmpd="sng" algn="ctr">
                      <a:solidFill>
                        <a:srgbClr val="E4E9E1"/>
                      </a:solidFill>
                      <a:prstDash val="solid"/>
                      <a:round/>
                      <a:headEnd type="none" w="med" len="med"/>
                      <a:tailEnd type="none" w="med" len="med"/>
                    </a:lnL>
                    <a:lnR w="6350" cap="flat" cmpd="sng" algn="ctr">
                      <a:solidFill>
                        <a:srgbClr val="E4E9E1"/>
                      </a:solidFill>
                      <a:prstDash val="solid"/>
                      <a:round/>
                      <a:headEnd type="none" w="med" len="med"/>
                      <a:tailEnd type="none" w="med" len="med"/>
                    </a:lnR>
                    <a:lnT w="6350" cap="flat" cmpd="sng" algn="ctr">
                      <a:solidFill>
                        <a:srgbClr val="E4E9E1"/>
                      </a:solidFill>
                      <a:prstDash val="solid"/>
                      <a:round/>
                      <a:headEnd type="none" w="med" len="med"/>
                      <a:tailEnd type="none" w="med" len="med"/>
                    </a:lnT>
                    <a:lnB w="6350" cap="flat" cmpd="sng" algn="ctr">
                      <a:solidFill>
                        <a:srgbClr val="E4E9E1"/>
                      </a:solidFill>
                      <a:prstDash val="solid"/>
                      <a:round/>
                      <a:headEnd type="none" w="med" len="med"/>
                      <a:tailEnd type="none" w="med" len="med"/>
                    </a:lnB>
                    <a:solidFill>
                      <a:srgbClr val="FFFFFF"/>
                    </a:solidFill>
                  </a:tcPr>
                </a:tc>
                <a:tc>
                  <a:txBody>
                    <a:bodyPr/>
                    <a:lstStyle/>
                    <a:p>
                      <a:pPr marL="0" indent="0">
                        <a:buNone/>
                      </a:pPr>
                      <a:r>
                        <a:rPr lang="en-US" sz="1000" dirty="0">
                          <a:solidFill>
                            <a:srgbClr val="6B7280"/>
                          </a:solidFill>
                          <a:latin typeface="Calibri" pitchFamily="34" charset="0"/>
                          <a:ea typeface="Calibri" pitchFamily="34" charset="-122"/>
                          <a:cs typeface="Calibri" pitchFamily="34" charset="-120"/>
                        </a:rPr>
                        <a:t>Nivel reciente, más estable</a:t>
                      </a:r>
                      <a:endParaRPr lang="en-US" sz="1000" dirty="0">
                        <a:latin typeface="Calibri" charset="0"/>
                        <a:ea typeface="Calibri" charset="0"/>
                        <a:cs typeface="Calibri" charset="0"/>
                      </a:endParaRPr>
                    </a:p>
                  </a:txBody>
                  <a:tcPr marL="64008" marR="64008" marT="64008" marB="64008" anchor="ctr">
                    <a:lnL w="6350" cap="flat" cmpd="sng" algn="ctr">
                      <a:solidFill>
                        <a:srgbClr val="E4E9E1"/>
                      </a:solidFill>
                      <a:prstDash val="solid"/>
                      <a:round/>
                      <a:headEnd type="none" w="med" len="med"/>
                      <a:tailEnd type="none" w="med" len="med"/>
                    </a:lnL>
                    <a:lnR w="6350" cap="flat" cmpd="sng" algn="ctr">
                      <a:solidFill>
                        <a:srgbClr val="E4E9E1"/>
                      </a:solidFill>
                      <a:prstDash val="solid"/>
                      <a:round/>
                      <a:headEnd type="none" w="med" len="med"/>
                      <a:tailEnd type="none" w="med" len="med"/>
                    </a:lnR>
                    <a:lnT w="6350" cap="flat" cmpd="sng" algn="ctr">
                      <a:solidFill>
                        <a:srgbClr val="E4E9E1"/>
                      </a:solidFill>
                      <a:prstDash val="solid"/>
                      <a:round/>
                      <a:headEnd type="none" w="med" len="med"/>
                      <a:tailEnd type="none" w="med" len="med"/>
                    </a:lnT>
                    <a:lnB w="6350" cap="flat" cmpd="sng" algn="ctr">
                      <a:solidFill>
                        <a:srgbClr val="E4E9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5" name="Shape 2"/>
          <p:cNvSpPr/>
          <p:nvPr/>
        </p:nvSpPr>
        <p:spPr>
          <a:xfrm>
            <a:off x="548640" y="1371600"/>
            <a:ext cx="6675120" cy="384048"/>
          </a:xfrm>
          <a:prstGeom prst="rect">
            <a:avLst/>
          </a:prstGeom>
          <a:solidFill>
            <a:srgbClr val="2C5F2D"/>
          </a:solidFill>
          <a:ln w="12700">
            <a:solidFill>
              <a:srgbClr val="2C5F2D"/>
            </a:solidFill>
            <a:prstDash val="solid"/>
          </a:ln>
        </p:spPr>
        <p:txBody>
          <a:bodyPr/>
          <a:lstStyle/>
          <a:p>
            <a:endParaRPr lang="es-CL"/>
          </a:p>
        </p:txBody>
      </p:sp>
      <p:sp>
        <p:nvSpPr>
          <p:cNvPr id="6" name="Text 3"/>
          <p:cNvSpPr/>
          <p:nvPr/>
        </p:nvSpPr>
        <p:spPr>
          <a:xfrm>
            <a:off x="603504" y="1371600"/>
            <a:ext cx="1645920"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Feature</a:t>
            </a:r>
            <a:endParaRPr lang="en-US" sz="1100" dirty="0"/>
          </a:p>
        </p:txBody>
      </p:sp>
      <p:sp>
        <p:nvSpPr>
          <p:cNvPr id="7" name="Text 4"/>
          <p:cNvSpPr/>
          <p:nvPr/>
        </p:nvSpPr>
        <p:spPr>
          <a:xfrm>
            <a:off x="2249424" y="1371600"/>
            <a:ext cx="2148840"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Hallazgo del EDA que la motiva</a:t>
            </a:r>
            <a:endParaRPr lang="en-US" sz="1100" dirty="0"/>
          </a:p>
        </p:txBody>
      </p:sp>
      <p:sp>
        <p:nvSpPr>
          <p:cNvPr id="8" name="Text 5"/>
          <p:cNvSpPr/>
          <p:nvPr/>
        </p:nvSpPr>
        <p:spPr>
          <a:xfrm>
            <a:off x="4443984" y="1371600"/>
            <a:ext cx="2743200"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Problema que resuelve</a:t>
            </a:r>
            <a:endParaRPr lang="en-US" sz="1100" dirty="0"/>
          </a:p>
        </p:txBody>
      </p:sp>
      <p:graphicFrame>
        <p:nvGraphicFramePr>
          <p:cNvPr id="9" name="Chart 0"/>
          <p:cNvGraphicFramePr/>
          <p:nvPr/>
        </p:nvGraphicFramePr>
        <p:xfrm>
          <a:off x="7452360" y="1371600"/>
          <a:ext cx="3977640"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10" name="Shape 6"/>
          <p:cNvSpPr/>
          <p:nvPr/>
        </p:nvSpPr>
        <p:spPr>
          <a:xfrm>
            <a:off x="7452360" y="4709160"/>
            <a:ext cx="3977640" cy="1280160"/>
          </a:xfrm>
          <a:prstGeom prst="roundRect">
            <a:avLst>
              <a:gd name="adj" fmla="val 5714"/>
            </a:avLst>
          </a:prstGeom>
          <a:solidFill>
            <a:srgbClr val="F5F7F2"/>
          </a:solidFill>
          <a:ln w="12700">
            <a:solidFill>
              <a:srgbClr val="F5F7F2"/>
            </a:solidFill>
            <a:prstDash val="solid"/>
          </a:ln>
        </p:spPr>
        <p:txBody>
          <a:bodyPr/>
          <a:lstStyle/>
          <a:p>
            <a:endParaRPr lang="es-CL"/>
          </a:p>
        </p:txBody>
      </p:sp>
      <p:sp>
        <p:nvSpPr>
          <p:cNvPr id="4" name="Text 7"/>
          <p:cNvSpPr/>
          <p:nvPr/>
        </p:nvSpPr>
        <p:spPr>
          <a:xfrm>
            <a:off x="7635240" y="4828032"/>
            <a:ext cx="3657600" cy="256032"/>
          </a:xfrm>
          <a:prstGeom prst="rect">
            <a:avLst/>
          </a:prstGeom>
          <a:noFill/>
          <a:ln/>
        </p:spPr>
        <p:txBody>
          <a:bodyPr wrap="square" lIns="0" tIns="0" rIns="0" bIns="0" rtlCol="0" anchor="ctr"/>
          <a:lstStyle/>
          <a:p>
            <a:pPr marL="0" indent="0">
              <a:buNone/>
            </a:pPr>
            <a:r>
              <a:rPr lang="en-US" sz="1250" b="1" dirty="0">
                <a:solidFill>
                  <a:srgbClr val="2C5F2D"/>
                </a:solidFill>
                <a:latin typeface="Calibri" pitchFamily="34" charset="0"/>
                <a:ea typeface="Calibri" pitchFamily="34" charset="-122"/>
                <a:cs typeface="Calibri" pitchFamily="34" charset="-120"/>
              </a:rPr>
              <a:t>El correlograma lo anticipaba</a:t>
            </a:r>
            <a:endParaRPr lang="en-US" sz="1250" dirty="0"/>
          </a:p>
        </p:txBody>
      </p:sp>
      <p:sp>
        <p:nvSpPr>
          <p:cNvPr id="12" name="Text 8"/>
          <p:cNvSpPr/>
          <p:nvPr/>
        </p:nvSpPr>
        <p:spPr>
          <a:xfrm>
            <a:off x="7635240" y="5102352"/>
            <a:ext cx="3657600" cy="822960"/>
          </a:xfrm>
          <a:prstGeom prst="rect">
            <a:avLst/>
          </a:prstGeom>
          <a:noFill/>
          <a:ln/>
        </p:spPr>
        <p:txBody>
          <a:bodyPr wrap="square" lIns="0" tIns="0" rIns="0" bIns="0" rtlCol="0" anchor="ctr"/>
          <a:lstStyle/>
          <a:p>
            <a:pPr marL="0" indent="0">
              <a:buNone/>
            </a:pPr>
            <a:r>
              <a:rPr lang="en-US" sz="1050" dirty="0">
                <a:solidFill>
                  <a:srgbClr val="6B7280"/>
                </a:solidFill>
                <a:latin typeface="Calibri" pitchFamily="34" charset="0"/>
                <a:ea typeface="Calibri" pitchFamily="34" charset="-122"/>
                <a:cs typeface="Calibri" pitchFamily="34" charset="-120"/>
              </a:rPr>
              <a:t>Los lags dominan la importancia, tal como predijo la autocorrelación. Le siguen día laboral y hora: el commuting. El clima no aparece arriba porque afina los casos extremos, no el patrón base.</a:t>
            </a:r>
            <a:endParaRPr lang="en-US" sz="1050" dirty="0"/>
          </a:p>
        </p:txBody>
      </p:sp>
      <p:sp>
        <p:nvSpPr>
          <p:cNvPr id="13" name="Shape 9"/>
          <p:cNvSpPr/>
          <p:nvPr/>
        </p:nvSpPr>
        <p:spPr>
          <a:xfrm>
            <a:off x="548640" y="4709160"/>
            <a:ext cx="6675120" cy="1280160"/>
          </a:xfrm>
          <a:prstGeom prst="roundRect">
            <a:avLst>
              <a:gd name="adj" fmla="val 5714"/>
            </a:avLst>
          </a:prstGeom>
          <a:solidFill>
            <a:srgbClr val="1C3A1C"/>
          </a:solidFill>
          <a:ln w="12700">
            <a:solidFill>
              <a:srgbClr val="1C3A1C"/>
            </a:solidFill>
            <a:prstDash val="solid"/>
          </a:ln>
        </p:spPr>
        <p:txBody>
          <a:bodyPr/>
          <a:lstStyle/>
          <a:p>
            <a:endParaRPr lang="es-CL"/>
          </a:p>
        </p:txBody>
      </p:sp>
      <p:sp>
        <p:nvSpPr>
          <p:cNvPr id="14" name="Text 10"/>
          <p:cNvSpPr/>
          <p:nvPr/>
        </p:nvSpPr>
        <p:spPr>
          <a:xfrm>
            <a:off x="777240" y="4828032"/>
            <a:ext cx="6217920" cy="256032"/>
          </a:xfrm>
          <a:prstGeom prst="rect">
            <a:avLst/>
          </a:prstGeom>
          <a:noFill/>
          <a:ln/>
        </p:spPr>
        <p:txBody>
          <a:bodyPr wrap="square" lIns="0" tIns="0" rIns="0" bIns="0" rtlCol="0" anchor="ctr"/>
          <a:lstStyle/>
          <a:p>
            <a:pPr marL="0" indent="0">
              <a:buNone/>
            </a:pPr>
            <a:r>
              <a:rPr lang="en-US" sz="1250" b="1" dirty="0">
                <a:solidFill>
                  <a:srgbClr val="97BC62"/>
                </a:solidFill>
                <a:latin typeface="Calibri" pitchFamily="34" charset="0"/>
                <a:ea typeface="Calibri" pitchFamily="34" charset="-122"/>
                <a:cs typeface="Calibri" pitchFamily="34" charset="-120"/>
              </a:rPr>
              <a:t>Matiz honesto sobre la codificación cíclica</a:t>
            </a:r>
            <a:endParaRPr lang="en-US" sz="1250" dirty="0"/>
          </a:p>
        </p:txBody>
      </p:sp>
      <p:sp>
        <p:nvSpPr>
          <p:cNvPr id="15" name="Text 11"/>
          <p:cNvSpPr/>
          <p:nvPr/>
        </p:nvSpPr>
        <p:spPr>
          <a:xfrm>
            <a:off x="777240" y="5120640"/>
            <a:ext cx="6217920" cy="804672"/>
          </a:xfrm>
          <a:prstGeom prst="rect">
            <a:avLst/>
          </a:prstGeom>
          <a:noFill/>
          <a:ln/>
        </p:spPr>
        <p:txBody>
          <a:bodyPr wrap="square" lIns="0" tIns="0" rIns="0" bIns="0" rtlCol="0" anchor="ctr"/>
          <a:lstStyle/>
          <a:p>
            <a:pPr marL="0" indent="0">
              <a:buNone/>
            </a:pPr>
            <a:r>
              <a:rPr lang="en-US" sz="1050" dirty="0">
                <a:solidFill>
                  <a:srgbClr val="C9D6C2"/>
                </a:solidFill>
                <a:latin typeface="Calibri" pitchFamily="34" charset="0"/>
                <a:ea typeface="Calibri" pitchFamily="34" charset="-122"/>
                <a:cs typeface="Calibri" pitchFamily="34" charset="-120"/>
              </a:rPr>
              <a:t>Para árboles, sin/cos es menos crítica de lo que suele decirse: un árbol puede aislar la hora 23 y la 0 en hojas distintas sin que estén «cerca». La mantenemos por comparabilidad con los modelos lineales del benchmark —donde sí es imprescindible— y porque reduce la profundidad necesaria para representar el ciclo. Reconocerlo es parte del análisis crítico.</a:t>
            </a:r>
            <a:endParaRPr lang="en-US" sz="1050" dirty="0"/>
          </a:p>
        </p:txBody>
      </p:sp>
      <p:sp>
        <p:nvSpPr>
          <p:cNvPr id="16" name="Shape 12"/>
          <p:cNvSpPr/>
          <p:nvPr/>
        </p:nvSpPr>
        <p:spPr>
          <a:xfrm>
            <a:off x="548640" y="6236208"/>
            <a:ext cx="274320" cy="274320"/>
          </a:xfrm>
          <a:prstGeom prst="ellipse">
            <a:avLst/>
          </a:prstGeom>
          <a:solidFill>
            <a:srgbClr val="97BC62"/>
          </a:solidFill>
          <a:ln/>
        </p:spPr>
        <p:txBody>
          <a:bodyPr/>
          <a:lstStyle/>
          <a:p>
            <a:endParaRPr lang="es-CL"/>
          </a:p>
        </p:txBody>
      </p:sp>
      <p:sp>
        <p:nvSpPr>
          <p:cNvPr id="17" name="Text 13"/>
          <p:cNvSpPr/>
          <p:nvPr/>
        </p:nvSpPr>
        <p:spPr>
          <a:xfrm>
            <a:off x="548640" y="6236208"/>
            <a:ext cx="274320" cy="274320"/>
          </a:xfrm>
          <a:prstGeom prst="rect">
            <a:avLst/>
          </a:prstGeom>
          <a:noFill/>
          <a:ln/>
        </p:spPr>
        <p:txBody>
          <a:bodyPr wrap="square" lIns="0" tIns="0" rIns="0" bIns="0" rtlCol="0" anchor="ctr"/>
          <a:lstStyle/>
          <a:p>
            <a:pPr marL="0" indent="0" algn="ctr">
              <a:buNone/>
            </a:pPr>
            <a:r>
              <a:rPr lang="en-US" sz="1100" b="1" dirty="0">
                <a:solidFill>
                  <a:srgbClr val="1C3A1C"/>
                </a:solidFill>
                <a:latin typeface="Calibri" pitchFamily="34" charset="0"/>
                <a:ea typeface="Calibri" pitchFamily="34" charset="-122"/>
                <a:cs typeface="Calibri" pitchFamily="34" charset="-120"/>
              </a:rPr>
              <a:t>3</a:t>
            </a:r>
            <a:endParaRPr lang="en-US" sz="1100" dirty="0"/>
          </a:p>
        </p:txBody>
      </p:sp>
      <p:sp>
        <p:nvSpPr>
          <p:cNvPr id="18" name="Text 14"/>
          <p:cNvSpPr/>
          <p:nvPr/>
        </p:nvSpPr>
        <p:spPr>
          <a:xfrm>
            <a:off x="914400" y="6236208"/>
            <a:ext cx="5943600" cy="274320"/>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Matías Arauz — Ingeniería de características y modelado</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44933"/>
            <a:ext cx="11064240" cy="256032"/>
          </a:xfrm>
          <a:prstGeom prst="rect">
            <a:avLst/>
          </a:prstGeom>
          <a:noFill/>
          <a:ln/>
        </p:spPr>
        <p:txBody>
          <a:bodyPr wrap="square" lIns="0" tIns="0" rIns="0" bIns="0" rtlCol="0" anchor="ctr"/>
          <a:lstStyle/>
          <a:p>
            <a:pPr marL="0" indent="0">
              <a:buNone/>
            </a:pPr>
            <a:r>
              <a:rPr lang="en-US" sz="1200" b="1" kern="0" spc="200" dirty="0">
                <a:solidFill>
                  <a:srgbClr val="97BC62"/>
                </a:solidFill>
                <a:latin typeface="Calibri" pitchFamily="34" charset="0"/>
                <a:ea typeface="Calibri" pitchFamily="34" charset="-122"/>
                <a:cs typeface="Calibri" pitchFamily="34" charset="-120"/>
              </a:rPr>
              <a:t>MATÍAS ARAUZ · 3 DE 3</a:t>
            </a:r>
            <a:endParaRPr lang="en-US" sz="1200" dirty="0"/>
          </a:p>
        </p:txBody>
      </p:sp>
      <p:sp>
        <p:nvSpPr>
          <p:cNvPr id="3" name="Text 1"/>
          <p:cNvSpPr/>
          <p:nvPr/>
        </p:nvSpPr>
        <p:spPr>
          <a:xfrm>
            <a:off x="548640" y="566928"/>
            <a:ext cx="11064240" cy="658368"/>
          </a:xfrm>
          <a:prstGeom prst="rect">
            <a:avLst/>
          </a:prstGeom>
          <a:noFill/>
          <a:ln/>
        </p:spPr>
        <p:txBody>
          <a:bodyPr wrap="square" lIns="0" tIns="0" rIns="0" bIns="0" rtlCol="0" anchor="ctr"/>
          <a:lstStyle/>
          <a:p>
            <a:pPr marL="0" indent="0">
              <a:buNone/>
            </a:pPr>
            <a:r>
              <a:rPr lang="en-US" sz="3400" b="1" dirty="0">
                <a:solidFill>
                  <a:srgbClr val="2C5F2D"/>
                </a:solidFill>
                <a:latin typeface="Cambria" pitchFamily="34" charset="0"/>
                <a:ea typeface="Cambria" pitchFamily="34" charset="-122"/>
                <a:cs typeface="Cambria" pitchFamily="34" charset="-120"/>
              </a:rPr>
              <a:t>Modelado: split temporal y una vara de comparación honesta</a:t>
            </a:r>
            <a:endParaRPr lang="en-US" sz="3400" dirty="0"/>
          </a:p>
        </p:txBody>
      </p:sp>
      <p:graphicFrame>
        <p:nvGraphicFramePr>
          <p:cNvPr id="4" name="Chart 0"/>
          <p:cNvGraphicFramePr/>
          <p:nvPr/>
        </p:nvGraphicFramePr>
        <p:xfrm>
          <a:off x="548640" y="1371600"/>
          <a:ext cx="6675120" cy="301752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548640" y="4572000"/>
            <a:ext cx="2011680" cy="1234440"/>
          </a:xfrm>
          <a:prstGeom prst="roundRect">
            <a:avLst>
              <a:gd name="adj" fmla="val 5926"/>
            </a:avLst>
          </a:prstGeom>
          <a:solidFill>
            <a:srgbClr val="F5F7F2"/>
          </a:solidFill>
          <a:ln w="12700">
            <a:solidFill>
              <a:srgbClr val="F5F7F2"/>
            </a:solidFill>
            <a:prstDash val="solid"/>
          </a:ln>
          <a:effectLst>
            <a:outerShdw blurRad="101600" dist="25400" dir="5400000" algn="bl" rotWithShape="0">
              <a:srgbClr val="1C3A1C">
                <a:alpha val="10000"/>
              </a:srgbClr>
            </a:outerShdw>
          </a:effectLst>
        </p:spPr>
        <p:txBody>
          <a:bodyPr/>
          <a:lstStyle/>
          <a:p>
            <a:endParaRPr lang="es-CL"/>
          </a:p>
        </p:txBody>
      </p:sp>
      <p:sp>
        <p:nvSpPr>
          <p:cNvPr id="6" name="Text 3"/>
          <p:cNvSpPr/>
          <p:nvPr/>
        </p:nvSpPr>
        <p:spPr>
          <a:xfrm>
            <a:off x="548640" y="4700016"/>
            <a:ext cx="2011680" cy="592531"/>
          </a:xfrm>
          <a:prstGeom prst="rect">
            <a:avLst/>
          </a:prstGeom>
          <a:noFill/>
          <a:ln/>
        </p:spPr>
        <p:txBody>
          <a:bodyPr wrap="square" lIns="0" tIns="0" rIns="0" bIns="0" rtlCol="0" anchor="ctr"/>
          <a:lstStyle/>
          <a:p>
            <a:pPr marL="0" indent="0" algn="ctr">
              <a:buNone/>
            </a:pPr>
            <a:r>
              <a:rPr lang="en-US" sz="2600" b="1" dirty="0">
                <a:solidFill>
                  <a:srgbClr val="2C5F2D"/>
                </a:solidFill>
                <a:latin typeface="Cambria" pitchFamily="34" charset="0"/>
                <a:ea typeface="Cambria" pitchFamily="34" charset="-122"/>
                <a:cs typeface="Cambria" pitchFamily="34" charset="-120"/>
              </a:rPr>
              <a:t>0,961</a:t>
            </a:r>
            <a:endParaRPr lang="en-US" sz="2600" dirty="0"/>
          </a:p>
        </p:txBody>
      </p:sp>
      <p:sp>
        <p:nvSpPr>
          <p:cNvPr id="7" name="Text 4"/>
          <p:cNvSpPr/>
          <p:nvPr/>
        </p:nvSpPr>
        <p:spPr>
          <a:xfrm>
            <a:off x="658368" y="5287975"/>
            <a:ext cx="1792224" cy="444398"/>
          </a:xfrm>
          <a:prstGeom prst="rect">
            <a:avLst/>
          </a:prstGeom>
          <a:noFill/>
          <a:ln/>
        </p:spPr>
        <p:txBody>
          <a:bodyPr wrap="square" lIns="0" tIns="0" rIns="0" bIns="0" rtlCol="0" anchor="t"/>
          <a:lstStyle/>
          <a:p>
            <a:pPr marL="0" indent="0" algn="ctr">
              <a:buNone/>
            </a:pPr>
            <a:r>
              <a:rPr lang="en-US" sz="1050" dirty="0">
                <a:solidFill>
                  <a:srgbClr val="6B7280"/>
                </a:solidFill>
                <a:latin typeface="Calibri" pitchFamily="34" charset="0"/>
                <a:ea typeface="Calibri" pitchFamily="34" charset="-122"/>
                <a:cs typeface="Calibri" pitchFamily="34" charset="-120"/>
              </a:rPr>
              <a:t>R² del XGBoost en test</a:t>
            </a:r>
            <a:endParaRPr lang="en-US" sz="1050" dirty="0"/>
          </a:p>
        </p:txBody>
      </p:sp>
      <p:sp>
        <p:nvSpPr>
          <p:cNvPr id="8" name="Shape 5"/>
          <p:cNvSpPr/>
          <p:nvPr/>
        </p:nvSpPr>
        <p:spPr>
          <a:xfrm>
            <a:off x="2816352" y="4572000"/>
            <a:ext cx="2011680" cy="1234440"/>
          </a:xfrm>
          <a:prstGeom prst="roundRect">
            <a:avLst>
              <a:gd name="adj" fmla="val 5926"/>
            </a:avLst>
          </a:prstGeom>
          <a:solidFill>
            <a:srgbClr val="F5F7F2"/>
          </a:solidFill>
          <a:ln w="12700">
            <a:solidFill>
              <a:srgbClr val="F5F7F2"/>
            </a:solidFill>
            <a:prstDash val="solid"/>
          </a:ln>
          <a:effectLst>
            <a:outerShdw blurRad="101600" dist="25400" dir="5400000" algn="bl" rotWithShape="0">
              <a:srgbClr val="1C3A1C">
                <a:alpha val="10000"/>
              </a:srgbClr>
            </a:outerShdw>
          </a:effectLst>
        </p:spPr>
        <p:txBody>
          <a:bodyPr/>
          <a:lstStyle/>
          <a:p>
            <a:endParaRPr lang="es-CL"/>
          </a:p>
        </p:txBody>
      </p:sp>
      <p:sp>
        <p:nvSpPr>
          <p:cNvPr id="9" name="Text 6"/>
          <p:cNvSpPr/>
          <p:nvPr/>
        </p:nvSpPr>
        <p:spPr>
          <a:xfrm>
            <a:off x="2816352" y="4700016"/>
            <a:ext cx="2011680" cy="592531"/>
          </a:xfrm>
          <a:prstGeom prst="rect">
            <a:avLst/>
          </a:prstGeom>
          <a:noFill/>
          <a:ln/>
        </p:spPr>
        <p:txBody>
          <a:bodyPr wrap="square" lIns="0" tIns="0" rIns="0" bIns="0" rtlCol="0" anchor="ctr"/>
          <a:lstStyle/>
          <a:p>
            <a:pPr marL="0" indent="0" algn="ctr">
              <a:buNone/>
            </a:pPr>
            <a:r>
              <a:rPr lang="en-US" sz="2600" b="1" dirty="0">
                <a:solidFill>
                  <a:srgbClr val="2C5F2D"/>
                </a:solidFill>
                <a:latin typeface="Cambria" pitchFamily="34" charset="0"/>
                <a:ea typeface="Cambria" pitchFamily="34" charset="-122"/>
                <a:cs typeface="Cambria" pitchFamily="34" charset="-120"/>
              </a:rPr>
              <a:t>≈27</a:t>
            </a:r>
            <a:endParaRPr lang="en-US" sz="2600" dirty="0"/>
          </a:p>
        </p:txBody>
      </p:sp>
      <p:sp>
        <p:nvSpPr>
          <p:cNvPr id="10" name="Text 7"/>
          <p:cNvSpPr/>
          <p:nvPr/>
        </p:nvSpPr>
        <p:spPr>
          <a:xfrm>
            <a:off x="2926080" y="5287975"/>
            <a:ext cx="1792224" cy="444398"/>
          </a:xfrm>
          <a:prstGeom prst="rect">
            <a:avLst/>
          </a:prstGeom>
          <a:noFill/>
          <a:ln/>
        </p:spPr>
        <p:txBody>
          <a:bodyPr wrap="square" lIns="0" tIns="0" rIns="0" bIns="0" rtlCol="0" anchor="t"/>
          <a:lstStyle/>
          <a:p>
            <a:pPr marL="0" indent="0" algn="ctr">
              <a:buNone/>
            </a:pPr>
            <a:r>
              <a:rPr lang="en-US" sz="1050" dirty="0">
                <a:solidFill>
                  <a:srgbClr val="6B7280"/>
                </a:solidFill>
                <a:latin typeface="Calibri" pitchFamily="34" charset="0"/>
                <a:ea typeface="Calibri" pitchFamily="34" charset="-122"/>
                <a:cs typeface="Calibri" pitchFamily="34" charset="-120"/>
              </a:rPr>
              <a:t>MAE en bicicletas/hora</a:t>
            </a:r>
            <a:endParaRPr lang="en-US" sz="1050" dirty="0"/>
          </a:p>
        </p:txBody>
      </p:sp>
      <p:sp>
        <p:nvSpPr>
          <p:cNvPr id="11" name="Shape 8"/>
          <p:cNvSpPr/>
          <p:nvPr/>
        </p:nvSpPr>
        <p:spPr>
          <a:xfrm>
            <a:off x="5084064" y="4572000"/>
            <a:ext cx="2011680" cy="1234440"/>
          </a:xfrm>
          <a:prstGeom prst="roundRect">
            <a:avLst>
              <a:gd name="adj" fmla="val 5926"/>
            </a:avLst>
          </a:prstGeom>
          <a:solidFill>
            <a:srgbClr val="F5F7F2"/>
          </a:solidFill>
          <a:ln w="12700">
            <a:solidFill>
              <a:srgbClr val="F5F7F2"/>
            </a:solidFill>
            <a:prstDash val="solid"/>
          </a:ln>
          <a:effectLst>
            <a:outerShdw blurRad="101600" dist="25400" dir="5400000" algn="bl" rotWithShape="0">
              <a:srgbClr val="1C3A1C">
                <a:alpha val="10000"/>
              </a:srgbClr>
            </a:outerShdw>
          </a:effectLst>
        </p:spPr>
        <p:txBody>
          <a:bodyPr/>
          <a:lstStyle/>
          <a:p>
            <a:endParaRPr lang="es-CL"/>
          </a:p>
        </p:txBody>
      </p:sp>
      <p:sp>
        <p:nvSpPr>
          <p:cNvPr id="12" name="Text 9"/>
          <p:cNvSpPr/>
          <p:nvPr/>
        </p:nvSpPr>
        <p:spPr>
          <a:xfrm>
            <a:off x="5084064" y="4700016"/>
            <a:ext cx="2011680" cy="592531"/>
          </a:xfrm>
          <a:prstGeom prst="rect">
            <a:avLst/>
          </a:prstGeom>
          <a:noFill/>
          <a:ln/>
        </p:spPr>
        <p:txBody>
          <a:bodyPr wrap="square" lIns="0" tIns="0" rIns="0" bIns="0" rtlCol="0" anchor="ctr"/>
          <a:lstStyle/>
          <a:p>
            <a:pPr marL="0" indent="0" algn="ctr">
              <a:buNone/>
            </a:pPr>
            <a:r>
              <a:rPr lang="en-US" sz="2600" b="1" dirty="0">
                <a:solidFill>
                  <a:srgbClr val="2C5F2D"/>
                </a:solidFill>
                <a:latin typeface="Cambria" pitchFamily="34" charset="0"/>
                <a:ea typeface="Cambria" pitchFamily="34" charset="-122"/>
                <a:cs typeface="Cambria" pitchFamily="34" charset="-120"/>
              </a:rPr>
              <a:t>80/20</a:t>
            </a:r>
            <a:endParaRPr lang="en-US" sz="2600" dirty="0"/>
          </a:p>
        </p:txBody>
      </p:sp>
      <p:sp>
        <p:nvSpPr>
          <p:cNvPr id="13" name="Text 10"/>
          <p:cNvSpPr/>
          <p:nvPr/>
        </p:nvSpPr>
        <p:spPr>
          <a:xfrm>
            <a:off x="5193792" y="5287975"/>
            <a:ext cx="1792224" cy="444398"/>
          </a:xfrm>
          <a:prstGeom prst="rect">
            <a:avLst/>
          </a:prstGeom>
          <a:noFill/>
          <a:ln/>
        </p:spPr>
        <p:txBody>
          <a:bodyPr wrap="square" lIns="0" tIns="0" rIns="0" bIns="0" rtlCol="0" anchor="t"/>
          <a:lstStyle/>
          <a:p>
            <a:pPr marL="0" indent="0" algn="ctr">
              <a:buNone/>
            </a:pPr>
            <a:r>
              <a:rPr lang="en-US" sz="1050" dirty="0">
                <a:solidFill>
                  <a:srgbClr val="6B7280"/>
                </a:solidFill>
                <a:latin typeface="Calibri" pitchFamily="34" charset="0"/>
                <a:ea typeface="Calibri" pitchFamily="34" charset="-122"/>
                <a:cs typeface="Calibri" pitchFamily="34" charset="-120"/>
              </a:rPr>
              <a:t>split temporal, sin barajar</a:t>
            </a:r>
            <a:endParaRPr lang="en-US" sz="1050" dirty="0"/>
          </a:p>
        </p:txBody>
      </p:sp>
      <p:sp>
        <p:nvSpPr>
          <p:cNvPr id="14" name="Shape 11"/>
          <p:cNvSpPr/>
          <p:nvPr/>
        </p:nvSpPr>
        <p:spPr>
          <a:xfrm>
            <a:off x="7452360" y="1371600"/>
            <a:ext cx="3977640" cy="2148840"/>
          </a:xfrm>
          <a:prstGeom prst="roundRect">
            <a:avLst>
              <a:gd name="adj" fmla="val 3404"/>
            </a:avLst>
          </a:prstGeom>
          <a:solidFill>
            <a:srgbClr val="1C3A1C"/>
          </a:solidFill>
          <a:ln w="12700">
            <a:solidFill>
              <a:srgbClr val="1C3A1C"/>
            </a:solidFill>
            <a:prstDash val="solid"/>
          </a:ln>
        </p:spPr>
        <p:txBody>
          <a:bodyPr/>
          <a:lstStyle/>
          <a:p>
            <a:endParaRPr lang="es-CL"/>
          </a:p>
        </p:txBody>
      </p:sp>
      <p:sp>
        <p:nvSpPr>
          <p:cNvPr id="15" name="Text 12"/>
          <p:cNvSpPr/>
          <p:nvPr/>
        </p:nvSpPr>
        <p:spPr>
          <a:xfrm>
            <a:off x="7680960" y="1536192"/>
            <a:ext cx="3566160" cy="274320"/>
          </a:xfrm>
          <a:prstGeom prst="rect">
            <a:avLst/>
          </a:prstGeom>
          <a:noFill/>
          <a:ln/>
        </p:spPr>
        <p:txBody>
          <a:bodyPr wrap="square" lIns="0" tIns="0" rIns="0" bIns="0" rtlCol="0" anchor="ctr"/>
          <a:lstStyle/>
          <a:p>
            <a:pPr marL="0" indent="0">
              <a:buNone/>
            </a:pPr>
            <a:r>
              <a:rPr lang="en-US" sz="1400" b="1" dirty="0">
                <a:solidFill>
                  <a:srgbClr val="97BC62"/>
                </a:solidFill>
                <a:latin typeface="Calibri" pitchFamily="34" charset="0"/>
                <a:ea typeface="Calibri" pitchFamily="34" charset="-122"/>
                <a:cs typeface="Calibri" pitchFamily="34" charset="-120"/>
              </a:rPr>
              <a:t>Prohibido shuffle=True</a:t>
            </a:r>
            <a:endParaRPr lang="en-US" sz="1400" dirty="0"/>
          </a:p>
        </p:txBody>
      </p:sp>
      <p:sp>
        <p:nvSpPr>
          <p:cNvPr id="16" name="Text 13"/>
          <p:cNvSpPr/>
          <p:nvPr/>
        </p:nvSpPr>
        <p:spPr>
          <a:xfrm>
            <a:off x="7680960" y="1847088"/>
            <a:ext cx="3566160" cy="1463040"/>
          </a:xfrm>
          <a:prstGeom prst="rect">
            <a:avLst/>
          </a:prstGeom>
          <a:noFill/>
          <a:ln/>
        </p:spPr>
        <p:txBody>
          <a:bodyPr wrap="square" lIns="0" tIns="0" rIns="0" bIns="0" rtlCol="0" anchor="ctr"/>
          <a:lstStyle/>
          <a:p>
            <a:pPr marL="0" indent="0">
              <a:buNone/>
            </a:pPr>
            <a:r>
              <a:rPr lang="en-US" sz="1100" dirty="0">
                <a:solidFill>
                  <a:srgbClr val="C9D6C2"/>
                </a:solidFill>
                <a:latin typeface="Calibri" pitchFamily="34" charset="0"/>
                <a:ea typeface="Calibri" pitchFamily="34" charset="-122"/>
                <a:cs typeface="Calibri" pitchFamily="34" charset="-120"/>
              </a:rPr>
              <a:t>Hay tendencia y estacionalidad: entrenar con diciembre de 2012 para predecir marzo de 2012 es usar el futuro para predecir el pasado. Las métricas se inflarían y jamás se replicarían en producción. Por eso: split temporal 80/20 sin barajar y validación con TimeSeriesSplit.</a:t>
            </a:r>
            <a:endParaRPr lang="en-US" sz="1100" dirty="0"/>
          </a:p>
        </p:txBody>
      </p:sp>
      <p:sp>
        <p:nvSpPr>
          <p:cNvPr id="17" name="Shape 14"/>
          <p:cNvSpPr/>
          <p:nvPr/>
        </p:nvSpPr>
        <p:spPr>
          <a:xfrm>
            <a:off x="7452360" y="3703320"/>
            <a:ext cx="3977640" cy="2103120"/>
          </a:xfrm>
          <a:prstGeom prst="roundRect">
            <a:avLst>
              <a:gd name="adj" fmla="val 3478"/>
            </a:avLst>
          </a:prstGeom>
          <a:solidFill>
            <a:srgbClr val="FBF0E8"/>
          </a:solidFill>
          <a:ln w="12700">
            <a:solidFill>
              <a:srgbClr val="FBF0E8"/>
            </a:solidFill>
            <a:prstDash val="solid"/>
          </a:ln>
        </p:spPr>
        <p:txBody>
          <a:bodyPr/>
          <a:lstStyle/>
          <a:p>
            <a:endParaRPr lang="es-CL"/>
          </a:p>
        </p:txBody>
      </p:sp>
      <p:sp>
        <p:nvSpPr>
          <p:cNvPr id="18" name="Text 15"/>
          <p:cNvSpPr/>
          <p:nvPr/>
        </p:nvSpPr>
        <p:spPr>
          <a:xfrm>
            <a:off x="7680960" y="3858768"/>
            <a:ext cx="3566160" cy="274320"/>
          </a:xfrm>
          <a:prstGeom prst="rect">
            <a:avLst/>
          </a:prstGeom>
          <a:noFill/>
          <a:ln/>
        </p:spPr>
        <p:txBody>
          <a:bodyPr wrap="square" lIns="0" tIns="0" rIns="0" bIns="0" rtlCol="0" anchor="ctr"/>
          <a:lstStyle/>
          <a:p>
            <a:pPr marL="0" indent="0">
              <a:buNone/>
            </a:pPr>
            <a:r>
              <a:rPr lang="en-US" sz="1400" b="1" dirty="0">
                <a:solidFill>
                  <a:srgbClr val="C1440E"/>
                </a:solidFill>
                <a:latin typeface="Calibri" pitchFamily="34" charset="0"/>
                <a:ea typeface="Calibri" pitchFamily="34" charset="-122"/>
                <a:cs typeface="Calibri" pitchFamily="34" charset="-120"/>
              </a:rPr>
              <a:t>Un 0,96 hay que saber leerlo</a:t>
            </a:r>
            <a:endParaRPr lang="en-US" sz="1400" dirty="0"/>
          </a:p>
        </p:txBody>
      </p:sp>
      <p:sp>
        <p:nvSpPr>
          <p:cNvPr id="19" name="Text 16"/>
          <p:cNvSpPr/>
          <p:nvPr/>
        </p:nvSpPr>
        <p:spPr>
          <a:xfrm>
            <a:off x="7680960" y="4169664"/>
            <a:ext cx="3566160" cy="1554480"/>
          </a:xfrm>
          <a:prstGeom prst="rect">
            <a:avLst/>
          </a:prstGeom>
          <a:noFill/>
          <a:ln/>
        </p:spPr>
        <p:txBody>
          <a:bodyPr wrap="square" lIns="0" tIns="0" rIns="0" bIns="0" rtlCol="0" anchor="ctr"/>
          <a:lstStyle/>
          <a:p>
            <a:pPr marL="0" indent="0">
              <a:buNone/>
            </a:pPr>
            <a:r>
              <a:rPr lang="en-US" sz="1050" dirty="0">
                <a:solidFill>
                  <a:srgbClr val="24302A"/>
                </a:solidFill>
                <a:latin typeface="Calibri" pitchFamily="34" charset="0"/>
                <a:ea typeface="Calibri" pitchFamily="34" charset="-122"/>
                <a:cs typeface="Calibri" pitchFamily="34" charset="-120"/>
              </a:rPr>
              <a:t>Buena parte del ajuste viene de la inercia de la serie, no de «entender» la movilidad: el baseline ya alcanza 0,638 sin aprender nada. La comparación honesta es contra ese piso — el aporte real del clima, el calendario y el modelo es la mejora sobre él, especialmente en horas punta. Además, el test cae en el período de mayor demanda: el modelo se evalúa en un régimen que no vio y, al no extrapolar, tenderá a subestimar.</a:t>
            </a:r>
            <a:endParaRPr lang="en-US" sz="1050" dirty="0"/>
          </a:p>
        </p:txBody>
      </p:sp>
      <p:sp>
        <p:nvSpPr>
          <p:cNvPr id="20" name="Shape 17"/>
          <p:cNvSpPr/>
          <p:nvPr/>
        </p:nvSpPr>
        <p:spPr>
          <a:xfrm>
            <a:off x="3749040" y="4572000"/>
            <a:ext cx="3474720" cy="1234440"/>
          </a:xfrm>
          <a:prstGeom prst="roundRect">
            <a:avLst>
              <a:gd name="adj" fmla="val 5926"/>
            </a:avLst>
          </a:prstGeom>
          <a:solidFill>
            <a:srgbClr val="F5F7F2"/>
          </a:solidFill>
          <a:ln w="12700">
            <a:solidFill>
              <a:srgbClr val="F5F7F2"/>
            </a:solidFill>
            <a:prstDash val="solid"/>
          </a:ln>
        </p:spPr>
        <p:txBody>
          <a:bodyPr/>
          <a:lstStyle/>
          <a:p>
            <a:endParaRPr lang="es-CL"/>
          </a:p>
        </p:txBody>
      </p:sp>
      <p:sp>
        <p:nvSpPr>
          <p:cNvPr id="21" name="Text 18"/>
          <p:cNvSpPr/>
          <p:nvPr/>
        </p:nvSpPr>
        <p:spPr>
          <a:xfrm>
            <a:off x="3931920" y="4681728"/>
            <a:ext cx="3108960" cy="256032"/>
          </a:xfrm>
          <a:prstGeom prst="rect">
            <a:avLst/>
          </a:prstGeom>
          <a:noFill/>
          <a:ln/>
        </p:spPr>
        <p:txBody>
          <a:bodyPr wrap="square" lIns="0" tIns="0" rIns="0" bIns="0" rtlCol="0" anchor="ctr"/>
          <a:lstStyle/>
          <a:p>
            <a:pPr marL="0" indent="0">
              <a:buNone/>
            </a:pPr>
            <a:r>
              <a:rPr lang="en-US" sz="1250" b="1" dirty="0">
                <a:solidFill>
                  <a:srgbClr val="2C5F2D"/>
                </a:solidFill>
                <a:latin typeface="Calibri" pitchFamily="34" charset="0"/>
                <a:ea typeface="Calibri" pitchFamily="34" charset="-122"/>
                <a:cs typeface="Calibri" pitchFamily="34" charset="-120"/>
              </a:rPr>
              <a:t>Por qué XGBoost gana</a:t>
            </a:r>
            <a:endParaRPr lang="en-US" sz="1250" dirty="0"/>
          </a:p>
        </p:txBody>
      </p:sp>
      <p:sp>
        <p:nvSpPr>
          <p:cNvPr id="22" name="Text 19"/>
          <p:cNvSpPr/>
          <p:nvPr/>
        </p:nvSpPr>
        <p:spPr>
          <a:xfrm>
            <a:off x="3931920" y="4956048"/>
            <a:ext cx="3108960" cy="777240"/>
          </a:xfrm>
          <a:prstGeom prst="rect">
            <a:avLst/>
          </a:prstGeom>
          <a:noFill/>
          <a:ln/>
        </p:spPr>
        <p:txBody>
          <a:bodyPr wrap="square" lIns="0" tIns="0" rIns="0" bIns="0" rtlCol="0" anchor="ctr"/>
          <a:lstStyle/>
          <a:p>
            <a:pPr marL="0" indent="0">
              <a:buNone/>
            </a:pPr>
            <a:r>
              <a:rPr lang="en-US" sz="1050" dirty="0">
                <a:solidFill>
                  <a:srgbClr val="6B7280"/>
                </a:solidFill>
                <a:latin typeface="Calibri" pitchFamily="34" charset="0"/>
                <a:ea typeface="Calibri" pitchFamily="34" charset="-122"/>
                <a:cs typeface="Calibri" pitchFamily="34" charset="-120"/>
              </a:rPr>
              <a:t>La regresión lineal se queda en 0,831 porque no captura la interacción hora × día laboral. Los árboles la representan sin declararla: +0,13 de R² sobre el modelo lineal.</a:t>
            </a:r>
            <a:endParaRPr lang="en-US" sz="1050" dirty="0"/>
          </a:p>
        </p:txBody>
      </p:sp>
      <p:sp>
        <p:nvSpPr>
          <p:cNvPr id="23" name="Shape 20"/>
          <p:cNvSpPr/>
          <p:nvPr/>
        </p:nvSpPr>
        <p:spPr>
          <a:xfrm>
            <a:off x="548640" y="6236208"/>
            <a:ext cx="274320" cy="274320"/>
          </a:xfrm>
          <a:prstGeom prst="ellipse">
            <a:avLst/>
          </a:prstGeom>
          <a:solidFill>
            <a:srgbClr val="97BC62"/>
          </a:solidFill>
          <a:ln/>
        </p:spPr>
        <p:txBody>
          <a:bodyPr/>
          <a:lstStyle/>
          <a:p>
            <a:endParaRPr lang="es-CL"/>
          </a:p>
        </p:txBody>
      </p:sp>
      <p:sp>
        <p:nvSpPr>
          <p:cNvPr id="24" name="Text 21"/>
          <p:cNvSpPr/>
          <p:nvPr/>
        </p:nvSpPr>
        <p:spPr>
          <a:xfrm>
            <a:off x="548640" y="6236208"/>
            <a:ext cx="274320" cy="274320"/>
          </a:xfrm>
          <a:prstGeom prst="rect">
            <a:avLst/>
          </a:prstGeom>
          <a:noFill/>
          <a:ln/>
        </p:spPr>
        <p:txBody>
          <a:bodyPr wrap="square" lIns="0" tIns="0" rIns="0" bIns="0" rtlCol="0" anchor="ctr"/>
          <a:lstStyle/>
          <a:p>
            <a:pPr marL="0" indent="0" algn="ctr">
              <a:buNone/>
            </a:pPr>
            <a:r>
              <a:rPr lang="en-US" sz="1100" b="1" dirty="0">
                <a:solidFill>
                  <a:srgbClr val="1C3A1C"/>
                </a:solidFill>
                <a:latin typeface="Calibri" pitchFamily="34" charset="0"/>
                <a:ea typeface="Calibri" pitchFamily="34" charset="-122"/>
                <a:cs typeface="Calibri" pitchFamily="34" charset="-120"/>
              </a:rPr>
              <a:t>3</a:t>
            </a:r>
            <a:endParaRPr lang="en-US" sz="1100" dirty="0"/>
          </a:p>
        </p:txBody>
      </p:sp>
      <p:sp>
        <p:nvSpPr>
          <p:cNvPr id="25" name="Text 22"/>
          <p:cNvSpPr/>
          <p:nvPr/>
        </p:nvSpPr>
        <p:spPr>
          <a:xfrm>
            <a:off x="914400" y="6236208"/>
            <a:ext cx="5943600" cy="274320"/>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Matías Arauz — Ingeniería de características y modelado</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3880" y="128016"/>
            <a:ext cx="11064240" cy="256032"/>
          </a:xfrm>
          <a:prstGeom prst="rect">
            <a:avLst/>
          </a:prstGeom>
          <a:noFill/>
          <a:ln/>
        </p:spPr>
        <p:txBody>
          <a:bodyPr wrap="square" lIns="0" tIns="0" rIns="0" bIns="0" rtlCol="0" anchor="ctr"/>
          <a:lstStyle/>
          <a:p>
            <a:pPr marL="0" indent="0">
              <a:buNone/>
            </a:pPr>
            <a:r>
              <a:rPr lang="en-US" sz="1200" b="1" kern="0" spc="200" dirty="0">
                <a:solidFill>
                  <a:srgbClr val="97BC62"/>
                </a:solidFill>
                <a:latin typeface="Calibri" pitchFamily="34" charset="0"/>
                <a:ea typeface="Calibri" pitchFamily="34" charset="-122"/>
                <a:cs typeface="Calibri" pitchFamily="34" charset="-120"/>
              </a:rPr>
              <a:t>MICHELANGELO BANDELLI · 1 DE 3</a:t>
            </a:r>
            <a:endParaRPr lang="en-US" sz="1200" dirty="0"/>
          </a:p>
        </p:txBody>
      </p:sp>
      <p:sp>
        <p:nvSpPr>
          <p:cNvPr id="3" name="Text 1"/>
          <p:cNvSpPr/>
          <p:nvPr/>
        </p:nvSpPr>
        <p:spPr>
          <a:xfrm>
            <a:off x="548640" y="566928"/>
            <a:ext cx="11064240" cy="658368"/>
          </a:xfrm>
          <a:prstGeom prst="rect">
            <a:avLst/>
          </a:prstGeom>
          <a:noFill/>
          <a:ln/>
        </p:spPr>
        <p:txBody>
          <a:bodyPr wrap="square" lIns="0" tIns="0" rIns="0" bIns="0" rtlCol="0" anchor="ctr"/>
          <a:lstStyle/>
          <a:p>
            <a:pPr marL="0" indent="0">
              <a:buNone/>
            </a:pPr>
            <a:r>
              <a:rPr lang="en-US" sz="3400" b="1" dirty="0">
                <a:solidFill>
                  <a:srgbClr val="2C5F2D"/>
                </a:solidFill>
                <a:latin typeface="Cambria" pitchFamily="34" charset="0"/>
                <a:ea typeface="Cambria" pitchFamily="34" charset="-122"/>
                <a:cs typeface="Cambria" pitchFamily="34" charset="-120"/>
              </a:rPr>
              <a:t>Dashboard interactivo: el modelo puesto en manos del operador</a:t>
            </a:r>
            <a:endParaRPr lang="en-US" sz="3400" dirty="0"/>
          </a:p>
        </p:txBody>
      </p:sp>
      <p:sp>
        <p:nvSpPr>
          <p:cNvPr id="4" name="FIG_5"/>
          <p:cNvSpPr/>
          <p:nvPr/>
        </p:nvSpPr>
        <p:spPr>
          <a:xfrm>
            <a:off x="548640" y="1371600"/>
            <a:ext cx="6675120" cy="3794760"/>
          </a:xfrm>
          <a:prstGeom prst="roundRect">
            <a:avLst>
              <a:gd name="adj" fmla="val 1446"/>
            </a:avLst>
          </a:prstGeom>
          <a:solidFill>
            <a:srgbClr val="F5F7F2"/>
          </a:solidFill>
          <a:ln w="15875">
            <a:solidFill>
              <a:srgbClr val="97BC62"/>
            </a:solidFill>
            <a:prstDash val="dash"/>
          </a:ln>
        </p:spPr>
        <p:txBody>
          <a:bodyPr/>
          <a:lstStyle/>
          <a:p>
            <a:endParaRPr lang="es-CL"/>
          </a:p>
        </p:txBody>
      </p:sp>
      <p:sp>
        <p:nvSpPr>
          <p:cNvPr id="5" name="FIG_5_icono"/>
          <p:cNvSpPr/>
          <p:nvPr/>
        </p:nvSpPr>
        <p:spPr>
          <a:xfrm>
            <a:off x="548640" y="2702052"/>
            <a:ext cx="6675120" cy="365760"/>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6" name="FIG_5_titulo"/>
          <p:cNvSpPr/>
          <p:nvPr/>
        </p:nvSpPr>
        <p:spPr>
          <a:xfrm>
            <a:off x="731520" y="3049524"/>
            <a:ext cx="6309360" cy="256032"/>
          </a:xfrm>
          <a:prstGeom prst="rect">
            <a:avLst/>
          </a:prstGeom>
          <a:noFill/>
          <a:ln/>
        </p:spPr>
        <p:txBody>
          <a:bodyPr wrap="square" lIns="0" tIns="0" rIns="0" bIns="0" rtlCol="0" anchor="ctr"/>
          <a:lstStyle/>
          <a:p>
            <a:pPr marL="0" indent="0" algn="ctr">
              <a:buNone/>
            </a:pPr>
            <a:r>
              <a:rPr lang="en-US" sz="1300" b="1" dirty="0">
                <a:solidFill>
                  <a:srgbClr val="2C5F2D"/>
                </a:solidFill>
                <a:latin typeface="Calibri" pitchFamily="34" charset="0"/>
                <a:ea typeface="Calibri" pitchFamily="34" charset="-122"/>
                <a:cs typeface="Calibri" pitchFamily="34" charset="-120"/>
              </a:rPr>
              <a:t>FIG_5</a:t>
            </a:r>
            <a:endParaRPr lang="en-US" sz="1300" dirty="0"/>
          </a:p>
        </p:txBody>
      </p:sp>
      <p:sp>
        <p:nvSpPr>
          <p:cNvPr id="7" name="FIG_5_pie"/>
          <p:cNvSpPr/>
          <p:nvPr/>
        </p:nvSpPr>
        <p:spPr>
          <a:xfrm>
            <a:off x="822960" y="3305556"/>
            <a:ext cx="6126480" cy="457200"/>
          </a:xfrm>
          <a:prstGeom prst="rect">
            <a:avLst/>
          </a:prstGeom>
          <a:noFill/>
          <a:ln/>
        </p:spPr>
        <p:txBody>
          <a:bodyPr wrap="square" lIns="0" tIns="0" rIns="0" bIns="0" rtlCol="0" anchor="ctr"/>
          <a:lstStyle/>
          <a:p>
            <a:pPr marL="0" indent="0" algn="ctr">
              <a:buNone/>
            </a:pPr>
            <a:r>
              <a:rPr lang="en-US" sz="1050" dirty="0">
                <a:solidFill>
                  <a:srgbClr val="6B7280"/>
                </a:solidFill>
                <a:latin typeface="Calibri" pitchFamily="34" charset="0"/>
                <a:ea typeface="Calibri" pitchFamily="34" charset="-122"/>
                <a:cs typeface="Calibri" pitchFamily="34" charset="-120"/>
              </a:rPr>
              <a:t>Captura del dashboard Dash + Plotly corriendo en :8050</a:t>
            </a:r>
            <a:endParaRPr lang="en-US" sz="1050" dirty="0"/>
          </a:p>
        </p:txBody>
      </p:sp>
      <p:sp>
        <p:nvSpPr>
          <p:cNvPr id="8" name="FIG_5_archivo"/>
          <p:cNvSpPr/>
          <p:nvPr/>
        </p:nvSpPr>
        <p:spPr>
          <a:xfrm>
            <a:off x="731520" y="4782312"/>
            <a:ext cx="6309360" cy="237744"/>
          </a:xfrm>
          <a:prstGeom prst="rect">
            <a:avLst/>
          </a:prstGeom>
          <a:noFill/>
          <a:ln/>
        </p:spPr>
        <p:txBody>
          <a:bodyPr wrap="square" lIns="0" tIns="0" rIns="0" bIns="0" rtlCol="0" anchor="ctr"/>
          <a:lstStyle/>
          <a:p>
            <a:pPr marL="0" indent="0" algn="ctr">
              <a:buNone/>
            </a:pPr>
            <a:r>
              <a:rPr lang="en-US" sz="900" dirty="0">
                <a:solidFill>
                  <a:srgbClr val="97BC62"/>
                </a:solidFill>
                <a:latin typeface="Courier New" pitchFamily="34" charset="0"/>
                <a:ea typeface="Courier New" pitchFamily="34" charset="-122"/>
                <a:cs typeface="Courier New" pitchFamily="34" charset="-120"/>
              </a:rPr>
              <a:t>figuras/05_dashboard.png</a:t>
            </a:r>
            <a:endParaRPr lang="en-US" sz="900" dirty="0"/>
          </a:p>
        </p:txBody>
      </p:sp>
      <p:sp>
        <p:nvSpPr>
          <p:cNvPr id="9" name="Shape 7"/>
          <p:cNvSpPr/>
          <p:nvPr/>
        </p:nvSpPr>
        <p:spPr>
          <a:xfrm>
            <a:off x="7498080" y="1371600"/>
            <a:ext cx="3931920" cy="1170432"/>
          </a:xfrm>
          <a:prstGeom prst="roundRect">
            <a:avLst>
              <a:gd name="adj" fmla="val 6250"/>
            </a:avLst>
          </a:prstGeom>
          <a:solidFill>
            <a:srgbClr val="F5F7F2"/>
          </a:solidFill>
          <a:ln w="12700">
            <a:solidFill>
              <a:srgbClr val="F5F7F2"/>
            </a:solidFill>
            <a:prstDash val="solid"/>
          </a:ln>
          <a:effectLst>
            <a:outerShdw blurRad="101600" dist="25400" dir="5400000" algn="bl" rotWithShape="0">
              <a:srgbClr val="1C3A1C">
                <a:alpha val="10000"/>
              </a:srgbClr>
            </a:outerShdw>
          </a:effectLst>
        </p:spPr>
        <p:txBody>
          <a:bodyPr/>
          <a:lstStyle/>
          <a:p>
            <a:endParaRPr lang="es-CL"/>
          </a:p>
        </p:txBody>
      </p:sp>
      <p:sp>
        <p:nvSpPr>
          <p:cNvPr id="10" name="Shape 8"/>
          <p:cNvSpPr/>
          <p:nvPr/>
        </p:nvSpPr>
        <p:spPr>
          <a:xfrm>
            <a:off x="7754112" y="1682496"/>
            <a:ext cx="548640" cy="548640"/>
          </a:xfrm>
          <a:prstGeom prst="ellipse">
            <a:avLst/>
          </a:prstGeom>
          <a:solidFill>
            <a:srgbClr val="97BC62"/>
          </a:solidFill>
          <a:ln/>
        </p:spPr>
        <p:txBody>
          <a:bodyPr/>
          <a:lstStyle/>
          <a:p>
            <a:endParaRPr lang="es-CL"/>
          </a:p>
        </p:txBody>
      </p:sp>
      <p:sp>
        <p:nvSpPr>
          <p:cNvPr id="11" name="Text 9"/>
          <p:cNvSpPr/>
          <p:nvPr/>
        </p:nvSpPr>
        <p:spPr>
          <a:xfrm>
            <a:off x="7754112" y="1682496"/>
            <a:ext cx="548640" cy="54864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12" name="Text 10"/>
          <p:cNvSpPr/>
          <p:nvPr/>
        </p:nvSpPr>
        <p:spPr>
          <a:xfrm>
            <a:off x="8430768" y="1554480"/>
            <a:ext cx="2743200" cy="274320"/>
          </a:xfrm>
          <a:prstGeom prst="rect">
            <a:avLst/>
          </a:prstGeom>
          <a:noFill/>
          <a:ln/>
        </p:spPr>
        <p:txBody>
          <a:bodyPr wrap="square" lIns="0" tIns="0" rIns="0" bIns="0" rtlCol="0" anchor="ctr"/>
          <a:lstStyle/>
          <a:p>
            <a:pPr marL="0" indent="0">
              <a:buNone/>
            </a:pPr>
            <a:r>
              <a:rPr lang="en-US" sz="1500" b="1" dirty="0">
                <a:solidFill>
                  <a:srgbClr val="2C5F2D"/>
                </a:solidFill>
                <a:latin typeface="Calibri" pitchFamily="34" charset="0"/>
                <a:ea typeface="Calibri" pitchFamily="34" charset="-122"/>
                <a:cs typeface="Calibri" pitchFamily="34" charset="-120"/>
              </a:rPr>
              <a:t>Vista general</a:t>
            </a:r>
            <a:endParaRPr lang="en-US" sz="1500" dirty="0"/>
          </a:p>
        </p:txBody>
      </p:sp>
      <p:sp>
        <p:nvSpPr>
          <p:cNvPr id="13" name="Text 11"/>
          <p:cNvSpPr/>
          <p:nvPr/>
        </p:nvSpPr>
        <p:spPr>
          <a:xfrm>
            <a:off x="8430768" y="1847088"/>
            <a:ext cx="2743200" cy="548640"/>
          </a:xfrm>
          <a:prstGeom prst="rect">
            <a:avLst/>
          </a:prstGeom>
          <a:noFill/>
          <a:ln/>
        </p:spPr>
        <p:txBody>
          <a:bodyPr wrap="square" lIns="0" tIns="0" rIns="0" bIns="0" rtlCol="0" anchor="t"/>
          <a:lstStyle/>
          <a:p>
            <a:pPr marL="0" indent="0">
              <a:buNone/>
            </a:pPr>
            <a:r>
              <a:rPr lang="en-US" sz="1200" dirty="0">
                <a:solidFill>
                  <a:srgbClr val="6B7280"/>
                </a:solidFill>
                <a:latin typeface="Calibri" pitchFamily="34" charset="0"/>
                <a:ea typeface="Calibri" pitchFamily="34" charset="-122"/>
                <a:cs typeface="Calibri" pitchFamily="34" charset="-120"/>
              </a:rPr>
              <a:t>KPIs, serie temporal, heatmap hora × día y clima vs. demanda.</a:t>
            </a:r>
            <a:endParaRPr lang="en-US" sz="1200" dirty="0"/>
          </a:p>
        </p:txBody>
      </p:sp>
      <p:sp>
        <p:nvSpPr>
          <p:cNvPr id="14" name="Shape 12"/>
          <p:cNvSpPr/>
          <p:nvPr/>
        </p:nvSpPr>
        <p:spPr>
          <a:xfrm>
            <a:off x="7498080" y="2697480"/>
            <a:ext cx="3931920" cy="1170432"/>
          </a:xfrm>
          <a:prstGeom prst="roundRect">
            <a:avLst>
              <a:gd name="adj" fmla="val 6250"/>
            </a:avLst>
          </a:prstGeom>
          <a:solidFill>
            <a:srgbClr val="F5F7F2"/>
          </a:solidFill>
          <a:ln w="12700">
            <a:solidFill>
              <a:srgbClr val="F5F7F2"/>
            </a:solidFill>
            <a:prstDash val="solid"/>
          </a:ln>
          <a:effectLst>
            <a:outerShdw blurRad="101600" dist="25400" dir="5400000" algn="bl" rotWithShape="0">
              <a:srgbClr val="1C3A1C">
                <a:alpha val="10000"/>
              </a:srgbClr>
            </a:outerShdw>
          </a:effectLst>
        </p:spPr>
        <p:txBody>
          <a:bodyPr/>
          <a:lstStyle/>
          <a:p>
            <a:endParaRPr lang="es-CL"/>
          </a:p>
        </p:txBody>
      </p:sp>
      <p:sp>
        <p:nvSpPr>
          <p:cNvPr id="15" name="Shape 13"/>
          <p:cNvSpPr/>
          <p:nvPr/>
        </p:nvSpPr>
        <p:spPr>
          <a:xfrm>
            <a:off x="7754112" y="3008376"/>
            <a:ext cx="548640" cy="548640"/>
          </a:xfrm>
          <a:prstGeom prst="ellipse">
            <a:avLst/>
          </a:prstGeom>
          <a:solidFill>
            <a:srgbClr val="97BC62"/>
          </a:solidFill>
          <a:ln/>
        </p:spPr>
        <p:txBody>
          <a:bodyPr/>
          <a:lstStyle/>
          <a:p>
            <a:endParaRPr lang="es-CL"/>
          </a:p>
        </p:txBody>
      </p:sp>
      <p:sp>
        <p:nvSpPr>
          <p:cNvPr id="16" name="Text 14"/>
          <p:cNvSpPr/>
          <p:nvPr/>
        </p:nvSpPr>
        <p:spPr>
          <a:xfrm>
            <a:off x="7754112" y="3008376"/>
            <a:ext cx="548640" cy="54864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17" name="Text 15"/>
          <p:cNvSpPr/>
          <p:nvPr/>
        </p:nvSpPr>
        <p:spPr>
          <a:xfrm>
            <a:off x="8430768" y="2880360"/>
            <a:ext cx="2743200" cy="274320"/>
          </a:xfrm>
          <a:prstGeom prst="rect">
            <a:avLst/>
          </a:prstGeom>
          <a:noFill/>
          <a:ln/>
        </p:spPr>
        <p:txBody>
          <a:bodyPr wrap="square" lIns="0" tIns="0" rIns="0" bIns="0" rtlCol="0" anchor="ctr"/>
          <a:lstStyle/>
          <a:p>
            <a:pPr marL="0" indent="0">
              <a:buNone/>
            </a:pPr>
            <a:r>
              <a:rPr lang="en-US" sz="1500" b="1" dirty="0">
                <a:solidFill>
                  <a:srgbClr val="2C5F2D"/>
                </a:solidFill>
                <a:latin typeface="Calibri" pitchFamily="34" charset="0"/>
                <a:ea typeface="Calibri" pitchFamily="34" charset="-122"/>
                <a:cs typeface="Calibri" pitchFamily="34" charset="-120"/>
              </a:rPr>
              <a:t>Pestaña Modelo</a:t>
            </a:r>
            <a:endParaRPr lang="en-US" sz="1500" dirty="0"/>
          </a:p>
        </p:txBody>
      </p:sp>
      <p:sp>
        <p:nvSpPr>
          <p:cNvPr id="18" name="Text 16"/>
          <p:cNvSpPr/>
          <p:nvPr/>
        </p:nvSpPr>
        <p:spPr>
          <a:xfrm>
            <a:off x="8430768" y="3172968"/>
            <a:ext cx="2743200" cy="548640"/>
          </a:xfrm>
          <a:prstGeom prst="rect">
            <a:avLst/>
          </a:prstGeom>
          <a:noFill/>
          <a:ln/>
        </p:spPr>
        <p:txBody>
          <a:bodyPr wrap="square" lIns="0" tIns="0" rIns="0" bIns="0" rtlCol="0" anchor="t"/>
          <a:lstStyle/>
          <a:p>
            <a:pPr marL="0" indent="0">
              <a:buNone/>
            </a:pPr>
            <a:r>
              <a:rPr lang="en-US" sz="1200" dirty="0">
                <a:solidFill>
                  <a:srgbClr val="6B7280"/>
                </a:solidFill>
                <a:latin typeface="Calibri" pitchFamily="34" charset="0"/>
                <a:ea typeface="Calibri" pitchFamily="34" charset="-122"/>
                <a:cs typeface="Calibri" pitchFamily="34" charset="-120"/>
              </a:rPr>
              <a:t>Predicho vs. real e importancia de variables.</a:t>
            </a:r>
            <a:endParaRPr lang="en-US" sz="1200" dirty="0"/>
          </a:p>
        </p:txBody>
      </p:sp>
      <p:sp>
        <p:nvSpPr>
          <p:cNvPr id="19" name="Shape 17"/>
          <p:cNvSpPr/>
          <p:nvPr/>
        </p:nvSpPr>
        <p:spPr>
          <a:xfrm>
            <a:off x="7498080" y="4023360"/>
            <a:ext cx="3931920" cy="1170432"/>
          </a:xfrm>
          <a:prstGeom prst="roundRect">
            <a:avLst>
              <a:gd name="adj" fmla="val 6250"/>
            </a:avLst>
          </a:prstGeom>
          <a:solidFill>
            <a:srgbClr val="F5F7F2"/>
          </a:solidFill>
          <a:ln w="12700">
            <a:solidFill>
              <a:srgbClr val="F5F7F2"/>
            </a:solidFill>
            <a:prstDash val="solid"/>
          </a:ln>
          <a:effectLst>
            <a:outerShdw blurRad="101600" dist="25400" dir="5400000" algn="bl" rotWithShape="0">
              <a:srgbClr val="1C3A1C">
                <a:alpha val="10000"/>
              </a:srgbClr>
            </a:outerShdw>
          </a:effectLst>
        </p:spPr>
        <p:txBody>
          <a:bodyPr/>
          <a:lstStyle/>
          <a:p>
            <a:endParaRPr lang="es-CL"/>
          </a:p>
        </p:txBody>
      </p:sp>
      <p:sp>
        <p:nvSpPr>
          <p:cNvPr id="20" name="Shape 18"/>
          <p:cNvSpPr/>
          <p:nvPr/>
        </p:nvSpPr>
        <p:spPr>
          <a:xfrm>
            <a:off x="7754112" y="4334256"/>
            <a:ext cx="548640" cy="548640"/>
          </a:xfrm>
          <a:prstGeom prst="ellipse">
            <a:avLst/>
          </a:prstGeom>
          <a:solidFill>
            <a:srgbClr val="97BC62"/>
          </a:solidFill>
          <a:ln/>
        </p:spPr>
        <p:txBody>
          <a:bodyPr/>
          <a:lstStyle/>
          <a:p>
            <a:endParaRPr lang="es-CL"/>
          </a:p>
        </p:txBody>
      </p:sp>
      <p:sp>
        <p:nvSpPr>
          <p:cNvPr id="21" name="Text 19"/>
          <p:cNvSpPr/>
          <p:nvPr/>
        </p:nvSpPr>
        <p:spPr>
          <a:xfrm>
            <a:off x="7754112" y="4334256"/>
            <a:ext cx="548640" cy="54864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22" name="Text 20"/>
          <p:cNvSpPr/>
          <p:nvPr/>
        </p:nvSpPr>
        <p:spPr>
          <a:xfrm>
            <a:off x="8430768" y="4206240"/>
            <a:ext cx="2743200" cy="274320"/>
          </a:xfrm>
          <a:prstGeom prst="rect">
            <a:avLst/>
          </a:prstGeom>
          <a:noFill/>
          <a:ln/>
        </p:spPr>
        <p:txBody>
          <a:bodyPr wrap="square" lIns="0" tIns="0" rIns="0" bIns="0" rtlCol="0" anchor="ctr"/>
          <a:lstStyle/>
          <a:p>
            <a:pPr marL="0" indent="0">
              <a:buNone/>
            </a:pPr>
            <a:r>
              <a:rPr lang="en-US" sz="1500" b="1" dirty="0">
                <a:solidFill>
                  <a:srgbClr val="2C5F2D"/>
                </a:solidFill>
                <a:latin typeface="Calibri" pitchFamily="34" charset="0"/>
                <a:ea typeface="Calibri" pitchFamily="34" charset="-122"/>
                <a:cs typeface="Calibri" pitchFamily="34" charset="-120"/>
              </a:rPr>
              <a:t>Pestaña Predicción</a:t>
            </a:r>
            <a:endParaRPr lang="en-US" sz="1500" dirty="0"/>
          </a:p>
        </p:txBody>
      </p:sp>
      <p:sp>
        <p:nvSpPr>
          <p:cNvPr id="23" name="Text 21"/>
          <p:cNvSpPr/>
          <p:nvPr/>
        </p:nvSpPr>
        <p:spPr>
          <a:xfrm>
            <a:off x="8430768" y="4498848"/>
            <a:ext cx="2743200" cy="548640"/>
          </a:xfrm>
          <a:prstGeom prst="rect">
            <a:avLst/>
          </a:prstGeom>
          <a:noFill/>
          <a:ln/>
        </p:spPr>
        <p:txBody>
          <a:bodyPr wrap="square" lIns="0" tIns="0" rIns="0" bIns="0" rtlCol="0" anchor="t"/>
          <a:lstStyle/>
          <a:p>
            <a:pPr marL="0" indent="0">
              <a:buNone/>
            </a:pPr>
            <a:r>
              <a:rPr lang="en-US" sz="1200" dirty="0">
                <a:solidFill>
                  <a:srgbClr val="6B7280"/>
                </a:solidFill>
                <a:latin typeface="Calibri" pitchFamily="34" charset="0"/>
                <a:ea typeface="Calibri" pitchFamily="34" charset="-122"/>
                <a:cs typeface="Calibri" pitchFamily="34" charset="-120"/>
              </a:rPr>
              <a:t>Sliders de hora y clima: la demanda estimada se recalcula al instante.</a:t>
            </a:r>
            <a:endParaRPr lang="en-US" sz="1200" dirty="0"/>
          </a:p>
        </p:txBody>
      </p:sp>
      <p:sp>
        <p:nvSpPr>
          <p:cNvPr id="24" name="Shape 22"/>
          <p:cNvSpPr/>
          <p:nvPr/>
        </p:nvSpPr>
        <p:spPr>
          <a:xfrm>
            <a:off x="7498080" y="5349240"/>
            <a:ext cx="3931920" cy="502920"/>
          </a:xfrm>
          <a:prstGeom prst="roundRect">
            <a:avLst>
              <a:gd name="adj" fmla="val 10909"/>
            </a:avLst>
          </a:prstGeom>
          <a:solidFill>
            <a:srgbClr val="1C3A1C"/>
          </a:solidFill>
          <a:ln w="12700">
            <a:solidFill>
              <a:srgbClr val="1C3A1C"/>
            </a:solidFill>
            <a:prstDash val="solid"/>
          </a:ln>
        </p:spPr>
        <p:txBody>
          <a:bodyPr/>
          <a:lstStyle/>
          <a:p>
            <a:endParaRPr lang="es-CL"/>
          </a:p>
        </p:txBody>
      </p:sp>
      <p:sp>
        <p:nvSpPr>
          <p:cNvPr id="25" name="Text 23"/>
          <p:cNvSpPr/>
          <p:nvPr/>
        </p:nvSpPr>
        <p:spPr>
          <a:xfrm>
            <a:off x="7498080" y="5349240"/>
            <a:ext cx="3931920" cy="502920"/>
          </a:xfrm>
          <a:prstGeom prst="rect">
            <a:avLst/>
          </a:prstGeom>
          <a:noFill/>
          <a:ln/>
        </p:spPr>
        <p:txBody>
          <a:bodyPr wrap="square" lIns="0" tIns="0" rIns="0" bIns="0" rtlCol="0" anchor="ctr"/>
          <a:lstStyle/>
          <a:p>
            <a:pPr marL="0" indent="0" algn="ctr">
              <a:buNone/>
            </a:pPr>
            <a:r>
              <a:rPr lang="en-US" sz="1100" dirty="0">
                <a:solidFill>
                  <a:srgbClr val="C9D6C2"/>
                </a:solidFill>
                <a:latin typeface="Calibri" pitchFamily="34" charset="0"/>
                <a:ea typeface="Calibri" pitchFamily="34" charset="-122"/>
                <a:cs typeface="Calibri" pitchFamily="34" charset="-120"/>
              </a:rPr>
              <a:t>Las mismas figuras Plotly del notebook, ahora servidas en vivo</a:t>
            </a:r>
            <a:endParaRPr lang="en-US" sz="1100" dirty="0"/>
          </a:p>
        </p:txBody>
      </p:sp>
      <p:sp>
        <p:nvSpPr>
          <p:cNvPr id="26" name="Text 24"/>
          <p:cNvSpPr/>
          <p:nvPr/>
        </p:nvSpPr>
        <p:spPr>
          <a:xfrm>
            <a:off x="548640" y="5303520"/>
            <a:ext cx="6675120" cy="548640"/>
          </a:xfrm>
          <a:prstGeom prst="rect">
            <a:avLst/>
          </a:prstGeom>
          <a:noFill/>
          <a:ln/>
        </p:spPr>
        <p:txBody>
          <a:bodyPr wrap="square" lIns="0" tIns="0" rIns="0" bIns="0" rtlCol="0" anchor="ctr"/>
          <a:lstStyle/>
          <a:p>
            <a:pPr marL="0" indent="0">
              <a:buNone/>
            </a:pPr>
            <a:r>
              <a:rPr lang="en-US" sz="1150" i="1" dirty="0">
                <a:solidFill>
                  <a:srgbClr val="6B7280"/>
                </a:solidFill>
                <a:latin typeface="Calibri" pitchFamily="34" charset="0"/>
                <a:ea typeface="Calibri" pitchFamily="34" charset="-122"/>
                <a:cs typeface="Calibri" pitchFamily="34" charset="-120"/>
              </a:rPr>
              <a:t>Los gráficos del EDA no se quedaron en el notebook: Plotly permite que la misma figura interactiva —zoom, tooltips, series conmutables— se sirva en el dashboard sin reescribirla.</a:t>
            </a:r>
            <a:endParaRPr lang="en-US" sz="1150" dirty="0"/>
          </a:p>
        </p:txBody>
      </p:sp>
      <p:sp>
        <p:nvSpPr>
          <p:cNvPr id="27" name="Shape 25"/>
          <p:cNvSpPr/>
          <p:nvPr/>
        </p:nvSpPr>
        <p:spPr>
          <a:xfrm>
            <a:off x="548640" y="6236208"/>
            <a:ext cx="274320" cy="274320"/>
          </a:xfrm>
          <a:prstGeom prst="ellipse">
            <a:avLst/>
          </a:prstGeom>
          <a:solidFill>
            <a:srgbClr val="97BC62"/>
          </a:solidFill>
          <a:ln/>
        </p:spPr>
        <p:txBody>
          <a:bodyPr/>
          <a:lstStyle/>
          <a:p>
            <a:endParaRPr lang="es-CL"/>
          </a:p>
        </p:txBody>
      </p:sp>
      <p:sp>
        <p:nvSpPr>
          <p:cNvPr id="28" name="Text 26"/>
          <p:cNvSpPr/>
          <p:nvPr/>
        </p:nvSpPr>
        <p:spPr>
          <a:xfrm>
            <a:off x="548640" y="6236208"/>
            <a:ext cx="274320" cy="274320"/>
          </a:xfrm>
          <a:prstGeom prst="rect">
            <a:avLst/>
          </a:prstGeom>
          <a:noFill/>
          <a:ln/>
        </p:spPr>
        <p:txBody>
          <a:bodyPr wrap="square" lIns="0" tIns="0" rIns="0" bIns="0" rtlCol="0" anchor="ctr"/>
          <a:lstStyle/>
          <a:p>
            <a:pPr marL="0" indent="0" algn="ctr">
              <a:buNone/>
            </a:pPr>
            <a:r>
              <a:rPr lang="en-US" sz="1100" b="1" dirty="0">
                <a:solidFill>
                  <a:srgbClr val="1C3A1C"/>
                </a:solidFill>
                <a:latin typeface="Calibri" pitchFamily="34" charset="0"/>
                <a:ea typeface="Calibri" pitchFamily="34" charset="-122"/>
                <a:cs typeface="Calibri" pitchFamily="34" charset="-120"/>
              </a:rPr>
              <a:t>4</a:t>
            </a:r>
            <a:endParaRPr lang="en-US" sz="1100" dirty="0"/>
          </a:p>
        </p:txBody>
      </p:sp>
      <p:sp>
        <p:nvSpPr>
          <p:cNvPr id="29" name="Text 27"/>
          <p:cNvSpPr/>
          <p:nvPr/>
        </p:nvSpPr>
        <p:spPr>
          <a:xfrm>
            <a:off x="914400" y="6236208"/>
            <a:ext cx="5943600" cy="274320"/>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Michelangelo Bandelli — Dashboard, API y despliegue</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lIns="0" tIns="0" rIns="0" bIns="0" rtlCol="0" anchor="ctr"/>
          <a:lstStyle/>
          <a:p>
            <a:pPr marL="0" indent="0">
              <a:buNone/>
            </a:pPr>
            <a:r>
              <a:rPr lang="en-US" sz="1200" b="1" kern="0" spc="200" dirty="0">
                <a:solidFill>
                  <a:srgbClr val="97BC62"/>
                </a:solidFill>
                <a:latin typeface="Calibri" pitchFamily="34" charset="0"/>
                <a:ea typeface="Calibri" pitchFamily="34" charset="-122"/>
                <a:cs typeface="Calibri" pitchFamily="34" charset="-120"/>
              </a:rPr>
              <a:t>MICHELANGELO BANDELLI · 2 DE 3</a:t>
            </a:r>
            <a:endParaRPr lang="en-US" sz="1200" dirty="0"/>
          </a:p>
        </p:txBody>
      </p:sp>
      <p:sp>
        <p:nvSpPr>
          <p:cNvPr id="3" name="Text 1"/>
          <p:cNvSpPr/>
          <p:nvPr/>
        </p:nvSpPr>
        <p:spPr>
          <a:xfrm>
            <a:off x="548640" y="566928"/>
            <a:ext cx="11064240" cy="658368"/>
          </a:xfrm>
          <a:prstGeom prst="rect">
            <a:avLst/>
          </a:prstGeom>
          <a:noFill/>
          <a:ln/>
        </p:spPr>
        <p:txBody>
          <a:bodyPr wrap="square" lIns="0" tIns="0" rIns="0" bIns="0" rtlCol="0" anchor="ctr"/>
          <a:lstStyle/>
          <a:p>
            <a:pPr marL="0" indent="0">
              <a:buNone/>
            </a:pPr>
            <a:r>
              <a:rPr lang="en-US" sz="3400" b="1" dirty="0">
                <a:solidFill>
                  <a:srgbClr val="2C5F2D"/>
                </a:solidFill>
                <a:latin typeface="Cambria" pitchFamily="34" charset="0"/>
                <a:ea typeface="Cambria" pitchFamily="34" charset="-122"/>
                <a:cs typeface="Cambria" pitchFamily="34" charset="-120"/>
              </a:rPr>
              <a:t>API FastAPI: el modelo como servicio consultable</a:t>
            </a:r>
            <a:endParaRPr lang="en-US" sz="3400" dirty="0"/>
          </a:p>
        </p:txBody>
      </p:sp>
      <p:sp>
        <p:nvSpPr>
          <p:cNvPr id="4" name="Text 2"/>
          <p:cNvSpPr/>
          <p:nvPr/>
        </p:nvSpPr>
        <p:spPr>
          <a:xfrm>
            <a:off x="548640" y="1353312"/>
            <a:ext cx="10881360" cy="365760"/>
          </a:xfrm>
          <a:prstGeom prst="rect">
            <a:avLst/>
          </a:prstGeom>
          <a:noFill/>
          <a:ln/>
        </p:spPr>
        <p:txBody>
          <a:bodyPr wrap="square" lIns="0" tIns="0" rIns="0" bIns="0" rtlCol="0" anchor="ctr"/>
          <a:lstStyle/>
          <a:p>
            <a:pPr marL="0" indent="0">
              <a:buNone/>
            </a:pPr>
            <a:r>
              <a:rPr lang="en-US" sz="1300" dirty="0">
                <a:solidFill>
                  <a:srgbClr val="6B7280"/>
                </a:solidFill>
                <a:latin typeface="Calibri" pitchFamily="34" charset="0"/>
                <a:ea typeface="Calibri" pitchFamily="34" charset="-122"/>
                <a:cs typeface="Calibri" pitchFamily="34" charset="-120"/>
              </a:rPr>
              <a:t>El dashboard es para personas; la API es para sistemas. Un POST a /predict devuelve la demanda estimada, de modo que el software de despacho de flota pueda consumirla sin abrir un navegador.</a:t>
            </a:r>
            <a:endParaRPr lang="en-US" sz="1300" dirty="0"/>
          </a:p>
        </p:txBody>
      </p:sp>
      <p:sp>
        <p:nvSpPr>
          <p:cNvPr id="5" name="Shape 3"/>
          <p:cNvSpPr/>
          <p:nvPr/>
        </p:nvSpPr>
        <p:spPr>
          <a:xfrm>
            <a:off x="548640" y="1828800"/>
            <a:ext cx="5577840" cy="2651760"/>
          </a:xfrm>
          <a:prstGeom prst="roundRect">
            <a:avLst>
              <a:gd name="adj" fmla="val 2759"/>
            </a:avLst>
          </a:prstGeom>
          <a:solidFill>
            <a:srgbClr val="1C3A1C"/>
          </a:solidFill>
          <a:ln w="12700">
            <a:solidFill>
              <a:srgbClr val="1C3A1C"/>
            </a:solidFill>
            <a:prstDash val="solid"/>
          </a:ln>
        </p:spPr>
        <p:txBody>
          <a:bodyPr/>
          <a:lstStyle/>
          <a:p>
            <a:endParaRPr lang="es-CL"/>
          </a:p>
        </p:txBody>
      </p:sp>
      <p:sp>
        <p:nvSpPr>
          <p:cNvPr id="6" name="Text 4"/>
          <p:cNvSpPr/>
          <p:nvPr/>
        </p:nvSpPr>
        <p:spPr>
          <a:xfrm>
            <a:off x="777240" y="1965960"/>
            <a:ext cx="5120640" cy="292608"/>
          </a:xfrm>
          <a:prstGeom prst="rect">
            <a:avLst/>
          </a:prstGeom>
          <a:noFill/>
          <a:ln/>
        </p:spPr>
        <p:txBody>
          <a:bodyPr wrap="square" lIns="0" tIns="0" rIns="0" bIns="0" rtlCol="0" anchor="ctr"/>
          <a:lstStyle/>
          <a:p>
            <a:pPr marL="0" indent="0">
              <a:buNone/>
            </a:pPr>
            <a:r>
              <a:rPr lang="en-US" sz="1400" b="1" dirty="0">
                <a:solidFill>
                  <a:srgbClr val="97BC62"/>
                </a:solidFill>
                <a:latin typeface="Courier New" pitchFamily="34" charset="0"/>
                <a:ea typeface="Courier New" pitchFamily="34" charset="-122"/>
                <a:cs typeface="Courier New" pitchFamily="34" charset="-120"/>
              </a:rPr>
              <a:t>POST /predict</a:t>
            </a:r>
            <a:endParaRPr lang="en-US" sz="1400" dirty="0"/>
          </a:p>
        </p:txBody>
      </p:sp>
      <p:sp>
        <p:nvSpPr>
          <p:cNvPr id="7" name="Text 5"/>
          <p:cNvSpPr/>
          <p:nvPr/>
        </p:nvSpPr>
        <p:spPr>
          <a:xfrm>
            <a:off x="777240" y="2331720"/>
            <a:ext cx="5120640" cy="1965960"/>
          </a:xfrm>
          <a:prstGeom prst="rect">
            <a:avLst/>
          </a:prstGeom>
          <a:noFill/>
          <a:ln/>
        </p:spPr>
        <p:txBody>
          <a:bodyPr wrap="square" lIns="0" tIns="0" rIns="0" bIns="0" rtlCol="0" anchor="ctr"/>
          <a:lstStyle/>
          <a:p>
            <a:pPr marL="0" indent="0">
              <a:lnSpc>
                <a:spcPts val="1700"/>
              </a:lnSpc>
              <a:buNone/>
            </a:pPr>
            <a:r>
              <a:rPr lang="en-US" sz="1200" dirty="0">
                <a:solidFill>
                  <a:srgbClr val="C9D6C2"/>
                </a:solidFill>
                <a:latin typeface="Courier New" pitchFamily="34" charset="0"/>
                <a:ea typeface="Courier New" pitchFamily="34" charset="-122"/>
                <a:cs typeface="Courier New" pitchFamily="34" charset="-120"/>
              </a:rPr>
              <a:t>{</a:t>
            </a:r>
            <a:endParaRPr lang="en-US" sz="1200" dirty="0"/>
          </a:p>
          <a:p>
            <a:pPr marL="0" indent="0">
              <a:lnSpc>
                <a:spcPts val="1700"/>
              </a:lnSpc>
              <a:buNone/>
            </a:pPr>
            <a:r>
              <a:rPr lang="en-US" sz="1200" dirty="0">
                <a:solidFill>
                  <a:srgbClr val="C9D6C2"/>
                </a:solidFill>
                <a:latin typeface="Courier New" pitchFamily="34" charset="0"/>
                <a:ea typeface="Courier New" pitchFamily="34" charset="-122"/>
                <a:cs typeface="Courier New" pitchFamily="34" charset="-120"/>
              </a:rPr>
              <a:t>  "hour": 18,</a:t>
            </a:r>
            <a:endParaRPr lang="en-US" sz="1200" dirty="0"/>
          </a:p>
          <a:p>
            <a:pPr marL="0" indent="0">
              <a:lnSpc>
                <a:spcPts val="1700"/>
              </a:lnSpc>
              <a:buNone/>
            </a:pPr>
            <a:r>
              <a:rPr lang="en-US" sz="1200" dirty="0">
                <a:solidFill>
                  <a:srgbClr val="C9D6C2"/>
                </a:solidFill>
                <a:latin typeface="Courier New" pitchFamily="34" charset="0"/>
                <a:ea typeface="Courier New" pitchFamily="34" charset="-122"/>
                <a:cs typeface="Courier New" pitchFamily="34" charset="-120"/>
              </a:rPr>
              <a:t>  "workingday": 1,</a:t>
            </a:r>
            <a:endParaRPr lang="en-US" sz="1200" dirty="0"/>
          </a:p>
          <a:p>
            <a:pPr marL="0" indent="0">
              <a:lnSpc>
                <a:spcPts val="1700"/>
              </a:lnSpc>
              <a:buNone/>
            </a:pPr>
            <a:r>
              <a:rPr lang="en-US" sz="1200" dirty="0">
                <a:solidFill>
                  <a:srgbClr val="C9D6C2"/>
                </a:solidFill>
                <a:latin typeface="Courier New" pitchFamily="34" charset="0"/>
                <a:ea typeface="Courier New" pitchFamily="34" charset="-122"/>
                <a:cs typeface="Courier New" pitchFamily="34" charset="-120"/>
              </a:rPr>
              <a:t>  "is_holiday": 0,</a:t>
            </a:r>
            <a:endParaRPr lang="en-US" sz="1200" dirty="0"/>
          </a:p>
          <a:p>
            <a:pPr marL="0" indent="0">
              <a:lnSpc>
                <a:spcPts val="1700"/>
              </a:lnSpc>
              <a:buNone/>
            </a:pPr>
            <a:r>
              <a:rPr lang="en-US" sz="1200" dirty="0">
                <a:solidFill>
                  <a:srgbClr val="C9D6C2"/>
                </a:solidFill>
                <a:latin typeface="Courier New" pitchFamily="34" charset="0"/>
                <a:ea typeface="Courier New" pitchFamily="34" charset="-122"/>
                <a:cs typeface="Courier New" pitchFamily="34" charset="-120"/>
              </a:rPr>
              <a:t>  "temperature_2m": 24.5,</a:t>
            </a:r>
            <a:endParaRPr lang="en-US" sz="1200" dirty="0"/>
          </a:p>
          <a:p>
            <a:pPr marL="0" indent="0">
              <a:lnSpc>
                <a:spcPts val="1700"/>
              </a:lnSpc>
              <a:buNone/>
            </a:pPr>
            <a:r>
              <a:rPr lang="en-US" sz="1200" dirty="0">
                <a:solidFill>
                  <a:srgbClr val="C9D6C2"/>
                </a:solidFill>
                <a:latin typeface="Courier New" pitchFamily="34" charset="0"/>
                <a:ea typeface="Courier New" pitchFamily="34" charset="-122"/>
                <a:cs typeface="Courier New" pitchFamily="34" charset="-120"/>
              </a:rPr>
              <a:t>  "precipitation": 0.0,</a:t>
            </a:r>
            <a:endParaRPr lang="en-US" sz="1200" dirty="0"/>
          </a:p>
          <a:p>
            <a:pPr marL="0" indent="0">
              <a:lnSpc>
                <a:spcPts val="1700"/>
              </a:lnSpc>
              <a:buNone/>
            </a:pPr>
            <a:r>
              <a:rPr lang="en-US" sz="1200" dirty="0">
                <a:solidFill>
                  <a:srgbClr val="C9D6C2"/>
                </a:solidFill>
                <a:latin typeface="Courier New" pitchFamily="34" charset="0"/>
                <a:ea typeface="Courier New" pitchFamily="34" charset="-122"/>
                <a:cs typeface="Courier New" pitchFamily="34" charset="-120"/>
              </a:rPr>
              <a:t>  "cnt_lag_1": 380,</a:t>
            </a:r>
            <a:endParaRPr lang="en-US" sz="1200" dirty="0"/>
          </a:p>
          <a:p>
            <a:pPr marL="0" indent="0">
              <a:lnSpc>
                <a:spcPts val="1700"/>
              </a:lnSpc>
              <a:buNone/>
            </a:pPr>
            <a:r>
              <a:rPr lang="en-US" sz="1200" dirty="0">
                <a:solidFill>
                  <a:srgbClr val="C9D6C2"/>
                </a:solidFill>
                <a:latin typeface="Courier New" pitchFamily="34" charset="0"/>
                <a:ea typeface="Courier New" pitchFamily="34" charset="-122"/>
                <a:cs typeface="Courier New" pitchFamily="34" charset="-120"/>
              </a:rPr>
              <a:t>  "cnt_lag_24": 402</a:t>
            </a:r>
            <a:endParaRPr lang="en-US" sz="1200" dirty="0"/>
          </a:p>
          <a:p>
            <a:pPr marL="0" indent="0">
              <a:lnSpc>
                <a:spcPts val="1700"/>
              </a:lnSpc>
              <a:buNone/>
            </a:pPr>
            <a:r>
              <a:rPr lang="en-US" sz="1200" dirty="0">
                <a:solidFill>
                  <a:srgbClr val="C9D6C2"/>
                </a:solidFill>
                <a:latin typeface="Courier New" pitchFamily="34" charset="0"/>
                <a:ea typeface="Courier New" pitchFamily="34" charset="-122"/>
                <a:cs typeface="Courier New" pitchFamily="34" charset="-120"/>
              </a:rPr>
              <a:t>}</a:t>
            </a:r>
            <a:endParaRPr lang="en-US" sz="1200" dirty="0"/>
          </a:p>
        </p:txBody>
      </p:sp>
      <p:sp>
        <p:nvSpPr>
          <p:cNvPr id="8" name="Shape 6"/>
          <p:cNvSpPr/>
          <p:nvPr/>
        </p:nvSpPr>
        <p:spPr>
          <a:xfrm>
            <a:off x="6400800" y="1828800"/>
            <a:ext cx="5029200" cy="1234440"/>
          </a:xfrm>
          <a:prstGeom prst="roundRect">
            <a:avLst>
              <a:gd name="adj" fmla="val 5926"/>
            </a:avLst>
          </a:prstGeom>
          <a:solidFill>
            <a:srgbClr val="F5F7F2"/>
          </a:solidFill>
          <a:ln w="12700">
            <a:solidFill>
              <a:srgbClr val="F5F7F2"/>
            </a:solidFill>
            <a:prstDash val="solid"/>
          </a:ln>
          <a:effectLst>
            <a:outerShdw blurRad="101600" dist="25400" dir="5400000" algn="bl" rotWithShape="0">
              <a:srgbClr val="1C3A1C">
                <a:alpha val="10000"/>
              </a:srgbClr>
            </a:outerShdw>
          </a:effectLst>
        </p:spPr>
        <p:txBody>
          <a:bodyPr/>
          <a:lstStyle/>
          <a:p>
            <a:endParaRPr lang="es-CL"/>
          </a:p>
        </p:txBody>
      </p:sp>
      <p:sp>
        <p:nvSpPr>
          <p:cNvPr id="9" name="Text 7"/>
          <p:cNvSpPr/>
          <p:nvPr/>
        </p:nvSpPr>
        <p:spPr>
          <a:xfrm>
            <a:off x="6629400" y="1975104"/>
            <a:ext cx="2743200" cy="274320"/>
          </a:xfrm>
          <a:prstGeom prst="rect">
            <a:avLst/>
          </a:prstGeom>
          <a:noFill/>
          <a:ln/>
        </p:spPr>
        <p:txBody>
          <a:bodyPr wrap="square" lIns="0" tIns="0" rIns="0" bIns="0" rtlCol="0" anchor="ctr"/>
          <a:lstStyle/>
          <a:p>
            <a:pPr marL="0" indent="0">
              <a:buNone/>
            </a:pPr>
            <a:r>
              <a:rPr lang="en-US" sz="1300" b="1" dirty="0">
                <a:solidFill>
                  <a:srgbClr val="24302A"/>
                </a:solidFill>
                <a:latin typeface="Calibri" pitchFamily="34" charset="0"/>
                <a:ea typeface="Calibri" pitchFamily="34" charset="-122"/>
                <a:cs typeface="Calibri" pitchFamily="34" charset="-120"/>
              </a:rPr>
              <a:t>Hora punta, buen clima</a:t>
            </a:r>
            <a:endParaRPr lang="en-US" sz="1300" dirty="0"/>
          </a:p>
        </p:txBody>
      </p:sp>
      <p:sp>
        <p:nvSpPr>
          <p:cNvPr id="10" name="Text 8"/>
          <p:cNvSpPr/>
          <p:nvPr/>
        </p:nvSpPr>
        <p:spPr>
          <a:xfrm>
            <a:off x="6629400" y="2267712"/>
            <a:ext cx="2743200" cy="548640"/>
          </a:xfrm>
          <a:prstGeom prst="rect">
            <a:avLst/>
          </a:prstGeom>
          <a:noFill/>
          <a:ln/>
        </p:spPr>
        <p:txBody>
          <a:bodyPr wrap="square" lIns="0" tIns="0" rIns="0" bIns="0" rtlCol="0" anchor="ctr"/>
          <a:lstStyle/>
          <a:p>
            <a:pPr marL="0" indent="0">
              <a:buNone/>
            </a:pPr>
            <a:r>
              <a:rPr lang="en-US" sz="1050" dirty="0">
                <a:solidFill>
                  <a:srgbClr val="6B7280"/>
                </a:solidFill>
                <a:latin typeface="Calibri" pitchFamily="34" charset="0"/>
                <a:ea typeface="Calibri" pitchFamily="34" charset="-122"/>
                <a:cs typeface="Calibri" pitchFamily="34" charset="-120"/>
              </a:rPr>
              <a:t>Respuesta del modelo en producción</a:t>
            </a:r>
            <a:endParaRPr lang="en-US" sz="1050" dirty="0"/>
          </a:p>
        </p:txBody>
      </p:sp>
      <p:sp>
        <p:nvSpPr>
          <p:cNvPr id="11" name="Text 9"/>
          <p:cNvSpPr/>
          <p:nvPr/>
        </p:nvSpPr>
        <p:spPr>
          <a:xfrm>
            <a:off x="9326880" y="1993392"/>
            <a:ext cx="1920240" cy="548640"/>
          </a:xfrm>
          <a:prstGeom prst="rect">
            <a:avLst/>
          </a:prstGeom>
          <a:noFill/>
          <a:ln/>
        </p:spPr>
        <p:txBody>
          <a:bodyPr wrap="square" lIns="0" tIns="0" rIns="0" bIns="0" rtlCol="0" anchor="ctr"/>
          <a:lstStyle/>
          <a:p>
            <a:pPr marL="0" indent="0" algn="r">
              <a:buNone/>
            </a:pPr>
            <a:r>
              <a:rPr lang="en-US" sz="3200" b="1" dirty="0">
                <a:solidFill>
                  <a:srgbClr val="2C5F2D"/>
                </a:solidFill>
                <a:latin typeface="Cambria" pitchFamily="34" charset="0"/>
                <a:ea typeface="Cambria" pitchFamily="34" charset="-122"/>
                <a:cs typeface="Cambria" pitchFamily="34" charset="-120"/>
              </a:rPr>
              <a:t>≈ 395</a:t>
            </a:r>
            <a:endParaRPr lang="en-US" sz="3200" dirty="0"/>
          </a:p>
        </p:txBody>
      </p:sp>
      <p:sp>
        <p:nvSpPr>
          <p:cNvPr id="12" name="Text 10"/>
          <p:cNvSpPr/>
          <p:nvPr/>
        </p:nvSpPr>
        <p:spPr>
          <a:xfrm>
            <a:off x="9326880" y="2578608"/>
            <a:ext cx="192024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bicicletas/hora</a:t>
            </a:r>
            <a:endParaRPr lang="en-US" sz="1000" dirty="0"/>
          </a:p>
        </p:txBody>
      </p:sp>
      <p:sp>
        <p:nvSpPr>
          <p:cNvPr id="13" name="Shape 11"/>
          <p:cNvSpPr/>
          <p:nvPr/>
        </p:nvSpPr>
        <p:spPr>
          <a:xfrm>
            <a:off x="6400800" y="3200400"/>
            <a:ext cx="5029200" cy="1234440"/>
          </a:xfrm>
          <a:prstGeom prst="roundRect">
            <a:avLst>
              <a:gd name="adj" fmla="val 5926"/>
            </a:avLst>
          </a:prstGeom>
          <a:solidFill>
            <a:srgbClr val="F5F7F2"/>
          </a:solidFill>
          <a:ln w="12700">
            <a:solidFill>
              <a:srgbClr val="F5F7F2"/>
            </a:solidFill>
            <a:prstDash val="solid"/>
          </a:ln>
          <a:effectLst>
            <a:outerShdw blurRad="101600" dist="25400" dir="5400000" algn="bl" rotWithShape="0">
              <a:srgbClr val="1C3A1C">
                <a:alpha val="10000"/>
              </a:srgbClr>
            </a:outerShdw>
          </a:effectLst>
        </p:spPr>
        <p:txBody>
          <a:bodyPr/>
          <a:lstStyle/>
          <a:p>
            <a:endParaRPr lang="es-CL"/>
          </a:p>
        </p:txBody>
      </p:sp>
      <p:sp>
        <p:nvSpPr>
          <p:cNvPr id="14" name="Text 12"/>
          <p:cNvSpPr/>
          <p:nvPr/>
        </p:nvSpPr>
        <p:spPr>
          <a:xfrm>
            <a:off x="6629400" y="3346704"/>
            <a:ext cx="2743200" cy="274320"/>
          </a:xfrm>
          <a:prstGeom prst="rect">
            <a:avLst/>
          </a:prstGeom>
          <a:noFill/>
          <a:ln/>
        </p:spPr>
        <p:txBody>
          <a:bodyPr wrap="square" lIns="0" tIns="0" rIns="0" bIns="0" rtlCol="0" anchor="ctr"/>
          <a:lstStyle/>
          <a:p>
            <a:pPr marL="0" indent="0">
              <a:buNone/>
            </a:pPr>
            <a:r>
              <a:rPr lang="en-US" sz="1300" b="1" dirty="0">
                <a:solidFill>
                  <a:srgbClr val="24302A"/>
                </a:solidFill>
                <a:latin typeface="Calibri" pitchFamily="34" charset="0"/>
                <a:ea typeface="Calibri" pitchFamily="34" charset="-122"/>
                <a:cs typeface="Calibri" pitchFamily="34" charset="-120"/>
              </a:rPr>
              <a:t>Madrugada lluviosa</a:t>
            </a:r>
            <a:endParaRPr lang="en-US" sz="1300" dirty="0"/>
          </a:p>
        </p:txBody>
      </p:sp>
      <p:sp>
        <p:nvSpPr>
          <p:cNvPr id="15" name="Text 13"/>
          <p:cNvSpPr/>
          <p:nvPr/>
        </p:nvSpPr>
        <p:spPr>
          <a:xfrm>
            <a:off x="6629400" y="3639312"/>
            <a:ext cx="2743200" cy="548640"/>
          </a:xfrm>
          <a:prstGeom prst="rect">
            <a:avLst/>
          </a:prstGeom>
          <a:noFill/>
          <a:ln/>
        </p:spPr>
        <p:txBody>
          <a:bodyPr wrap="square" lIns="0" tIns="0" rIns="0" bIns="0" rtlCol="0" anchor="ctr"/>
          <a:lstStyle/>
          <a:p>
            <a:pPr marL="0" indent="0">
              <a:buNone/>
            </a:pPr>
            <a:r>
              <a:rPr lang="en-US" sz="1050" dirty="0">
                <a:solidFill>
                  <a:srgbClr val="6B7280"/>
                </a:solidFill>
                <a:latin typeface="Calibri" pitchFamily="34" charset="0"/>
                <a:ea typeface="Calibri" pitchFamily="34" charset="-122"/>
                <a:cs typeface="Calibri" pitchFamily="34" charset="-120"/>
              </a:rPr>
              <a:t>Respuesta del modelo en producción</a:t>
            </a:r>
            <a:endParaRPr lang="en-US" sz="1050" dirty="0"/>
          </a:p>
        </p:txBody>
      </p:sp>
      <p:sp>
        <p:nvSpPr>
          <p:cNvPr id="16" name="Text 14"/>
          <p:cNvSpPr/>
          <p:nvPr/>
        </p:nvSpPr>
        <p:spPr>
          <a:xfrm>
            <a:off x="9326880" y="3364992"/>
            <a:ext cx="1920240" cy="548640"/>
          </a:xfrm>
          <a:prstGeom prst="rect">
            <a:avLst/>
          </a:prstGeom>
          <a:noFill/>
          <a:ln/>
        </p:spPr>
        <p:txBody>
          <a:bodyPr wrap="square" lIns="0" tIns="0" rIns="0" bIns="0" rtlCol="0" anchor="ctr"/>
          <a:lstStyle/>
          <a:p>
            <a:pPr marL="0" indent="0" algn="r">
              <a:buNone/>
            </a:pPr>
            <a:r>
              <a:rPr lang="en-US" sz="3200" b="1" dirty="0">
                <a:solidFill>
                  <a:srgbClr val="C1440E"/>
                </a:solidFill>
                <a:latin typeface="Cambria" pitchFamily="34" charset="0"/>
                <a:ea typeface="Cambria" pitchFamily="34" charset="-122"/>
                <a:cs typeface="Cambria" pitchFamily="34" charset="-120"/>
              </a:rPr>
              <a:t>≈ 8</a:t>
            </a:r>
            <a:endParaRPr lang="en-US" sz="3200" dirty="0"/>
          </a:p>
        </p:txBody>
      </p:sp>
      <p:sp>
        <p:nvSpPr>
          <p:cNvPr id="17" name="Text 15"/>
          <p:cNvSpPr/>
          <p:nvPr/>
        </p:nvSpPr>
        <p:spPr>
          <a:xfrm>
            <a:off x="9326880" y="3950208"/>
            <a:ext cx="192024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bicicletas/hora</a:t>
            </a:r>
            <a:endParaRPr lang="en-US" sz="1000" dirty="0"/>
          </a:p>
        </p:txBody>
      </p:sp>
      <p:sp>
        <p:nvSpPr>
          <p:cNvPr id="18" name="Text 16"/>
          <p:cNvSpPr/>
          <p:nvPr/>
        </p:nvSpPr>
        <p:spPr>
          <a:xfrm>
            <a:off x="6400800" y="4617720"/>
            <a:ext cx="5029200" cy="502920"/>
          </a:xfrm>
          <a:prstGeom prst="rect">
            <a:avLst/>
          </a:prstGeom>
          <a:noFill/>
          <a:ln/>
        </p:spPr>
        <p:txBody>
          <a:bodyPr wrap="square" lIns="0" tIns="0" rIns="0" bIns="0" rtlCol="0" anchor="ctr"/>
          <a:lstStyle/>
          <a:p>
            <a:pPr marL="0" indent="0">
              <a:buNone/>
            </a:pPr>
            <a:r>
              <a:rPr lang="en-US" sz="1150" i="1" dirty="0">
                <a:solidFill>
                  <a:srgbClr val="6B7280"/>
                </a:solidFill>
                <a:latin typeface="Calibri" pitchFamily="34" charset="0"/>
                <a:ea typeface="Calibri" pitchFamily="34" charset="-122"/>
                <a:cs typeface="Calibri" pitchFamily="34" charset="-120"/>
              </a:rPr>
              <a:t>La distancia entre 395 y 8 es el proyecto entero en dos números: el modelo no predice un promedio, reacciona al contexto.</a:t>
            </a:r>
            <a:endParaRPr lang="en-US" sz="1150" dirty="0"/>
          </a:p>
        </p:txBody>
      </p:sp>
      <p:sp>
        <p:nvSpPr>
          <p:cNvPr id="19" name="Shape 17"/>
          <p:cNvSpPr/>
          <p:nvPr/>
        </p:nvSpPr>
        <p:spPr>
          <a:xfrm>
            <a:off x="548640" y="4617720"/>
            <a:ext cx="5577840" cy="1280160"/>
          </a:xfrm>
          <a:prstGeom prst="roundRect">
            <a:avLst>
              <a:gd name="adj" fmla="val 5714"/>
            </a:avLst>
          </a:prstGeom>
          <a:solidFill>
            <a:srgbClr val="F5F7F2"/>
          </a:solidFill>
          <a:ln w="12700">
            <a:solidFill>
              <a:srgbClr val="F5F7F2"/>
            </a:solidFill>
            <a:prstDash val="solid"/>
          </a:ln>
          <a:effectLst>
            <a:outerShdw blurRad="101600" dist="25400" dir="5400000" algn="bl" rotWithShape="0">
              <a:srgbClr val="1C3A1C">
                <a:alpha val="10000"/>
              </a:srgbClr>
            </a:outerShdw>
          </a:effectLst>
        </p:spPr>
        <p:txBody>
          <a:bodyPr/>
          <a:lstStyle/>
          <a:p>
            <a:endParaRPr lang="es-CL"/>
          </a:p>
        </p:txBody>
      </p:sp>
      <p:sp>
        <p:nvSpPr>
          <p:cNvPr id="20" name="Shape 18"/>
          <p:cNvSpPr/>
          <p:nvPr/>
        </p:nvSpPr>
        <p:spPr>
          <a:xfrm>
            <a:off x="804672" y="4983480"/>
            <a:ext cx="548640" cy="548640"/>
          </a:xfrm>
          <a:prstGeom prst="ellipse">
            <a:avLst/>
          </a:prstGeom>
          <a:solidFill>
            <a:srgbClr val="97BC62"/>
          </a:solidFill>
          <a:ln/>
        </p:spPr>
        <p:txBody>
          <a:bodyPr/>
          <a:lstStyle/>
          <a:p>
            <a:endParaRPr lang="es-CL"/>
          </a:p>
        </p:txBody>
      </p:sp>
      <p:sp>
        <p:nvSpPr>
          <p:cNvPr id="21" name="Text 19"/>
          <p:cNvSpPr/>
          <p:nvPr/>
        </p:nvSpPr>
        <p:spPr>
          <a:xfrm>
            <a:off x="804672" y="4983480"/>
            <a:ext cx="548640" cy="54864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22" name="Text 20"/>
          <p:cNvSpPr/>
          <p:nvPr/>
        </p:nvSpPr>
        <p:spPr>
          <a:xfrm>
            <a:off x="1481328" y="4800600"/>
            <a:ext cx="4389120" cy="274320"/>
          </a:xfrm>
          <a:prstGeom prst="rect">
            <a:avLst/>
          </a:prstGeom>
          <a:noFill/>
          <a:ln/>
        </p:spPr>
        <p:txBody>
          <a:bodyPr wrap="square" lIns="0" tIns="0" rIns="0" bIns="0" rtlCol="0" anchor="ctr"/>
          <a:lstStyle/>
          <a:p>
            <a:pPr marL="0" indent="0">
              <a:buNone/>
            </a:pPr>
            <a:r>
              <a:rPr lang="en-US" sz="1500" b="1" dirty="0">
                <a:solidFill>
                  <a:srgbClr val="2C5F2D"/>
                </a:solidFill>
                <a:latin typeface="Calibri" pitchFamily="34" charset="0"/>
                <a:ea typeface="Calibri" pitchFamily="34" charset="-122"/>
                <a:cs typeface="Calibri" pitchFamily="34" charset="-120"/>
              </a:rPr>
              <a:t>/docs autogenerado y validación con Pydantic</a:t>
            </a:r>
            <a:endParaRPr lang="en-US" sz="1500" dirty="0"/>
          </a:p>
        </p:txBody>
      </p:sp>
      <p:sp>
        <p:nvSpPr>
          <p:cNvPr id="23" name="Text 21"/>
          <p:cNvSpPr/>
          <p:nvPr/>
        </p:nvSpPr>
        <p:spPr>
          <a:xfrm>
            <a:off x="1481328" y="5093208"/>
            <a:ext cx="4389120" cy="658368"/>
          </a:xfrm>
          <a:prstGeom prst="rect">
            <a:avLst/>
          </a:prstGeom>
          <a:noFill/>
          <a:ln/>
        </p:spPr>
        <p:txBody>
          <a:bodyPr wrap="square" lIns="0" tIns="0" rIns="0" bIns="0" rtlCol="0" anchor="t"/>
          <a:lstStyle/>
          <a:p>
            <a:pPr marL="0" indent="0">
              <a:buNone/>
            </a:pPr>
            <a:r>
              <a:rPr lang="en-US" sz="1200" dirty="0">
                <a:solidFill>
                  <a:srgbClr val="6B7280"/>
                </a:solidFill>
                <a:latin typeface="Calibri" pitchFamily="34" charset="0"/>
                <a:ea typeface="Calibri" pitchFamily="34" charset="-122"/>
                <a:cs typeface="Calibri" pitchFamily="34" charset="-120"/>
              </a:rPr>
              <a:t>Swagger UI: la API se prueba desde el navegador, sin cliente extra. Los tipos y rangos se validan en el borde, así el modelo nunca recibe datos inválidos.</a:t>
            </a:r>
            <a:endParaRPr lang="en-US" sz="1200" dirty="0"/>
          </a:p>
        </p:txBody>
      </p:sp>
      <p:sp>
        <p:nvSpPr>
          <p:cNvPr id="24" name="Shape 22"/>
          <p:cNvSpPr/>
          <p:nvPr/>
        </p:nvSpPr>
        <p:spPr>
          <a:xfrm>
            <a:off x="548640" y="6236208"/>
            <a:ext cx="274320" cy="274320"/>
          </a:xfrm>
          <a:prstGeom prst="ellipse">
            <a:avLst/>
          </a:prstGeom>
          <a:solidFill>
            <a:srgbClr val="97BC62"/>
          </a:solidFill>
          <a:ln/>
        </p:spPr>
        <p:txBody>
          <a:bodyPr/>
          <a:lstStyle/>
          <a:p>
            <a:endParaRPr lang="es-CL"/>
          </a:p>
        </p:txBody>
      </p:sp>
      <p:sp>
        <p:nvSpPr>
          <p:cNvPr id="25" name="Text 23"/>
          <p:cNvSpPr/>
          <p:nvPr/>
        </p:nvSpPr>
        <p:spPr>
          <a:xfrm>
            <a:off x="548640" y="6236208"/>
            <a:ext cx="274320" cy="274320"/>
          </a:xfrm>
          <a:prstGeom prst="rect">
            <a:avLst/>
          </a:prstGeom>
          <a:noFill/>
          <a:ln/>
        </p:spPr>
        <p:txBody>
          <a:bodyPr wrap="square" lIns="0" tIns="0" rIns="0" bIns="0" rtlCol="0" anchor="ctr"/>
          <a:lstStyle/>
          <a:p>
            <a:pPr marL="0" indent="0" algn="ctr">
              <a:buNone/>
            </a:pPr>
            <a:r>
              <a:rPr lang="en-US" sz="1100" b="1" dirty="0">
                <a:solidFill>
                  <a:srgbClr val="1C3A1C"/>
                </a:solidFill>
                <a:latin typeface="Calibri" pitchFamily="34" charset="0"/>
                <a:ea typeface="Calibri" pitchFamily="34" charset="-122"/>
                <a:cs typeface="Calibri" pitchFamily="34" charset="-120"/>
              </a:rPr>
              <a:t>4</a:t>
            </a:r>
            <a:endParaRPr lang="en-US" sz="1100" dirty="0"/>
          </a:p>
        </p:txBody>
      </p:sp>
      <p:sp>
        <p:nvSpPr>
          <p:cNvPr id="26" name="Text 24"/>
          <p:cNvSpPr/>
          <p:nvPr/>
        </p:nvSpPr>
        <p:spPr>
          <a:xfrm>
            <a:off x="914400" y="6236208"/>
            <a:ext cx="5943600" cy="274320"/>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Michelangelo Bandelli — Dashboard, API y despliegue</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3880" y="185959"/>
            <a:ext cx="11064240" cy="256032"/>
          </a:xfrm>
          <a:prstGeom prst="rect">
            <a:avLst/>
          </a:prstGeom>
          <a:noFill/>
          <a:ln/>
        </p:spPr>
        <p:txBody>
          <a:bodyPr wrap="square" lIns="0" tIns="0" rIns="0" bIns="0" rtlCol="0" anchor="ctr"/>
          <a:lstStyle/>
          <a:p>
            <a:pPr marL="0" indent="0">
              <a:buNone/>
            </a:pPr>
            <a:r>
              <a:rPr lang="en-US" sz="1200" b="1" kern="0" spc="200" dirty="0">
                <a:solidFill>
                  <a:srgbClr val="97BC62"/>
                </a:solidFill>
                <a:latin typeface="Calibri" pitchFamily="34" charset="0"/>
                <a:ea typeface="Calibri" pitchFamily="34" charset="-122"/>
                <a:cs typeface="Calibri" pitchFamily="34" charset="-120"/>
              </a:rPr>
              <a:t>MICHELANGELO BANDELLI · 3 DE 3</a:t>
            </a:r>
            <a:endParaRPr lang="en-US" sz="1200" dirty="0"/>
          </a:p>
        </p:txBody>
      </p:sp>
      <p:sp>
        <p:nvSpPr>
          <p:cNvPr id="3" name="Text 1"/>
          <p:cNvSpPr/>
          <p:nvPr/>
        </p:nvSpPr>
        <p:spPr>
          <a:xfrm>
            <a:off x="563880" y="592867"/>
            <a:ext cx="11064240" cy="658368"/>
          </a:xfrm>
          <a:prstGeom prst="rect">
            <a:avLst/>
          </a:prstGeom>
          <a:noFill/>
          <a:ln/>
        </p:spPr>
        <p:txBody>
          <a:bodyPr wrap="square" lIns="0" tIns="0" rIns="0" bIns="0" rtlCol="0" anchor="ctr"/>
          <a:lstStyle/>
          <a:p>
            <a:pPr marL="0" indent="0">
              <a:buNone/>
            </a:pPr>
            <a:r>
              <a:rPr lang="en-US" sz="3400" b="1" dirty="0">
                <a:solidFill>
                  <a:srgbClr val="2C5F2D"/>
                </a:solidFill>
                <a:latin typeface="Cambria" pitchFamily="34" charset="0"/>
                <a:ea typeface="Cambria" pitchFamily="34" charset="-122"/>
                <a:cs typeface="Cambria" pitchFamily="34" charset="-120"/>
              </a:rPr>
              <a:t>Despliegue y buenas prácticas: que funcione en cualquier máquina</a:t>
            </a:r>
            <a:endParaRPr lang="en-US" sz="3400" dirty="0"/>
          </a:p>
        </p:txBody>
      </p:sp>
      <p:sp>
        <p:nvSpPr>
          <p:cNvPr id="4" name="Shape 2"/>
          <p:cNvSpPr/>
          <p:nvPr/>
        </p:nvSpPr>
        <p:spPr>
          <a:xfrm>
            <a:off x="548640" y="1417320"/>
            <a:ext cx="5349240" cy="1371600"/>
          </a:xfrm>
          <a:prstGeom prst="roundRect">
            <a:avLst>
              <a:gd name="adj" fmla="val 5333"/>
            </a:avLst>
          </a:prstGeom>
          <a:solidFill>
            <a:srgbClr val="F5F7F2"/>
          </a:solidFill>
          <a:ln w="12700">
            <a:solidFill>
              <a:srgbClr val="F5F7F2"/>
            </a:solidFill>
            <a:prstDash val="solid"/>
          </a:ln>
          <a:effectLst>
            <a:outerShdw blurRad="101600" dist="25400" dir="5400000" algn="bl" rotWithShape="0">
              <a:srgbClr val="1C3A1C">
                <a:alpha val="10000"/>
              </a:srgbClr>
            </a:outerShdw>
          </a:effectLst>
        </p:spPr>
        <p:txBody>
          <a:bodyPr/>
          <a:lstStyle/>
          <a:p>
            <a:endParaRPr lang="es-CL"/>
          </a:p>
        </p:txBody>
      </p:sp>
      <p:sp>
        <p:nvSpPr>
          <p:cNvPr id="5" name="Shape 3"/>
          <p:cNvSpPr/>
          <p:nvPr/>
        </p:nvSpPr>
        <p:spPr>
          <a:xfrm>
            <a:off x="804672" y="1828800"/>
            <a:ext cx="548640" cy="548640"/>
          </a:xfrm>
          <a:prstGeom prst="ellipse">
            <a:avLst/>
          </a:prstGeom>
          <a:solidFill>
            <a:srgbClr val="97BC62"/>
          </a:solidFill>
          <a:ln/>
        </p:spPr>
        <p:txBody>
          <a:bodyPr/>
          <a:lstStyle/>
          <a:p>
            <a:endParaRPr lang="es-CL"/>
          </a:p>
        </p:txBody>
      </p:sp>
      <p:sp>
        <p:nvSpPr>
          <p:cNvPr id="6" name="Text 4"/>
          <p:cNvSpPr/>
          <p:nvPr/>
        </p:nvSpPr>
        <p:spPr>
          <a:xfrm>
            <a:off x="804672" y="1828800"/>
            <a:ext cx="548640" cy="54864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7" name="Text 5"/>
          <p:cNvSpPr/>
          <p:nvPr/>
        </p:nvSpPr>
        <p:spPr>
          <a:xfrm>
            <a:off x="1481328" y="1600200"/>
            <a:ext cx="4160520" cy="274320"/>
          </a:xfrm>
          <a:prstGeom prst="rect">
            <a:avLst/>
          </a:prstGeom>
          <a:noFill/>
          <a:ln/>
        </p:spPr>
        <p:txBody>
          <a:bodyPr wrap="square" lIns="0" tIns="0" rIns="0" bIns="0" rtlCol="0" anchor="ctr"/>
          <a:lstStyle/>
          <a:p>
            <a:pPr marL="0" indent="0">
              <a:buNone/>
            </a:pPr>
            <a:r>
              <a:rPr lang="en-US" sz="1500" b="1" dirty="0">
                <a:solidFill>
                  <a:srgbClr val="2C5F2D"/>
                </a:solidFill>
                <a:latin typeface="Calibri" pitchFamily="34" charset="0"/>
                <a:ea typeface="Calibri" pitchFamily="34" charset="-122"/>
                <a:cs typeface="Calibri" pitchFamily="34" charset="-120"/>
              </a:rPr>
              <a:t>Docker + docker-compose</a:t>
            </a:r>
            <a:endParaRPr lang="en-US" sz="1500" dirty="0"/>
          </a:p>
        </p:txBody>
      </p:sp>
      <p:sp>
        <p:nvSpPr>
          <p:cNvPr id="8" name="Text 6"/>
          <p:cNvSpPr/>
          <p:nvPr/>
        </p:nvSpPr>
        <p:spPr>
          <a:xfrm>
            <a:off x="1481328" y="1892808"/>
            <a:ext cx="4160520" cy="749808"/>
          </a:xfrm>
          <a:prstGeom prst="rect">
            <a:avLst/>
          </a:prstGeom>
          <a:noFill/>
          <a:ln/>
        </p:spPr>
        <p:txBody>
          <a:bodyPr wrap="square" lIns="0" tIns="0" rIns="0" bIns="0" rtlCol="0" anchor="t"/>
          <a:lstStyle/>
          <a:p>
            <a:pPr marL="0" indent="0">
              <a:buNone/>
            </a:pPr>
            <a:r>
              <a:rPr lang="en-US" sz="1200" dirty="0">
                <a:solidFill>
                  <a:srgbClr val="6B7280"/>
                </a:solidFill>
                <a:latin typeface="Calibri" pitchFamily="34" charset="0"/>
                <a:ea typeface="Calibri" pitchFamily="34" charset="-122"/>
                <a:cs typeface="Calibri" pitchFamily="34" charset="-120"/>
              </a:rPr>
              <a:t>API (:8000) y dashboard (:8050) levantan desde una imagen común. Un comando y el evaluador tiene el proyecto corriendo, sin instalar Python.</a:t>
            </a:r>
            <a:endParaRPr lang="en-US" sz="1200" dirty="0"/>
          </a:p>
        </p:txBody>
      </p:sp>
      <p:sp>
        <p:nvSpPr>
          <p:cNvPr id="9" name="Shape 7"/>
          <p:cNvSpPr/>
          <p:nvPr/>
        </p:nvSpPr>
        <p:spPr>
          <a:xfrm>
            <a:off x="6080760" y="1417320"/>
            <a:ext cx="5349240" cy="1371600"/>
          </a:xfrm>
          <a:prstGeom prst="roundRect">
            <a:avLst>
              <a:gd name="adj" fmla="val 5333"/>
            </a:avLst>
          </a:prstGeom>
          <a:solidFill>
            <a:srgbClr val="F5F7F2"/>
          </a:solidFill>
          <a:ln w="12700">
            <a:solidFill>
              <a:srgbClr val="F5F7F2"/>
            </a:solidFill>
            <a:prstDash val="solid"/>
          </a:ln>
          <a:effectLst>
            <a:outerShdw blurRad="101600" dist="25400" dir="5400000" algn="bl" rotWithShape="0">
              <a:srgbClr val="1C3A1C">
                <a:alpha val="10000"/>
              </a:srgbClr>
            </a:outerShdw>
          </a:effectLst>
        </p:spPr>
        <p:txBody>
          <a:bodyPr/>
          <a:lstStyle/>
          <a:p>
            <a:endParaRPr lang="es-CL"/>
          </a:p>
        </p:txBody>
      </p:sp>
      <p:sp>
        <p:nvSpPr>
          <p:cNvPr id="10" name="Shape 8"/>
          <p:cNvSpPr/>
          <p:nvPr/>
        </p:nvSpPr>
        <p:spPr>
          <a:xfrm>
            <a:off x="6336792" y="1828800"/>
            <a:ext cx="548640" cy="548640"/>
          </a:xfrm>
          <a:prstGeom prst="ellipse">
            <a:avLst/>
          </a:prstGeom>
          <a:solidFill>
            <a:srgbClr val="97BC62"/>
          </a:solidFill>
          <a:ln/>
        </p:spPr>
        <p:txBody>
          <a:bodyPr/>
          <a:lstStyle/>
          <a:p>
            <a:endParaRPr lang="es-CL"/>
          </a:p>
        </p:txBody>
      </p:sp>
      <p:sp>
        <p:nvSpPr>
          <p:cNvPr id="11" name="Text 9"/>
          <p:cNvSpPr/>
          <p:nvPr/>
        </p:nvSpPr>
        <p:spPr>
          <a:xfrm>
            <a:off x="6336792" y="1828800"/>
            <a:ext cx="548640" cy="54864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12" name="Text 10"/>
          <p:cNvSpPr/>
          <p:nvPr/>
        </p:nvSpPr>
        <p:spPr>
          <a:xfrm>
            <a:off x="7013448" y="1600200"/>
            <a:ext cx="4160520" cy="274320"/>
          </a:xfrm>
          <a:prstGeom prst="rect">
            <a:avLst/>
          </a:prstGeom>
          <a:noFill/>
          <a:ln/>
        </p:spPr>
        <p:txBody>
          <a:bodyPr wrap="square" lIns="0" tIns="0" rIns="0" bIns="0" rtlCol="0" anchor="ctr"/>
          <a:lstStyle/>
          <a:p>
            <a:pPr marL="0" indent="0">
              <a:buNone/>
            </a:pPr>
            <a:r>
              <a:rPr lang="en-US" sz="1500" b="1" dirty="0">
                <a:solidFill>
                  <a:srgbClr val="2C5F2D"/>
                </a:solidFill>
                <a:latin typeface="Calibri" pitchFamily="34" charset="0"/>
                <a:ea typeface="Calibri" pitchFamily="34" charset="-122"/>
                <a:cs typeface="Calibri" pitchFamily="34" charset="-120"/>
              </a:rPr>
              <a:t>GitHub Actions (CI)</a:t>
            </a:r>
            <a:endParaRPr lang="en-US" sz="1500" dirty="0"/>
          </a:p>
        </p:txBody>
      </p:sp>
      <p:sp>
        <p:nvSpPr>
          <p:cNvPr id="13" name="Text 11"/>
          <p:cNvSpPr/>
          <p:nvPr/>
        </p:nvSpPr>
        <p:spPr>
          <a:xfrm>
            <a:off x="7013448" y="1892808"/>
            <a:ext cx="4160520" cy="749808"/>
          </a:xfrm>
          <a:prstGeom prst="rect">
            <a:avLst/>
          </a:prstGeom>
          <a:noFill/>
          <a:ln/>
        </p:spPr>
        <p:txBody>
          <a:bodyPr wrap="square" lIns="0" tIns="0" rIns="0" bIns="0" rtlCol="0" anchor="t"/>
          <a:lstStyle/>
          <a:p>
            <a:pPr marL="0" indent="0">
              <a:buNone/>
            </a:pPr>
            <a:r>
              <a:rPr lang="en-US" sz="1200" dirty="0">
                <a:solidFill>
                  <a:srgbClr val="6B7280"/>
                </a:solidFill>
                <a:latin typeface="Calibri" pitchFamily="34" charset="0"/>
                <a:ea typeface="Calibri" pitchFamily="34" charset="-122"/>
                <a:cs typeface="Calibri" pitchFamily="34" charset="-120"/>
              </a:rPr>
              <a:t>En cada push: lint con ruff, tests con pytest y build de la imagen. Si algo se rompe, se sabe antes de llegar al main.</a:t>
            </a:r>
            <a:endParaRPr lang="en-US" sz="1200" dirty="0"/>
          </a:p>
        </p:txBody>
      </p:sp>
      <p:sp>
        <p:nvSpPr>
          <p:cNvPr id="14" name="Shape 12"/>
          <p:cNvSpPr/>
          <p:nvPr/>
        </p:nvSpPr>
        <p:spPr>
          <a:xfrm>
            <a:off x="548640" y="2990088"/>
            <a:ext cx="5349240" cy="1371600"/>
          </a:xfrm>
          <a:prstGeom prst="roundRect">
            <a:avLst>
              <a:gd name="adj" fmla="val 5333"/>
            </a:avLst>
          </a:prstGeom>
          <a:solidFill>
            <a:srgbClr val="F5F7F2"/>
          </a:solidFill>
          <a:ln w="12700">
            <a:solidFill>
              <a:srgbClr val="F5F7F2"/>
            </a:solidFill>
            <a:prstDash val="solid"/>
          </a:ln>
          <a:effectLst>
            <a:outerShdw blurRad="101600" dist="25400" dir="5400000" algn="bl" rotWithShape="0">
              <a:srgbClr val="1C3A1C">
                <a:alpha val="10000"/>
              </a:srgbClr>
            </a:outerShdw>
          </a:effectLst>
        </p:spPr>
        <p:txBody>
          <a:bodyPr/>
          <a:lstStyle/>
          <a:p>
            <a:endParaRPr lang="es-CL"/>
          </a:p>
        </p:txBody>
      </p:sp>
      <p:sp>
        <p:nvSpPr>
          <p:cNvPr id="15" name="Shape 13"/>
          <p:cNvSpPr/>
          <p:nvPr/>
        </p:nvSpPr>
        <p:spPr>
          <a:xfrm>
            <a:off x="804672" y="3401568"/>
            <a:ext cx="548640" cy="548640"/>
          </a:xfrm>
          <a:prstGeom prst="ellipse">
            <a:avLst/>
          </a:prstGeom>
          <a:solidFill>
            <a:srgbClr val="97BC62"/>
          </a:solidFill>
          <a:ln/>
        </p:spPr>
        <p:txBody>
          <a:bodyPr/>
          <a:lstStyle/>
          <a:p>
            <a:endParaRPr lang="es-CL"/>
          </a:p>
        </p:txBody>
      </p:sp>
      <p:sp>
        <p:nvSpPr>
          <p:cNvPr id="16" name="Text 14"/>
          <p:cNvSpPr/>
          <p:nvPr/>
        </p:nvSpPr>
        <p:spPr>
          <a:xfrm>
            <a:off x="804672" y="3401568"/>
            <a:ext cx="548640" cy="54864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17" name="Text 15"/>
          <p:cNvSpPr/>
          <p:nvPr/>
        </p:nvSpPr>
        <p:spPr>
          <a:xfrm>
            <a:off x="1481328" y="3172968"/>
            <a:ext cx="4160520" cy="274320"/>
          </a:xfrm>
          <a:prstGeom prst="rect">
            <a:avLst/>
          </a:prstGeom>
          <a:noFill/>
          <a:ln/>
        </p:spPr>
        <p:txBody>
          <a:bodyPr wrap="square" lIns="0" tIns="0" rIns="0" bIns="0" rtlCol="0" anchor="ctr"/>
          <a:lstStyle/>
          <a:p>
            <a:pPr marL="0" indent="0">
              <a:buNone/>
            </a:pPr>
            <a:r>
              <a:rPr lang="en-US" sz="1500" b="1" dirty="0">
                <a:solidFill>
                  <a:srgbClr val="2C5F2D"/>
                </a:solidFill>
                <a:latin typeface="Calibri" pitchFamily="34" charset="0"/>
                <a:ea typeface="Calibri" pitchFamily="34" charset="-122"/>
                <a:cs typeface="Calibri" pitchFamily="34" charset="-120"/>
              </a:rPr>
              <a:t>uv + paquete instalable</a:t>
            </a:r>
            <a:endParaRPr lang="en-US" sz="1500" dirty="0"/>
          </a:p>
        </p:txBody>
      </p:sp>
      <p:sp>
        <p:nvSpPr>
          <p:cNvPr id="18" name="Text 16"/>
          <p:cNvSpPr/>
          <p:nvPr/>
        </p:nvSpPr>
        <p:spPr>
          <a:xfrm>
            <a:off x="1481328" y="3465576"/>
            <a:ext cx="4160520" cy="749808"/>
          </a:xfrm>
          <a:prstGeom prst="rect">
            <a:avLst/>
          </a:prstGeom>
          <a:noFill/>
          <a:ln/>
        </p:spPr>
        <p:txBody>
          <a:bodyPr wrap="square" lIns="0" tIns="0" rIns="0" bIns="0" rtlCol="0" anchor="t"/>
          <a:lstStyle/>
          <a:p>
            <a:pPr marL="0" indent="0">
              <a:buNone/>
            </a:pPr>
            <a:r>
              <a:rPr lang="en-US" sz="1200" dirty="0">
                <a:solidFill>
                  <a:srgbClr val="6B7280"/>
                </a:solidFill>
                <a:latin typeface="Calibri" pitchFamily="34" charset="0"/>
                <a:ea typeface="Calibri" pitchFamily="34" charset="-122"/>
                <a:cs typeface="Calibri" pitchFamily="34" charset="-120"/>
              </a:rPr>
              <a:t>Entorno reproducible con Python 3.13 y dependencias fijadas. `bikeshare` se instala y se importa igual en todos lados.</a:t>
            </a:r>
            <a:endParaRPr lang="en-US" sz="1200" dirty="0"/>
          </a:p>
        </p:txBody>
      </p:sp>
      <p:sp>
        <p:nvSpPr>
          <p:cNvPr id="19" name="Shape 17"/>
          <p:cNvSpPr/>
          <p:nvPr/>
        </p:nvSpPr>
        <p:spPr>
          <a:xfrm>
            <a:off x="6080760" y="2990088"/>
            <a:ext cx="5349240" cy="1371600"/>
          </a:xfrm>
          <a:prstGeom prst="roundRect">
            <a:avLst>
              <a:gd name="adj" fmla="val 5333"/>
            </a:avLst>
          </a:prstGeom>
          <a:solidFill>
            <a:srgbClr val="F5F7F2"/>
          </a:solidFill>
          <a:ln w="12700">
            <a:solidFill>
              <a:srgbClr val="F5F7F2"/>
            </a:solidFill>
            <a:prstDash val="solid"/>
          </a:ln>
          <a:effectLst>
            <a:outerShdw blurRad="101600" dist="25400" dir="5400000" algn="bl" rotWithShape="0">
              <a:srgbClr val="1C3A1C">
                <a:alpha val="10000"/>
              </a:srgbClr>
            </a:outerShdw>
          </a:effectLst>
        </p:spPr>
        <p:txBody>
          <a:bodyPr/>
          <a:lstStyle/>
          <a:p>
            <a:endParaRPr lang="es-CL"/>
          </a:p>
        </p:txBody>
      </p:sp>
      <p:sp>
        <p:nvSpPr>
          <p:cNvPr id="20" name="Shape 18"/>
          <p:cNvSpPr/>
          <p:nvPr/>
        </p:nvSpPr>
        <p:spPr>
          <a:xfrm>
            <a:off x="6336792" y="3401568"/>
            <a:ext cx="548640" cy="548640"/>
          </a:xfrm>
          <a:prstGeom prst="ellipse">
            <a:avLst/>
          </a:prstGeom>
          <a:solidFill>
            <a:srgbClr val="97BC62"/>
          </a:solidFill>
          <a:ln/>
        </p:spPr>
        <p:txBody>
          <a:bodyPr/>
          <a:lstStyle/>
          <a:p>
            <a:endParaRPr lang="es-CL"/>
          </a:p>
        </p:txBody>
      </p:sp>
      <p:sp>
        <p:nvSpPr>
          <p:cNvPr id="21" name="Text 19"/>
          <p:cNvSpPr/>
          <p:nvPr/>
        </p:nvSpPr>
        <p:spPr>
          <a:xfrm>
            <a:off x="6336792" y="3401568"/>
            <a:ext cx="548640" cy="54864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22" name="Text 20"/>
          <p:cNvSpPr/>
          <p:nvPr/>
        </p:nvSpPr>
        <p:spPr>
          <a:xfrm>
            <a:off x="7013448" y="3172968"/>
            <a:ext cx="4160520" cy="274320"/>
          </a:xfrm>
          <a:prstGeom prst="rect">
            <a:avLst/>
          </a:prstGeom>
          <a:noFill/>
          <a:ln/>
        </p:spPr>
        <p:txBody>
          <a:bodyPr wrap="square" lIns="0" tIns="0" rIns="0" bIns="0" rtlCol="0" anchor="ctr"/>
          <a:lstStyle/>
          <a:p>
            <a:pPr marL="0" indent="0">
              <a:buNone/>
            </a:pPr>
            <a:r>
              <a:rPr lang="en-US" sz="1500" b="1" dirty="0">
                <a:solidFill>
                  <a:srgbClr val="2C5F2D"/>
                </a:solidFill>
                <a:latin typeface="Calibri" pitchFamily="34" charset="0"/>
                <a:ea typeface="Calibri" pitchFamily="34" charset="-122"/>
                <a:cs typeface="Calibri" pitchFamily="34" charset="-120"/>
              </a:rPr>
              <a:t>Tests del pipeline</a:t>
            </a:r>
            <a:endParaRPr lang="en-US" sz="1500" dirty="0"/>
          </a:p>
        </p:txBody>
      </p:sp>
      <p:sp>
        <p:nvSpPr>
          <p:cNvPr id="23" name="Text 21"/>
          <p:cNvSpPr/>
          <p:nvPr/>
        </p:nvSpPr>
        <p:spPr>
          <a:xfrm>
            <a:off x="7013448" y="3465576"/>
            <a:ext cx="4160520" cy="749808"/>
          </a:xfrm>
          <a:prstGeom prst="rect">
            <a:avLst/>
          </a:prstGeom>
          <a:noFill/>
          <a:ln/>
        </p:spPr>
        <p:txBody>
          <a:bodyPr wrap="square" lIns="0" tIns="0" rIns="0" bIns="0" rtlCol="0" anchor="t"/>
          <a:lstStyle/>
          <a:p>
            <a:pPr marL="0" indent="0">
              <a:buNone/>
            </a:pPr>
            <a:r>
              <a:rPr lang="en-US" sz="1200" dirty="0">
                <a:solidFill>
                  <a:srgbClr val="6B7280"/>
                </a:solidFill>
                <a:latin typeface="Calibri" pitchFamily="34" charset="0"/>
                <a:ea typeface="Calibri" pitchFamily="34" charset="-122"/>
                <a:cs typeface="Calibri" pitchFamily="34" charset="-120"/>
              </a:rPr>
              <a:t>Cubren el ETL y el contrato de la API: el join 1:1, la ausencia de nulos y el esquema de /predict.</a:t>
            </a:r>
            <a:endParaRPr lang="en-US" sz="1200" dirty="0"/>
          </a:p>
        </p:txBody>
      </p:sp>
      <p:sp>
        <p:nvSpPr>
          <p:cNvPr id="24" name="Shape 22"/>
          <p:cNvSpPr/>
          <p:nvPr/>
        </p:nvSpPr>
        <p:spPr>
          <a:xfrm>
            <a:off x="548640" y="4663440"/>
            <a:ext cx="10881360" cy="1325880"/>
          </a:xfrm>
          <a:prstGeom prst="roundRect">
            <a:avLst>
              <a:gd name="adj" fmla="val 5517"/>
            </a:avLst>
          </a:prstGeom>
          <a:solidFill>
            <a:srgbClr val="1C3A1C"/>
          </a:solidFill>
          <a:ln w="12700">
            <a:solidFill>
              <a:srgbClr val="1C3A1C"/>
            </a:solidFill>
            <a:prstDash val="solid"/>
          </a:ln>
        </p:spPr>
        <p:txBody>
          <a:bodyPr/>
          <a:lstStyle/>
          <a:p>
            <a:endParaRPr lang="es-CL"/>
          </a:p>
        </p:txBody>
      </p:sp>
      <p:sp>
        <p:nvSpPr>
          <p:cNvPr id="25" name="Text 23"/>
          <p:cNvSpPr/>
          <p:nvPr/>
        </p:nvSpPr>
        <p:spPr>
          <a:xfrm>
            <a:off x="822960" y="4800600"/>
            <a:ext cx="10332720" cy="274320"/>
          </a:xfrm>
          <a:prstGeom prst="rect">
            <a:avLst/>
          </a:prstGeom>
          <a:noFill/>
          <a:ln/>
        </p:spPr>
        <p:txBody>
          <a:bodyPr wrap="square" lIns="0" tIns="0" rIns="0" bIns="0" rtlCol="0" anchor="ctr"/>
          <a:lstStyle/>
          <a:p>
            <a:pPr marL="0" indent="0">
              <a:buNone/>
            </a:pPr>
            <a:r>
              <a:rPr lang="en-US" sz="1300" b="1" dirty="0">
                <a:solidFill>
                  <a:srgbClr val="97BC62"/>
                </a:solidFill>
                <a:latin typeface="Calibri" pitchFamily="34" charset="0"/>
                <a:ea typeface="Calibri" pitchFamily="34" charset="-122"/>
                <a:cs typeface="Calibri" pitchFamily="34" charset="-120"/>
              </a:rPr>
              <a:t>Flujo completo, de la fuente al usuario</a:t>
            </a:r>
            <a:endParaRPr lang="en-US" sz="1300" dirty="0"/>
          </a:p>
        </p:txBody>
      </p:sp>
      <p:sp>
        <p:nvSpPr>
          <p:cNvPr id="26" name="Shape 24"/>
          <p:cNvSpPr/>
          <p:nvPr/>
        </p:nvSpPr>
        <p:spPr>
          <a:xfrm>
            <a:off x="822960" y="5166360"/>
            <a:ext cx="1097280" cy="457200"/>
          </a:xfrm>
          <a:prstGeom prst="roundRect">
            <a:avLst>
              <a:gd name="adj" fmla="val 10000"/>
            </a:avLst>
          </a:prstGeom>
          <a:solidFill>
            <a:srgbClr val="22491F"/>
          </a:solidFill>
          <a:ln w="12700">
            <a:solidFill>
              <a:srgbClr val="2C5F2D"/>
            </a:solidFill>
            <a:prstDash val="solid"/>
          </a:ln>
        </p:spPr>
        <p:txBody>
          <a:bodyPr/>
          <a:lstStyle/>
          <a:p>
            <a:endParaRPr lang="es-CL"/>
          </a:p>
        </p:txBody>
      </p:sp>
      <p:sp>
        <p:nvSpPr>
          <p:cNvPr id="27" name="Text 25"/>
          <p:cNvSpPr/>
          <p:nvPr/>
        </p:nvSpPr>
        <p:spPr>
          <a:xfrm>
            <a:off x="822960" y="5166360"/>
            <a:ext cx="1097280" cy="457200"/>
          </a:xfrm>
          <a:prstGeom prst="rect">
            <a:avLst/>
          </a:prstGeom>
          <a:noFill/>
          <a:ln/>
        </p:spPr>
        <p:txBody>
          <a:bodyPr wrap="square" lIns="0" tIns="0" rIns="0" bIns="0"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Fuentes</a:t>
            </a:r>
            <a:endParaRPr lang="en-US" sz="950" dirty="0"/>
          </a:p>
        </p:txBody>
      </p:sp>
      <p:sp>
        <p:nvSpPr>
          <p:cNvPr id="28" name="Text 26"/>
          <p:cNvSpPr/>
          <p:nvPr/>
        </p:nvSpPr>
        <p:spPr>
          <a:xfrm>
            <a:off x="1920240" y="5166360"/>
            <a:ext cx="237744" cy="457200"/>
          </a:xfrm>
          <a:prstGeom prst="rect">
            <a:avLst/>
          </a:prstGeom>
          <a:noFill/>
          <a:ln/>
        </p:spPr>
        <p:txBody>
          <a:bodyPr wrap="square" lIns="0" tIns="0" rIns="0" bIns="0" rtlCol="0" anchor="ctr"/>
          <a:lstStyle/>
          <a:p>
            <a:pPr marL="0" indent="0" algn="ctr">
              <a:buNone/>
            </a:pPr>
            <a:r>
              <a:rPr lang="en-US" sz="1400" b="1" dirty="0">
                <a:solidFill>
                  <a:srgbClr val="97BC62"/>
                </a:solidFill>
                <a:latin typeface="Calibri" pitchFamily="34" charset="0"/>
                <a:ea typeface="Calibri" pitchFamily="34" charset="-122"/>
                <a:cs typeface="Calibri" pitchFamily="34" charset="-120"/>
              </a:rPr>
              <a:t>→</a:t>
            </a:r>
            <a:endParaRPr lang="en-US" sz="1400" dirty="0"/>
          </a:p>
        </p:txBody>
      </p:sp>
      <p:sp>
        <p:nvSpPr>
          <p:cNvPr id="29" name="Shape 27"/>
          <p:cNvSpPr/>
          <p:nvPr/>
        </p:nvSpPr>
        <p:spPr>
          <a:xfrm>
            <a:off x="2157984" y="5166360"/>
            <a:ext cx="1097280" cy="457200"/>
          </a:xfrm>
          <a:prstGeom prst="roundRect">
            <a:avLst>
              <a:gd name="adj" fmla="val 10000"/>
            </a:avLst>
          </a:prstGeom>
          <a:solidFill>
            <a:srgbClr val="22491F"/>
          </a:solidFill>
          <a:ln w="12700">
            <a:solidFill>
              <a:srgbClr val="2C5F2D"/>
            </a:solidFill>
            <a:prstDash val="solid"/>
          </a:ln>
        </p:spPr>
        <p:txBody>
          <a:bodyPr/>
          <a:lstStyle/>
          <a:p>
            <a:endParaRPr lang="es-CL"/>
          </a:p>
        </p:txBody>
      </p:sp>
      <p:sp>
        <p:nvSpPr>
          <p:cNvPr id="30" name="Text 28"/>
          <p:cNvSpPr/>
          <p:nvPr/>
        </p:nvSpPr>
        <p:spPr>
          <a:xfrm>
            <a:off x="2157984" y="5166360"/>
            <a:ext cx="1097280" cy="457200"/>
          </a:xfrm>
          <a:prstGeom prst="rect">
            <a:avLst/>
          </a:prstGeom>
          <a:noFill/>
          <a:ln/>
        </p:spPr>
        <p:txBody>
          <a:bodyPr wrap="square" lIns="0" tIns="0" rIns="0" bIns="0"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ETL</a:t>
            </a:r>
            <a:endParaRPr lang="en-US" sz="950" dirty="0"/>
          </a:p>
        </p:txBody>
      </p:sp>
      <p:sp>
        <p:nvSpPr>
          <p:cNvPr id="31" name="Text 29"/>
          <p:cNvSpPr/>
          <p:nvPr/>
        </p:nvSpPr>
        <p:spPr>
          <a:xfrm>
            <a:off x="3255264" y="5166360"/>
            <a:ext cx="237744" cy="457200"/>
          </a:xfrm>
          <a:prstGeom prst="rect">
            <a:avLst/>
          </a:prstGeom>
          <a:noFill/>
          <a:ln/>
        </p:spPr>
        <p:txBody>
          <a:bodyPr wrap="square" lIns="0" tIns="0" rIns="0" bIns="0" rtlCol="0" anchor="ctr"/>
          <a:lstStyle/>
          <a:p>
            <a:pPr marL="0" indent="0" algn="ctr">
              <a:buNone/>
            </a:pPr>
            <a:r>
              <a:rPr lang="en-US" sz="1400" b="1" dirty="0">
                <a:solidFill>
                  <a:srgbClr val="97BC62"/>
                </a:solidFill>
                <a:latin typeface="Calibri" pitchFamily="34" charset="0"/>
                <a:ea typeface="Calibri" pitchFamily="34" charset="-122"/>
                <a:cs typeface="Calibri" pitchFamily="34" charset="-120"/>
              </a:rPr>
              <a:t>→</a:t>
            </a:r>
            <a:endParaRPr lang="en-US" sz="1400" dirty="0"/>
          </a:p>
        </p:txBody>
      </p:sp>
      <p:sp>
        <p:nvSpPr>
          <p:cNvPr id="32" name="Shape 30"/>
          <p:cNvSpPr/>
          <p:nvPr/>
        </p:nvSpPr>
        <p:spPr>
          <a:xfrm>
            <a:off x="3493008" y="5166360"/>
            <a:ext cx="1097280" cy="457200"/>
          </a:xfrm>
          <a:prstGeom prst="roundRect">
            <a:avLst>
              <a:gd name="adj" fmla="val 10000"/>
            </a:avLst>
          </a:prstGeom>
          <a:solidFill>
            <a:srgbClr val="22491F"/>
          </a:solidFill>
          <a:ln w="12700">
            <a:solidFill>
              <a:srgbClr val="2C5F2D"/>
            </a:solidFill>
            <a:prstDash val="solid"/>
          </a:ln>
        </p:spPr>
        <p:txBody>
          <a:bodyPr/>
          <a:lstStyle/>
          <a:p>
            <a:endParaRPr lang="es-CL"/>
          </a:p>
        </p:txBody>
      </p:sp>
      <p:sp>
        <p:nvSpPr>
          <p:cNvPr id="33" name="Text 31"/>
          <p:cNvSpPr/>
          <p:nvPr/>
        </p:nvSpPr>
        <p:spPr>
          <a:xfrm>
            <a:off x="3493008" y="5166360"/>
            <a:ext cx="1097280" cy="457200"/>
          </a:xfrm>
          <a:prstGeom prst="rect">
            <a:avLst/>
          </a:prstGeom>
          <a:noFill/>
          <a:ln/>
        </p:spPr>
        <p:txBody>
          <a:bodyPr wrap="square" lIns="0" tIns="0" rIns="0" bIns="0"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parquet</a:t>
            </a:r>
            <a:endParaRPr lang="en-US" sz="950" dirty="0"/>
          </a:p>
        </p:txBody>
      </p:sp>
      <p:sp>
        <p:nvSpPr>
          <p:cNvPr id="34" name="Text 32"/>
          <p:cNvSpPr/>
          <p:nvPr/>
        </p:nvSpPr>
        <p:spPr>
          <a:xfrm>
            <a:off x="4590288" y="5166360"/>
            <a:ext cx="237744" cy="457200"/>
          </a:xfrm>
          <a:prstGeom prst="rect">
            <a:avLst/>
          </a:prstGeom>
          <a:noFill/>
          <a:ln/>
        </p:spPr>
        <p:txBody>
          <a:bodyPr wrap="square" lIns="0" tIns="0" rIns="0" bIns="0" rtlCol="0" anchor="ctr"/>
          <a:lstStyle/>
          <a:p>
            <a:pPr marL="0" indent="0" algn="ctr">
              <a:buNone/>
            </a:pPr>
            <a:r>
              <a:rPr lang="en-US" sz="1400" b="1" dirty="0">
                <a:solidFill>
                  <a:srgbClr val="97BC62"/>
                </a:solidFill>
                <a:latin typeface="Calibri" pitchFamily="34" charset="0"/>
                <a:ea typeface="Calibri" pitchFamily="34" charset="-122"/>
                <a:cs typeface="Calibri" pitchFamily="34" charset="-120"/>
              </a:rPr>
              <a:t>→</a:t>
            </a:r>
            <a:endParaRPr lang="en-US" sz="1400" dirty="0"/>
          </a:p>
        </p:txBody>
      </p:sp>
      <p:sp>
        <p:nvSpPr>
          <p:cNvPr id="35" name="Shape 33"/>
          <p:cNvSpPr/>
          <p:nvPr/>
        </p:nvSpPr>
        <p:spPr>
          <a:xfrm>
            <a:off x="4828032" y="5166360"/>
            <a:ext cx="1097280" cy="457200"/>
          </a:xfrm>
          <a:prstGeom prst="roundRect">
            <a:avLst>
              <a:gd name="adj" fmla="val 10000"/>
            </a:avLst>
          </a:prstGeom>
          <a:solidFill>
            <a:srgbClr val="22491F"/>
          </a:solidFill>
          <a:ln w="12700">
            <a:solidFill>
              <a:srgbClr val="2C5F2D"/>
            </a:solidFill>
            <a:prstDash val="solid"/>
          </a:ln>
        </p:spPr>
        <p:txBody>
          <a:bodyPr/>
          <a:lstStyle/>
          <a:p>
            <a:endParaRPr lang="es-CL"/>
          </a:p>
        </p:txBody>
      </p:sp>
      <p:sp>
        <p:nvSpPr>
          <p:cNvPr id="36" name="Text 34"/>
          <p:cNvSpPr/>
          <p:nvPr/>
        </p:nvSpPr>
        <p:spPr>
          <a:xfrm>
            <a:off x="4828032" y="5166360"/>
            <a:ext cx="1097280" cy="457200"/>
          </a:xfrm>
          <a:prstGeom prst="rect">
            <a:avLst/>
          </a:prstGeom>
          <a:noFill/>
          <a:ln/>
        </p:spPr>
        <p:txBody>
          <a:bodyPr wrap="square" lIns="0" tIns="0" rIns="0" bIns="0"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XGBoost</a:t>
            </a:r>
            <a:endParaRPr lang="en-US" sz="950" dirty="0"/>
          </a:p>
        </p:txBody>
      </p:sp>
      <p:sp>
        <p:nvSpPr>
          <p:cNvPr id="37" name="Text 35"/>
          <p:cNvSpPr/>
          <p:nvPr/>
        </p:nvSpPr>
        <p:spPr>
          <a:xfrm>
            <a:off x="5925312" y="5166360"/>
            <a:ext cx="237744" cy="457200"/>
          </a:xfrm>
          <a:prstGeom prst="rect">
            <a:avLst/>
          </a:prstGeom>
          <a:noFill/>
          <a:ln/>
        </p:spPr>
        <p:txBody>
          <a:bodyPr wrap="square" lIns="0" tIns="0" rIns="0" bIns="0" rtlCol="0" anchor="ctr"/>
          <a:lstStyle/>
          <a:p>
            <a:pPr marL="0" indent="0" algn="ctr">
              <a:buNone/>
            </a:pPr>
            <a:r>
              <a:rPr lang="en-US" sz="1400" b="1" dirty="0">
                <a:solidFill>
                  <a:srgbClr val="97BC62"/>
                </a:solidFill>
                <a:latin typeface="Calibri" pitchFamily="34" charset="0"/>
                <a:ea typeface="Calibri" pitchFamily="34" charset="-122"/>
                <a:cs typeface="Calibri" pitchFamily="34" charset="-120"/>
              </a:rPr>
              <a:t>→</a:t>
            </a:r>
            <a:endParaRPr lang="en-US" sz="1400" dirty="0"/>
          </a:p>
        </p:txBody>
      </p:sp>
      <p:sp>
        <p:nvSpPr>
          <p:cNvPr id="38" name="Shape 36"/>
          <p:cNvSpPr/>
          <p:nvPr/>
        </p:nvSpPr>
        <p:spPr>
          <a:xfrm>
            <a:off x="6163056" y="5166360"/>
            <a:ext cx="1097280" cy="457200"/>
          </a:xfrm>
          <a:prstGeom prst="roundRect">
            <a:avLst>
              <a:gd name="adj" fmla="val 10000"/>
            </a:avLst>
          </a:prstGeom>
          <a:solidFill>
            <a:srgbClr val="22491F"/>
          </a:solidFill>
          <a:ln w="12700">
            <a:solidFill>
              <a:srgbClr val="2C5F2D"/>
            </a:solidFill>
            <a:prstDash val="solid"/>
          </a:ln>
        </p:spPr>
        <p:txBody>
          <a:bodyPr/>
          <a:lstStyle/>
          <a:p>
            <a:endParaRPr lang="es-CL"/>
          </a:p>
        </p:txBody>
      </p:sp>
      <p:sp>
        <p:nvSpPr>
          <p:cNvPr id="39" name="Text 37"/>
          <p:cNvSpPr/>
          <p:nvPr/>
        </p:nvSpPr>
        <p:spPr>
          <a:xfrm>
            <a:off x="6163056" y="5166360"/>
            <a:ext cx="1097280" cy="457200"/>
          </a:xfrm>
          <a:prstGeom prst="rect">
            <a:avLst/>
          </a:prstGeom>
          <a:noFill/>
          <a:ln/>
        </p:spPr>
        <p:txBody>
          <a:bodyPr wrap="square" lIns="0" tIns="0" rIns="0" bIns="0"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model.pkl</a:t>
            </a:r>
            <a:endParaRPr lang="en-US" sz="950" dirty="0"/>
          </a:p>
        </p:txBody>
      </p:sp>
      <p:sp>
        <p:nvSpPr>
          <p:cNvPr id="40" name="Text 38"/>
          <p:cNvSpPr/>
          <p:nvPr/>
        </p:nvSpPr>
        <p:spPr>
          <a:xfrm>
            <a:off x="7260336" y="5166360"/>
            <a:ext cx="237744" cy="457200"/>
          </a:xfrm>
          <a:prstGeom prst="rect">
            <a:avLst/>
          </a:prstGeom>
          <a:noFill/>
          <a:ln/>
        </p:spPr>
        <p:txBody>
          <a:bodyPr wrap="square" lIns="0" tIns="0" rIns="0" bIns="0" rtlCol="0" anchor="ctr"/>
          <a:lstStyle/>
          <a:p>
            <a:pPr marL="0" indent="0" algn="ctr">
              <a:buNone/>
            </a:pPr>
            <a:r>
              <a:rPr lang="en-US" sz="1400" b="1" dirty="0">
                <a:solidFill>
                  <a:srgbClr val="97BC62"/>
                </a:solidFill>
                <a:latin typeface="Calibri" pitchFamily="34" charset="0"/>
                <a:ea typeface="Calibri" pitchFamily="34" charset="-122"/>
                <a:cs typeface="Calibri" pitchFamily="34" charset="-120"/>
              </a:rPr>
              <a:t>→</a:t>
            </a:r>
            <a:endParaRPr lang="en-US" sz="1400" dirty="0"/>
          </a:p>
        </p:txBody>
      </p:sp>
      <p:sp>
        <p:nvSpPr>
          <p:cNvPr id="41" name="Shape 39"/>
          <p:cNvSpPr/>
          <p:nvPr/>
        </p:nvSpPr>
        <p:spPr>
          <a:xfrm>
            <a:off x="7498080" y="5166360"/>
            <a:ext cx="1097280" cy="457200"/>
          </a:xfrm>
          <a:prstGeom prst="roundRect">
            <a:avLst>
              <a:gd name="adj" fmla="val 10000"/>
            </a:avLst>
          </a:prstGeom>
          <a:solidFill>
            <a:srgbClr val="22491F"/>
          </a:solidFill>
          <a:ln w="12700">
            <a:solidFill>
              <a:srgbClr val="2C5F2D"/>
            </a:solidFill>
            <a:prstDash val="solid"/>
          </a:ln>
        </p:spPr>
        <p:txBody>
          <a:bodyPr/>
          <a:lstStyle/>
          <a:p>
            <a:endParaRPr lang="es-CL"/>
          </a:p>
        </p:txBody>
      </p:sp>
      <p:sp>
        <p:nvSpPr>
          <p:cNvPr id="42" name="Text 40"/>
          <p:cNvSpPr/>
          <p:nvPr/>
        </p:nvSpPr>
        <p:spPr>
          <a:xfrm>
            <a:off x="7498080" y="5166360"/>
            <a:ext cx="1097280" cy="457200"/>
          </a:xfrm>
          <a:prstGeom prst="rect">
            <a:avLst/>
          </a:prstGeom>
          <a:noFill/>
          <a:ln/>
        </p:spPr>
        <p:txBody>
          <a:bodyPr wrap="square" lIns="0" tIns="0" rIns="0" bIns="0"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API + Dashboard</a:t>
            </a:r>
            <a:endParaRPr lang="en-US" sz="950" dirty="0"/>
          </a:p>
        </p:txBody>
      </p:sp>
      <p:sp>
        <p:nvSpPr>
          <p:cNvPr id="43" name="Text 41"/>
          <p:cNvSpPr/>
          <p:nvPr/>
        </p:nvSpPr>
        <p:spPr>
          <a:xfrm>
            <a:off x="8595360" y="5166360"/>
            <a:ext cx="237744" cy="457200"/>
          </a:xfrm>
          <a:prstGeom prst="rect">
            <a:avLst/>
          </a:prstGeom>
          <a:noFill/>
          <a:ln/>
        </p:spPr>
        <p:txBody>
          <a:bodyPr wrap="square" lIns="0" tIns="0" rIns="0" bIns="0" rtlCol="0" anchor="ctr"/>
          <a:lstStyle/>
          <a:p>
            <a:pPr marL="0" indent="0" algn="ctr">
              <a:buNone/>
            </a:pPr>
            <a:r>
              <a:rPr lang="en-US" sz="1400" b="1" dirty="0">
                <a:solidFill>
                  <a:srgbClr val="97BC62"/>
                </a:solidFill>
                <a:latin typeface="Calibri" pitchFamily="34" charset="0"/>
                <a:ea typeface="Calibri" pitchFamily="34" charset="-122"/>
                <a:cs typeface="Calibri" pitchFamily="34" charset="-120"/>
              </a:rPr>
              <a:t>→</a:t>
            </a:r>
            <a:endParaRPr lang="en-US" sz="1400" dirty="0"/>
          </a:p>
        </p:txBody>
      </p:sp>
      <p:sp>
        <p:nvSpPr>
          <p:cNvPr id="44" name="Shape 42"/>
          <p:cNvSpPr/>
          <p:nvPr/>
        </p:nvSpPr>
        <p:spPr>
          <a:xfrm>
            <a:off x="8833104" y="5166360"/>
            <a:ext cx="1097280" cy="457200"/>
          </a:xfrm>
          <a:prstGeom prst="roundRect">
            <a:avLst>
              <a:gd name="adj" fmla="val 10000"/>
            </a:avLst>
          </a:prstGeom>
          <a:solidFill>
            <a:srgbClr val="22491F"/>
          </a:solidFill>
          <a:ln w="12700">
            <a:solidFill>
              <a:srgbClr val="2C5F2D"/>
            </a:solidFill>
            <a:prstDash val="solid"/>
          </a:ln>
        </p:spPr>
        <p:txBody>
          <a:bodyPr/>
          <a:lstStyle/>
          <a:p>
            <a:endParaRPr lang="es-CL"/>
          </a:p>
        </p:txBody>
      </p:sp>
      <p:sp>
        <p:nvSpPr>
          <p:cNvPr id="45" name="Text 43"/>
          <p:cNvSpPr/>
          <p:nvPr/>
        </p:nvSpPr>
        <p:spPr>
          <a:xfrm>
            <a:off x="8833104" y="5166360"/>
            <a:ext cx="1097280" cy="457200"/>
          </a:xfrm>
          <a:prstGeom prst="rect">
            <a:avLst/>
          </a:prstGeom>
          <a:noFill/>
          <a:ln/>
        </p:spPr>
        <p:txBody>
          <a:bodyPr wrap="square" lIns="0" tIns="0" rIns="0" bIns="0"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Docker</a:t>
            </a:r>
            <a:endParaRPr lang="en-US" sz="950" dirty="0"/>
          </a:p>
        </p:txBody>
      </p:sp>
      <p:sp>
        <p:nvSpPr>
          <p:cNvPr id="46" name="Text 44"/>
          <p:cNvSpPr/>
          <p:nvPr/>
        </p:nvSpPr>
        <p:spPr>
          <a:xfrm>
            <a:off x="9930384" y="5166360"/>
            <a:ext cx="237744" cy="457200"/>
          </a:xfrm>
          <a:prstGeom prst="rect">
            <a:avLst/>
          </a:prstGeom>
          <a:noFill/>
          <a:ln/>
        </p:spPr>
        <p:txBody>
          <a:bodyPr wrap="square" lIns="0" tIns="0" rIns="0" bIns="0" rtlCol="0" anchor="ctr"/>
          <a:lstStyle/>
          <a:p>
            <a:pPr marL="0" indent="0" algn="ctr">
              <a:buNone/>
            </a:pPr>
            <a:r>
              <a:rPr lang="en-US" sz="1400" b="1" dirty="0">
                <a:solidFill>
                  <a:srgbClr val="97BC62"/>
                </a:solidFill>
                <a:latin typeface="Calibri" pitchFamily="34" charset="0"/>
                <a:ea typeface="Calibri" pitchFamily="34" charset="-122"/>
                <a:cs typeface="Calibri" pitchFamily="34" charset="-120"/>
              </a:rPr>
              <a:t>→</a:t>
            </a:r>
            <a:endParaRPr lang="en-US" sz="1400" dirty="0"/>
          </a:p>
        </p:txBody>
      </p:sp>
      <p:sp>
        <p:nvSpPr>
          <p:cNvPr id="47" name="Shape 45"/>
          <p:cNvSpPr/>
          <p:nvPr/>
        </p:nvSpPr>
        <p:spPr>
          <a:xfrm>
            <a:off x="10168128" y="5166360"/>
            <a:ext cx="1097280" cy="457200"/>
          </a:xfrm>
          <a:prstGeom prst="roundRect">
            <a:avLst>
              <a:gd name="adj" fmla="val 10000"/>
            </a:avLst>
          </a:prstGeom>
          <a:solidFill>
            <a:srgbClr val="22491F"/>
          </a:solidFill>
          <a:ln w="12700">
            <a:solidFill>
              <a:srgbClr val="2C5F2D"/>
            </a:solidFill>
            <a:prstDash val="solid"/>
          </a:ln>
        </p:spPr>
        <p:txBody>
          <a:bodyPr/>
          <a:lstStyle/>
          <a:p>
            <a:endParaRPr lang="es-CL"/>
          </a:p>
        </p:txBody>
      </p:sp>
      <p:sp>
        <p:nvSpPr>
          <p:cNvPr id="48" name="Text 46"/>
          <p:cNvSpPr/>
          <p:nvPr/>
        </p:nvSpPr>
        <p:spPr>
          <a:xfrm>
            <a:off x="10168128" y="5166360"/>
            <a:ext cx="1097280" cy="457200"/>
          </a:xfrm>
          <a:prstGeom prst="rect">
            <a:avLst/>
          </a:prstGeom>
          <a:noFill/>
          <a:ln/>
        </p:spPr>
        <p:txBody>
          <a:bodyPr wrap="square" lIns="0" tIns="0" rIns="0" bIns="0"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CI</a:t>
            </a:r>
            <a:endParaRPr lang="en-US" sz="950" dirty="0"/>
          </a:p>
        </p:txBody>
      </p:sp>
      <p:sp>
        <p:nvSpPr>
          <p:cNvPr id="49" name="Shape 47"/>
          <p:cNvSpPr/>
          <p:nvPr/>
        </p:nvSpPr>
        <p:spPr>
          <a:xfrm>
            <a:off x="548640" y="6236208"/>
            <a:ext cx="274320" cy="274320"/>
          </a:xfrm>
          <a:prstGeom prst="ellipse">
            <a:avLst/>
          </a:prstGeom>
          <a:solidFill>
            <a:srgbClr val="97BC62"/>
          </a:solidFill>
          <a:ln/>
        </p:spPr>
        <p:txBody>
          <a:bodyPr/>
          <a:lstStyle/>
          <a:p>
            <a:endParaRPr lang="es-CL"/>
          </a:p>
        </p:txBody>
      </p:sp>
      <p:sp>
        <p:nvSpPr>
          <p:cNvPr id="50" name="Text 48"/>
          <p:cNvSpPr/>
          <p:nvPr/>
        </p:nvSpPr>
        <p:spPr>
          <a:xfrm>
            <a:off x="548640" y="6236208"/>
            <a:ext cx="274320" cy="274320"/>
          </a:xfrm>
          <a:prstGeom prst="rect">
            <a:avLst/>
          </a:prstGeom>
          <a:noFill/>
          <a:ln/>
        </p:spPr>
        <p:txBody>
          <a:bodyPr wrap="square" lIns="0" tIns="0" rIns="0" bIns="0" rtlCol="0" anchor="ctr"/>
          <a:lstStyle/>
          <a:p>
            <a:pPr marL="0" indent="0" algn="ctr">
              <a:buNone/>
            </a:pPr>
            <a:r>
              <a:rPr lang="en-US" sz="1100" b="1" dirty="0">
                <a:solidFill>
                  <a:srgbClr val="1C3A1C"/>
                </a:solidFill>
                <a:latin typeface="Calibri" pitchFamily="34" charset="0"/>
                <a:ea typeface="Calibri" pitchFamily="34" charset="-122"/>
                <a:cs typeface="Calibri" pitchFamily="34" charset="-120"/>
              </a:rPr>
              <a:t>4</a:t>
            </a:r>
            <a:endParaRPr lang="en-US" sz="1100" dirty="0"/>
          </a:p>
        </p:txBody>
      </p:sp>
      <p:sp>
        <p:nvSpPr>
          <p:cNvPr id="51" name="Text 49"/>
          <p:cNvSpPr/>
          <p:nvPr/>
        </p:nvSpPr>
        <p:spPr>
          <a:xfrm>
            <a:off x="914400" y="6236208"/>
            <a:ext cx="5943600" cy="274320"/>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Michelangelo Bandelli — Dashboard, API y despliegue</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C3A1C"/>
        </a:solidFill>
        <a:effectLst/>
      </p:bgPr>
    </p:bg>
    <p:spTree>
      <p:nvGrpSpPr>
        <p:cNvPr id="1" name=""/>
        <p:cNvGrpSpPr/>
        <p:nvPr/>
      </p:nvGrpSpPr>
      <p:grpSpPr>
        <a:xfrm>
          <a:off x="0" y="0"/>
          <a:ext cx="0" cy="0"/>
          <a:chOff x="0" y="0"/>
          <a:chExt cx="0" cy="0"/>
        </a:xfrm>
      </p:grpSpPr>
      <p:sp>
        <p:nvSpPr>
          <p:cNvPr id="2" name="Shape 0"/>
          <p:cNvSpPr/>
          <p:nvPr/>
        </p:nvSpPr>
        <p:spPr>
          <a:xfrm>
            <a:off x="10332720" y="-1097280"/>
            <a:ext cx="3657600" cy="3657600"/>
          </a:xfrm>
          <a:prstGeom prst="ellipse">
            <a:avLst/>
          </a:prstGeom>
          <a:solidFill>
            <a:srgbClr val="22491F"/>
          </a:solidFill>
          <a:ln w="12700">
            <a:solidFill>
              <a:srgbClr val="22491F"/>
            </a:solidFill>
            <a:prstDash val="solid"/>
          </a:ln>
        </p:spPr>
        <p:txBody>
          <a:bodyPr/>
          <a:lstStyle/>
          <a:p>
            <a:endParaRPr lang="es-CL"/>
          </a:p>
        </p:txBody>
      </p:sp>
      <p:sp>
        <p:nvSpPr>
          <p:cNvPr id="3" name="Text 1"/>
          <p:cNvSpPr/>
          <p:nvPr/>
        </p:nvSpPr>
        <p:spPr>
          <a:xfrm>
            <a:off x="548640" y="411480"/>
            <a:ext cx="11064240" cy="256032"/>
          </a:xfrm>
          <a:prstGeom prst="rect">
            <a:avLst/>
          </a:prstGeom>
          <a:noFill/>
          <a:ln/>
        </p:spPr>
        <p:txBody>
          <a:bodyPr wrap="square" lIns="0" tIns="0" rIns="0" bIns="0" rtlCol="0" anchor="ctr"/>
          <a:lstStyle/>
          <a:p>
            <a:pPr marL="0" indent="0">
              <a:buNone/>
            </a:pPr>
            <a:r>
              <a:rPr lang="en-US" sz="1200" b="1" kern="0" spc="200" dirty="0">
                <a:solidFill>
                  <a:srgbClr val="97BC62"/>
                </a:solidFill>
                <a:latin typeface="Calibri" pitchFamily="34" charset="0"/>
                <a:ea typeface="Calibri" pitchFamily="34" charset="-122"/>
                <a:cs typeface="Calibri" pitchFamily="34" charset="-120"/>
              </a:rPr>
              <a:t>CIERRE</a:t>
            </a:r>
            <a:endParaRPr lang="en-US" sz="1200" dirty="0"/>
          </a:p>
        </p:txBody>
      </p:sp>
      <p:sp>
        <p:nvSpPr>
          <p:cNvPr id="4" name="Text 2"/>
          <p:cNvSpPr/>
          <p:nvPr/>
        </p:nvSpPr>
        <p:spPr>
          <a:xfrm>
            <a:off x="548640" y="685800"/>
            <a:ext cx="11064240" cy="640080"/>
          </a:xfrm>
          <a:prstGeom prst="rect">
            <a:avLst/>
          </a:prstGeom>
          <a:noFill/>
          <a:ln/>
        </p:spPr>
        <p:txBody>
          <a:bodyPr wrap="square" lIns="0" tIns="0" rIns="0" bIns="0"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Conclusiones</a:t>
            </a:r>
            <a:endParaRPr lang="en-US" sz="3600" dirty="0"/>
          </a:p>
        </p:txBody>
      </p:sp>
      <p:sp>
        <p:nvSpPr>
          <p:cNvPr id="5" name="Shape 3"/>
          <p:cNvSpPr/>
          <p:nvPr/>
        </p:nvSpPr>
        <p:spPr>
          <a:xfrm>
            <a:off x="548640" y="1554479"/>
            <a:ext cx="5349240" cy="4023359"/>
          </a:xfrm>
          <a:prstGeom prst="roundRect">
            <a:avLst>
              <a:gd name="adj" fmla="val 2410"/>
            </a:avLst>
          </a:prstGeom>
          <a:solidFill>
            <a:srgbClr val="22491F"/>
          </a:solidFill>
          <a:ln w="12700">
            <a:solidFill>
              <a:srgbClr val="2C5F2D"/>
            </a:solidFill>
            <a:prstDash val="solid"/>
          </a:ln>
        </p:spPr>
        <p:txBody>
          <a:bodyPr/>
          <a:lstStyle/>
          <a:p>
            <a:endParaRPr lang="es-CL"/>
          </a:p>
        </p:txBody>
      </p:sp>
      <p:sp>
        <p:nvSpPr>
          <p:cNvPr id="6" name="Text 4"/>
          <p:cNvSpPr/>
          <p:nvPr/>
        </p:nvSpPr>
        <p:spPr>
          <a:xfrm>
            <a:off x="822960" y="1737360"/>
            <a:ext cx="4846320" cy="310896"/>
          </a:xfrm>
          <a:prstGeom prst="rect">
            <a:avLst/>
          </a:prstGeom>
          <a:noFill/>
          <a:ln/>
        </p:spPr>
        <p:txBody>
          <a:bodyPr wrap="square" lIns="0" tIns="0" rIns="0" bIns="0" rtlCol="0" anchor="ctr"/>
          <a:lstStyle/>
          <a:p>
            <a:pPr marL="0" indent="0">
              <a:buNone/>
            </a:pPr>
            <a:r>
              <a:rPr lang="en-US" sz="1700" b="1" dirty="0">
                <a:solidFill>
                  <a:srgbClr val="97BC62"/>
                </a:solidFill>
                <a:latin typeface="Calibri" pitchFamily="34" charset="0"/>
                <a:ea typeface="Calibri" pitchFamily="34" charset="-122"/>
                <a:cs typeface="Calibri" pitchFamily="34" charset="-120"/>
              </a:rPr>
              <a:t>✅  Lo logrado</a:t>
            </a:r>
            <a:endParaRPr lang="en-US" sz="1700" dirty="0"/>
          </a:p>
        </p:txBody>
      </p:sp>
      <p:sp>
        <p:nvSpPr>
          <p:cNvPr id="7" name="Text 5"/>
          <p:cNvSpPr/>
          <p:nvPr/>
        </p:nvSpPr>
        <p:spPr>
          <a:xfrm>
            <a:off x="822960" y="2148840"/>
            <a:ext cx="4846320" cy="3154680"/>
          </a:xfrm>
          <a:prstGeom prst="rect">
            <a:avLst/>
          </a:prstGeom>
          <a:noFill/>
          <a:ln/>
        </p:spPr>
        <p:txBody>
          <a:bodyPr wrap="square" lIns="0" tIns="0" rIns="0" bIns="0" rtlCol="0" anchor="t"/>
          <a:lstStyle/>
          <a:p>
            <a:pPr marL="0" indent="0">
              <a:lnSpc>
                <a:spcPts val="2000"/>
              </a:lnSpc>
              <a:buNone/>
            </a:pPr>
            <a:r>
              <a:rPr lang="en-US" sz="1600" b="1" dirty="0">
                <a:solidFill>
                  <a:srgbClr val="FFFFFF"/>
                </a:solidFill>
                <a:latin typeface="Calibri" pitchFamily="34" charset="0"/>
                <a:ea typeface="Calibri" pitchFamily="34" charset="-122"/>
                <a:cs typeface="Calibri" pitchFamily="34" charset="-120"/>
              </a:rPr>
              <a:t>Solución end-to-end</a:t>
            </a:r>
            <a:r>
              <a:rPr lang="en-US" sz="1600" dirty="0">
                <a:solidFill>
                  <a:srgbClr val="C9D6C2"/>
                </a:solidFill>
                <a:latin typeface="Calibri" pitchFamily="34" charset="0"/>
                <a:ea typeface="Calibri" pitchFamily="34" charset="-122"/>
                <a:cs typeface="Calibri" pitchFamily="34" charset="-120"/>
              </a:rPr>
              <a:t>: datos → ETL → modelo → API → dashboard → contenedor → CI.</a:t>
            </a:r>
          </a:p>
          <a:p>
            <a:pPr marL="0" indent="0">
              <a:lnSpc>
                <a:spcPts val="2000"/>
              </a:lnSpc>
              <a:buNone/>
            </a:pPr>
            <a:r>
              <a:rPr lang="en-US" sz="1600" dirty="0">
                <a:solidFill>
                  <a:srgbClr val="C9D6C2"/>
                </a:solidFill>
                <a:latin typeface="Calibri" pitchFamily="34" charset="0"/>
                <a:ea typeface="Calibri" pitchFamily="34" charset="-122"/>
                <a:cs typeface="Calibri" pitchFamily="34" charset="-120"/>
              </a:rPr>
              <a:t>
</a:t>
            </a:r>
            <a:r>
              <a:rPr lang="en-US" sz="1600" b="1" dirty="0">
                <a:solidFill>
                  <a:srgbClr val="FFFFFF"/>
                </a:solidFill>
                <a:latin typeface="Calibri" pitchFamily="34" charset="0"/>
                <a:ea typeface="Calibri" pitchFamily="34" charset="-122"/>
                <a:cs typeface="Calibri" pitchFamily="34" charset="-120"/>
              </a:rPr>
              <a:t>ETL multi-fuente real</a:t>
            </a:r>
            <a:r>
              <a:rPr lang="en-US" sz="1600" dirty="0">
                <a:solidFill>
                  <a:srgbClr val="C9D6C2"/>
                </a:solidFill>
                <a:latin typeface="Calibri" pitchFamily="34" charset="0"/>
                <a:ea typeface="Calibri" pitchFamily="34" charset="-122"/>
                <a:cs typeface="Calibri" pitchFamily="34" charset="-120"/>
              </a:rPr>
              <a:t> con join 1:1 por datetime, 100% de match con clima y 0 nulos.</a:t>
            </a:r>
          </a:p>
          <a:p>
            <a:pPr marL="0" indent="0">
              <a:lnSpc>
                <a:spcPts val="2000"/>
              </a:lnSpc>
              <a:buNone/>
            </a:pPr>
            <a:r>
              <a:rPr lang="en-US" sz="1600" dirty="0">
                <a:solidFill>
                  <a:srgbClr val="C9D6C2"/>
                </a:solidFill>
                <a:latin typeface="Calibri" pitchFamily="34" charset="0"/>
                <a:ea typeface="Calibri" pitchFamily="34" charset="-122"/>
                <a:cs typeface="Calibri" pitchFamily="34" charset="-120"/>
              </a:rPr>
              <a:t>
</a:t>
            </a:r>
            <a:r>
              <a:rPr lang="en-US" sz="1600" b="1" dirty="0">
                <a:solidFill>
                  <a:srgbClr val="FFFFFF"/>
                </a:solidFill>
                <a:latin typeface="Calibri" pitchFamily="34" charset="0"/>
                <a:ea typeface="Calibri" pitchFamily="34" charset="-122"/>
                <a:cs typeface="Calibri" pitchFamily="34" charset="-120"/>
              </a:rPr>
              <a:t>XGBoost con R² = 0,961</a:t>
            </a:r>
            <a:r>
              <a:rPr lang="en-US" sz="1600" dirty="0">
                <a:solidFill>
                  <a:srgbClr val="C9D6C2"/>
                </a:solidFill>
                <a:latin typeface="Calibri" pitchFamily="34" charset="0"/>
                <a:ea typeface="Calibri" pitchFamily="34" charset="-122"/>
                <a:cs typeface="Calibri" pitchFamily="34" charset="-120"/>
              </a:rPr>
              <a:t> y MAE ≈ 27 bicis/h, medido en un split temporal honesto.</a:t>
            </a:r>
          </a:p>
          <a:p>
            <a:pPr marL="0" indent="0">
              <a:lnSpc>
                <a:spcPts val="2000"/>
              </a:lnSpc>
              <a:buNone/>
            </a:pPr>
            <a:r>
              <a:rPr lang="en-US" sz="1600" dirty="0">
                <a:solidFill>
                  <a:srgbClr val="C9D6C2"/>
                </a:solidFill>
                <a:latin typeface="Calibri" pitchFamily="34" charset="0"/>
                <a:ea typeface="Calibri" pitchFamily="34" charset="-122"/>
                <a:cs typeface="Calibri" pitchFamily="34" charset="-120"/>
              </a:rPr>
              <a:t>
</a:t>
            </a:r>
            <a:r>
              <a:rPr lang="en-US" sz="1600" b="1" dirty="0">
                <a:solidFill>
                  <a:srgbClr val="FFFFFF"/>
                </a:solidFill>
                <a:latin typeface="Calibri" pitchFamily="34" charset="0"/>
                <a:ea typeface="Calibri" pitchFamily="34" charset="-122"/>
                <a:cs typeface="Calibri" pitchFamily="34" charset="-120"/>
              </a:rPr>
              <a:t>Cada decisión tiene su gráfico</a:t>
            </a:r>
            <a:r>
              <a:rPr lang="en-US" sz="1600" dirty="0">
                <a:solidFill>
                  <a:srgbClr val="C9D6C2"/>
                </a:solidFill>
                <a:latin typeface="Calibri" pitchFamily="34" charset="0"/>
                <a:ea typeface="Calibri" pitchFamily="34" charset="-122"/>
                <a:cs typeface="Calibri" pitchFamily="34" charset="-120"/>
              </a:rPr>
              <a:t>: el EDA condicionó el diseño (split, modelo, features, métrica), no lo decoró.
</a:t>
            </a:r>
            <a:r>
              <a:rPr lang="en-US" sz="1600" b="1" dirty="0">
                <a:solidFill>
                  <a:srgbClr val="FFFFFF"/>
                </a:solidFill>
                <a:latin typeface="Calibri" pitchFamily="34" charset="0"/>
                <a:ea typeface="Calibri" pitchFamily="34" charset="-122"/>
                <a:cs typeface="Calibri" pitchFamily="34" charset="-120"/>
              </a:rPr>
              <a:t>Reproducibilidad</a:t>
            </a:r>
            <a:r>
              <a:rPr lang="en-US" sz="1600" dirty="0">
                <a:solidFill>
                  <a:srgbClr val="C9D6C2"/>
                </a:solidFill>
                <a:latin typeface="Calibri" pitchFamily="34" charset="0"/>
                <a:ea typeface="Calibri" pitchFamily="34" charset="-122"/>
                <a:cs typeface="Calibri" pitchFamily="34" charset="-120"/>
              </a:rPr>
              <a:t>: uv, tests, lint y Docker.</a:t>
            </a:r>
            <a:endParaRPr lang="en-US" sz="1600" dirty="0"/>
          </a:p>
        </p:txBody>
      </p:sp>
      <p:sp>
        <p:nvSpPr>
          <p:cNvPr id="8" name="Shape 6"/>
          <p:cNvSpPr/>
          <p:nvPr/>
        </p:nvSpPr>
        <p:spPr>
          <a:xfrm>
            <a:off x="6080760" y="1554480"/>
            <a:ext cx="5349240" cy="4023360"/>
          </a:xfrm>
          <a:prstGeom prst="roundRect">
            <a:avLst>
              <a:gd name="adj" fmla="val 2410"/>
            </a:avLst>
          </a:prstGeom>
          <a:solidFill>
            <a:srgbClr val="22491F"/>
          </a:solidFill>
          <a:ln w="12700">
            <a:solidFill>
              <a:srgbClr val="2C5F2D"/>
            </a:solidFill>
            <a:prstDash val="solid"/>
          </a:ln>
        </p:spPr>
        <p:txBody>
          <a:bodyPr/>
          <a:lstStyle/>
          <a:p>
            <a:endParaRPr lang="es-CL"/>
          </a:p>
        </p:txBody>
      </p:sp>
      <p:sp>
        <p:nvSpPr>
          <p:cNvPr id="9" name="Text 7"/>
          <p:cNvSpPr/>
          <p:nvPr/>
        </p:nvSpPr>
        <p:spPr>
          <a:xfrm>
            <a:off x="6355080" y="1737360"/>
            <a:ext cx="4846320" cy="310896"/>
          </a:xfrm>
          <a:prstGeom prst="rect">
            <a:avLst/>
          </a:prstGeom>
          <a:noFill/>
          <a:ln/>
        </p:spPr>
        <p:txBody>
          <a:bodyPr wrap="square" lIns="0" tIns="0" rIns="0" bIns="0" rtlCol="0" anchor="ctr"/>
          <a:lstStyle/>
          <a:p>
            <a:pPr marL="0" indent="0">
              <a:buNone/>
            </a:pPr>
            <a:r>
              <a:rPr lang="en-US" sz="1700" b="1" dirty="0">
                <a:solidFill>
                  <a:srgbClr val="97BC62"/>
                </a:solidFill>
                <a:latin typeface="Calibri" pitchFamily="34" charset="0"/>
                <a:ea typeface="Calibri" pitchFamily="34" charset="-122"/>
                <a:cs typeface="Calibri" pitchFamily="34" charset="-120"/>
              </a:rPr>
              <a:t>🔭  Lo que reconocemos y lo que sigue</a:t>
            </a:r>
            <a:endParaRPr lang="en-US" sz="1700" dirty="0"/>
          </a:p>
        </p:txBody>
      </p:sp>
      <p:sp>
        <p:nvSpPr>
          <p:cNvPr id="10" name="Text 8"/>
          <p:cNvSpPr/>
          <p:nvPr/>
        </p:nvSpPr>
        <p:spPr>
          <a:xfrm>
            <a:off x="6355080" y="2148840"/>
            <a:ext cx="4846320" cy="3017520"/>
          </a:xfrm>
          <a:prstGeom prst="rect">
            <a:avLst/>
          </a:prstGeom>
          <a:noFill/>
          <a:ln/>
        </p:spPr>
        <p:txBody>
          <a:bodyPr wrap="square" lIns="0" tIns="0" rIns="0" bIns="0" rtlCol="0" anchor="t"/>
          <a:lstStyle/>
          <a:p>
            <a:pPr marL="0" indent="0">
              <a:lnSpc>
                <a:spcPts val="2000"/>
              </a:lnSpc>
              <a:buNone/>
            </a:pPr>
            <a:r>
              <a:rPr lang="en-US" sz="1400" b="1" dirty="0">
                <a:solidFill>
                  <a:srgbClr val="FFFFFF"/>
                </a:solidFill>
                <a:latin typeface="Calibri" pitchFamily="34" charset="0"/>
                <a:ea typeface="Calibri" pitchFamily="34" charset="-122"/>
                <a:cs typeface="Calibri" pitchFamily="34" charset="-120"/>
              </a:rPr>
              <a:t>El horizonte es de 1 hora</a:t>
            </a:r>
            <a:r>
              <a:rPr lang="en-US" sz="1400" dirty="0">
                <a:solidFill>
                  <a:srgbClr val="C9D6C2"/>
                </a:solidFill>
                <a:latin typeface="Calibri" pitchFamily="34" charset="0"/>
                <a:ea typeface="Calibri" pitchFamily="34" charset="-122"/>
                <a:cs typeface="Calibri" pitchFamily="34" charset="-120"/>
              </a:rPr>
              <a:t>: los lags mandan, y a varios días el error se acumula.</a:t>
            </a:r>
          </a:p>
          <a:p>
            <a:pPr marL="0" indent="0">
              <a:lnSpc>
                <a:spcPts val="2000"/>
              </a:lnSpc>
              <a:buNone/>
            </a:pPr>
            <a:r>
              <a:rPr lang="en-US" sz="1400" dirty="0">
                <a:solidFill>
                  <a:srgbClr val="C9D6C2"/>
                </a:solidFill>
                <a:latin typeface="Calibri" pitchFamily="34" charset="0"/>
                <a:ea typeface="Calibri" pitchFamily="34" charset="-122"/>
                <a:cs typeface="Calibri" pitchFamily="34" charset="-120"/>
              </a:rPr>
              <a:t>
</a:t>
            </a:r>
            <a:r>
              <a:rPr lang="en-US" sz="1400" b="1" dirty="0">
                <a:solidFill>
                  <a:srgbClr val="FFFFFF"/>
                </a:solidFill>
                <a:latin typeface="Calibri" pitchFamily="34" charset="0"/>
                <a:ea typeface="Calibri" pitchFamily="34" charset="-122"/>
                <a:cs typeface="Calibri" pitchFamily="34" charset="-120"/>
              </a:rPr>
              <a:t>Datos de 2011–2012 y una sola ciudad</a:t>
            </a:r>
            <a:r>
              <a:rPr lang="en-US" sz="1400" dirty="0">
                <a:solidFill>
                  <a:srgbClr val="C9D6C2"/>
                </a:solidFill>
                <a:latin typeface="Calibri" pitchFamily="34" charset="0"/>
                <a:ea typeface="Calibri" pitchFamily="34" charset="-122"/>
                <a:cs typeface="Calibri" pitchFamily="34" charset="-120"/>
              </a:rPr>
              <a:t>: no es trasladable sin re-</a:t>
            </a:r>
            <a:r>
              <a:rPr lang="en-US" sz="1400" dirty="0" err="1">
                <a:solidFill>
                  <a:srgbClr val="C9D6C2"/>
                </a:solidFill>
                <a:latin typeface="Calibri" pitchFamily="34" charset="0"/>
                <a:ea typeface="Calibri" pitchFamily="34" charset="-122"/>
                <a:cs typeface="Calibri" pitchFamily="34" charset="-120"/>
              </a:rPr>
              <a:t>validación</a:t>
            </a:r>
            <a:r>
              <a:rPr lang="en-US" sz="1400" dirty="0">
                <a:solidFill>
                  <a:srgbClr val="C9D6C2"/>
                </a:solidFill>
                <a:latin typeface="Calibri" pitchFamily="34" charset="0"/>
                <a:ea typeface="Calibri" pitchFamily="34" charset="-122"/>
                <a:cs typeface="Calibri" pitchFamily="34" charset="-120"/>
              </a:rPr>
              <a:t>.</a:t>
            </a:r>
          </a:p>
          <a:p>
            <a:pPr marL="0" indent="0">
              <a:lnSpc>
                <a:spcPts val="2000"/>
              </a:lnSpc>
              <a:buNone/>
            </a:pPr>
            <a:r>
              <a:rPr lang="en-US" sz="1400" dirty="0">
                <a:solidFill>
                  <a:srgbClr val="C9D6C2"/>
                </a:solidFill>
                <a:latin typeface="Calibri" pitchFamily="34" charset="0"/>
                <a:ea typeface="Calibri" pitchFamily="34" charset="-122"/>
                <a:cs typeface="Calibri" pitchFamily="34" charset="-120"/>
              </a:rPr>
              <a:t>
</a:t>
            </a:r>
            <a:r>
              <a:rPr lang="en-US" sz="1400" b="1" dirty="0">
                <a:solidFill>
                  <a:srgbClr val="FFFFFF"/>
                </a:solidFill>
                <a:latin typeface="Calibri" pitchFamily="34" charset="0"/>
                <a:ea typeface="Calibri" pitchFamily="34" charset="-122"/>
                <a:cs typeface="Calibri" pitchFamily="34" charset="-120"/>
              </a:rPr>
              <a:t>Predicción a nivel de sistema</a:t>
            </a:r>
            <a:r>
              <a:rPr lang="en-US" sz="1400" dirty="0">
                <a:solidFill>
                  <a:srgbClr val="C9D6C2"/>
                </a:solidFill>
                <a:latin typeface="Calibri" pitchFamily="34" charset="0"/>
                <a:ea typeface="Calibri" pitchFamily="34" charset="-122"/>
                <a:cs typeface="Calibri" pitchFamily="34" charset="-120"/>
              </a:rPr>
              <a:t>, no por estación: falta granularidad espacial para accionar la redistribución.
</a:t>
            </a:r>
            <a:r>
              <a:rPr lang="en-US" sz="1400" b="1" dirty="0">
                <a:solidFill>
                  <a:srgbClr val="FFFFFF"/>
                </a:solidFill>
                <a:latin typeface="Calibri" pitchFamily="34" charset="0"/>
                <a:ea typeface="Calibri" pitchFamily="34" charset="-122"/>
                <a:cs typeface="Calibri" pitchFamily="34" charset="-120"/>
              </a:rPr>
              <a:t>Reentrenamiento programado</a:t>
            </a:r>
            <a:r>
              <a:rPr lang="en-US" sz="1400" dirty="0">
                <a:solidFill>
                  <a:srgbClr val="C9D6C2"/>
                </a:solidFill>
                <a:latin typeface="Calibri" pitchFamily="34" charset="0"/>
                <a:ea typeface="Calibri" pitchFamily="34" charset="-122"/>
                <a:cs typeface="Calibri" pitchFamily="34" charset="-120"/>
              </a:rPr>
              <a:t>: los árboles no extrapolan la tendencia detectada.</a:t>
            </a:r>
          </a:p>
          <a:p>
            <a:pPr marL="0" indent="0">
              <a:lnSpc>
                <a:spcPts val="2000"/>
              </a:lnSpc>
              <a:buNone/>
            </a:pPr>
            <a:r>
              <a:rPr lang="en-US" sz="1400" dirty="0">
                <a:solidFill>
                  <a:srgbClr val="C9D6C2"/>
                </a:solidFill>
                <a:latin typeface="Calibri" pitchFamily="34" charset="0"/>
                <a:ea typeface="Calibri" pitchFamily="34" charset="-122"/>
                <a:cs typeface="Calibri" pitchFamily="34" charset="-120"/>
              </a:rPr>
              <a:t>
</a:t>
            </a:r>
            <a:r>
              <a:rPr lang="en-US" sz="1400" b="1" dirty="0">
                <a:solidFill>
                  <a:srgbClr val="FFFFFF"/>
                </a:solidFill>
                <a:latin typeface="Calibri" pitchFamily="34" charset="0"/>
                <a:ea typeface="Calibri" pitchFamily="34" charset="-122"/>
                <a:cs typeface="Calibri" pitchFamily="34" charset="-120"/>
              </a:rPr>
              <a:t>Eventos locales como 4ª fuente</a:t>
            </a:r>
            <a:r>
              <a:rPr lang="en-US" sz="1400" dirty="0">
                <a:solidFill>
                  <a:srgbClr val="C9D6C2"/>
                </a:solidFill>
                <a:latin typeface="Calibri" pitchFamily="34" charset="0"/>
                <a:ea typeface="Calibri" pitchFamily="34" charset="-122"/>
                <a:cs typeface="Calibri" pitchFamily="34" charset="-120"/>
              </a:rPr>
              <a:t> y despliegue en la nube con monitoreo del modelo.</a:t>
            </a:r>
            <a:endParaRPr lang="en-US" sz="1400" dirty="0"/>
          </a:p>
        </p:txBody>
      </p:sp>
      <p:sp>
        <p:nvSpPr>
          <p:cNvPr id="11" name="Text 9"/>
          <p:cNvSpPr/>
          <p:nvPr/>
        </p:nvSpPr>
        <p:spPr>
          <a:xfrm>
            <a:off x="548640" y="5667225"/>
            <a:ext cx="10881360" cy="457200"/>
          </a:xfrm>
          <a:prstGeom prst="rect">
            <a:avLst/>
          </a:prstGeom>
          <a:noFill/>
          <a:ln/>
        </p:spPr>
        <p:txBody>
          <a:bodyPr wrap="square" lIns="0" tIns="0" rIns="0" bIns="0" rtlCol="0" anchor="ctr"/>
          <a:lstStyle/>
          <a:p>
            <a:pPr marL="0" indent="0" algn="ctr">
              <a:buNone/>
            </a:pPr>
            <a:r>
              <a:rPr lang="en-US" sz="1400" i="1" dirty="0">
                <a:solidFill>
                  <a:schemeClr val="bg1"/>
                </a:solidFill>
                <a:latin typeface="Calibri" pitchFamily="34" charset="0"/>
                <a:ea typeface="Calibri" pitchFamily="34" charset="-122"/>
                <a:cs typeface="Calibri" pitchFamily="34" charset="-120"/>
              </a:rPr>
              <a:t>Lo que más aprendimos: comparar promedios cuando la variable tiene forma es una trampa — y una correlación lineal baja no significa que la variable sea inútil.</a:t>
            </a:r>
            <a:endParaRPr lang="en-US" sz="1400" dirty="0">
              <a:solidFill>
                <a:schemeClr val="bg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lIns="0" tIns="0" rIns="0" bIns="0" rtlCol="0" anchor="ctr"/>
          <a:lstStyle/>
          <a:p>
            <a:pPr marL="0" indent="0">
              <a:buNone/>
            </a:pPr>
            <a:r>
              <a:rPr lang="en-US" sz="1200" b="1" kern="0" spc="200" dirty="0">
                <a:solidFill>
                  <a:srgbClr val="97BC62"/>
                </a:solidFill>
                <a:latin typeface="Calibri" pitchFamily="34" charset="0"/>
                <a:ea typeface="Calibri" pitchFamily="34" charset="-122"/>
                <a:cs typeface="Calibri" pitchFamily="34" charset="-120"/>
              </a:rPr>
              <a:t>FUENTES Y BIBLIOGRAFÍA</a:t>
            </a:r>
            <a:endParaRPr lang="en-US" sz="1200" dirty="0"/>
          </a:p>
        </p:txBody>
      </p:sp>
      <p:sp>
        <p:nvSpPr>
          <p:cNvPr id="3" name="Text 1"/>
          <p:cNvSpPr/>
          <p:nvPr/>
        </p:nvSpPr>
        <p:spPr>
          <a:xfrm>
            <a:off x="548640" y="566928"/>
            <a:ext cx="11064240" cy="658368"/>
          </a:xfrm>
          <a:prstGeom prst="rect">
            <a:avLst/>
          </a:prstGeom>
          <a:noFill/>
          <a:ln/>
        </p:spPr>
        <p:txBody>
          <a:bodyPr wrap="square" lIns="0" tIns="0" rIns="0" bIns="0" rtlCol="0" anchor="ctr"/>
          <a:lstStyle/>
          <a:p>
            <a:pPr marL="0" indent="0">
              <a:buNone/>
            </a:pPr>
            <a:r>
              <a:rPr lang="en-US" sz="3400" b="1" dirty="0">
                <a:solidFill>
                  <a:srgbClr val="2C5F2D"/>
                </a:solidFill>
                <a:latin typeface="Cambria" pitchFamily="34" charset="0"/>
                <a:ea typeface="Cambria" pitchFamily="34" charset="-122"/>
                <a:cs typeface="Cambria" pitchFamily="34" charset="-120"/>
              </a:rPr>
              <a:t>Referencias</a:t>
            </a:r>
            <a:endParaRPr lang="en-US" sz="3400" dirty="0"/>
          </a:p>
        </p:txBody>
      </p:sp>
      <p:sp>
        <p:nvSpPr>
          <p:cNvPr id="4" name="Shape 2"/>
          <p:cNvSpPr/>
          <p:nvPr/>
        </p:nvSpPr>
        <p:spPr>
          <a:xfrm>
            <a:off x="548640" y="1417320"/>
            <a:ext cx="10881360" cy="502920"/>
          </a:xfrm>
          <a:prstGeom prst="roundRect">
            <a:avLst>
              <a:gd name="adj" fmla="val 7273"/>
            </a:avLst>
          </a:prstGeom>
          <a:solidFill>
            <a:srgbClr val="F5F7F2"/>
          </a:solidFill>
          <a:ln w="12700">
            <a:solidFill>
              <a:srgbClr val="F5F7F2"/>
            </a:solidFill>
            <a:prstDash val="solid"/>
          </a:ln>
        </p:spPr>
        <p:txBody>
          <a:bodyPr/>
          <a:lstStyle/>
          <a:p>
            <a:endParaRPr lang="es-CL"/>
          </a:p>
        </p:txBody>
      </p:sp>
      <p:sp>
        <p:nvSpPr>
          <p:cNvPr id="5" name="Text 3"/>
          <p:cNvSpPr/>
          <p:nvPr/>
        </p:nvSpPr>
        <p:spPr>
          <a:xfrm>
            <a:off x="777240" y="1417320"/>
            <a:ext cx="10424160" cy="502920"/>
          </a:xfrm>
          <a:prstGeom prst="rect">
            <a:avLst/>
          </a:prstGeom>
          <a:noFill/>
          <a:ln/>
        </p:spPr>
        <p:txBody>
          <a:bodyPr wrap="square" lIns="0" tIns="0" rIns="0" bIns="0" rtlCol="0" anchor="ctr"/>
          <a:lstStyle/>
          <a:p>
            <a:pPr marL="0" indent="0">
              <a:buNone/>
            </a:pPr>
            <a:r>
              <a:rPr lang="en-US" sz="1150" b="1" dirty="0">
                <a:solidFill>
                  <a:srgbClr val="2C5F2D"/>
                </a:solidFill>
                <a:latin typeface="Calibri" pitchFamily="34" charset="0"/>
                <a:ea typeface="Calibri" pitchFamily="34" charset="-122"/>
                <a:cs typeface="Calibri" pitchFamily="34" charset="-120"/>
              </a:rPr>
              <a:t>Fanaee-T, H., &amp; Gama, J. (2014).  </a:t>
            </a:r>
            <a:r>
              <a:rPr lang="en-US" sz="1150" dirty="0">
                <a:solidFill>
                  <a:srgbClr val="24302A"/>
                </a:solidFill>
                <a:latin typeface="Calibri" pitchFamily="34" charset="0"/>
                <a:ea typeface="Calibri" pitchFamily="34" charset="-122"/>
                <a:cs typeface="Calibri" pitchFamily="34" charset="-120"/>
              </a:rPr>
              <a:t>Event labeling combining ensemble detectors and background knowledge. Progress in Artificial Intelligence, 2(2–3), 113–127.</a:t>
            </a:r>
            <a:endParaRPr lang="en-US" sz="1150" dirty="0"/>
          </a:p>
        </p:txBody>
      </p:sp>
      <p:sp>
        <p:nvSpPr>
          <p:cNvPr id="6" name="Shape 4"/>
          <p:cNvSpPr/>
          <p:nvPr/>
        </p:nvSpPr>
        <p:spPr>
          <a:xfrm>
            <a:off x="548640" y="1993392"/>
            <a:ext cx="10881360" cy="502920"/>
          </a:xfrm>
          <a:prstGeom prst="roundRect">
            <a:avLst>
              <a:gd name="adj" fmla="val 7273"/>
            </a:avLst>
          </a:prstGeom>
          <a:solidFill>
            <a:srgbClr val="FFFFFF"/>
          </a:solidFill>
          <a:ln w="12700">
            <a:solidFill>
              <a:srgbClr val="FFFFFF"/>
            </a:solidFill>
            <a:prstDash val="solid"/>
          </a:ln>
        </p:spPr>
        <p:txBody>
          <a:bodyPr/>
          <a:lstStyle/>
          <a:p>
            <a:endParaRPr lang="es-CL"/>
          </a:p>
        </p:txBody>
      </p:sp>
      <p:sp>
        <p:nvSpPr>
          <p:cNvPr id="7" name="Text 5"/>
          <p:cNvSpPr/>
          <p:nvPr/>
        </p:nvSpPr>
        <p:spPr>
          <a:xfrm>
            <a:off x="777240" y="1993392"/>
            <a:ext cx="10424160" cy="502920"/>
          </a:xfrm>
          <a:prstGeom prst="rect">
            <a:avLst/>
          </a:prstGeom>
          <a:noFill/>
          <a:ln/>
        </p:spPr>
        <p:txBody>
          <a:bodyPr wrap="square" lIns="0" tIns="0" rIns="0" bIns="0" rtlCol="0" anchor="ctr"/>
          <a:lstStyle/>
          <a:p>
            <a:pPr marL="0" indent="0">
              <a:buNone/>
            </a:pPr>
            <a:r>
              <a:rPr lang="en-US" sz="1150" b="1" dirty="0">
                <a:solidFill>
                  <a:srgbClr val="2C5F2D"/>
                </a:solidFill>
                <a:latin typeface="Calibri" pitchFamily="34" charset="0"/>
                <a:ea typeface="Calibri" pitchFamily="34" charset="-122"/>
                <a:cs typeface="Calibri" pitchFamily="34" charset="-120"/>
              </a:rPr>
              <a:t>Dua, D., &amp; Graff, C. (2019).  </a:t>
            </a:r>
            <a:r>
              <a:rPr lang="en-US" sz="1150" dirty="0">
                <a:solidFill>
                  <a:srgbClr val="24302A"/>
                </a:solidFill>
                <a:latin typeface="Calibri" pitchFamily="34" charset="0"/>
                <a:ea typeface="Calibri" pitchFamily="34" charset="-122"/>
                <a:cs typeface="Calibri" pitchFamily="34" charset="-120"/>
              </a:rPr>
              <a:t>Bike Sharing Dataset. UCI Machine Learning Repository. archive.ics.uci.edu/dataset/275/bike+sharing+dataset</a:t>
            </a:r>
            <a:endParaRPr lang="en-US" sz="1150" dirty="0"/>
          </a:p>
        </p:txBody>
      </p:sp>
      <p:sp>
        <p:nvSpPr>
          <p:cNvPr id="8" name="Shape 6"/>
          <p:cNvSpPr/>
          <p:nvPr/>
        </p:nvSpPr>
        <p:spPr>
          <a:xfrm>
            <a:off x="548640" y="2569464"/>
            <a:ext cx="10881360" cy="502920"/>
          </a:xfrm>
          <a:prstGeom prst="roundRect">
            <a:avLst>
              <a:gd name="adj" fmla="val 7273"/>
            </a:avLst>
          </a:prstGeom>
          <a:solidFill>
            <a:srgbClr val="F5F7F2"/>
          </a:solidFill>
          <a:ln w="12700">
            <a:solidFill>
              <a:srgbClr val="F5F7F2"/>
            </a:solidFill>
            <a:prstDash val="solid"/>
          </a:ln>
        </p:spPr>
        <p:txBody>
          <a:bodyPr/>
          <a:lstStyle/>
          <a:p>
            <a:endParaRPr lang="es-CL"/>
          </a:p>
        </p:txBody>
      </p:sp>
      <p:sp>
        <p:nvSpPr>
          <p:cNvPr id="9" name="Text 7"/>
          <p:cNvSpPr/>
          <p:nvPr/>
        </p:nvSpPr>
        <p:spPr>
          <a:xfrm>
            <a:off x="777240" y="2569464"/>
            <a:ext cx="10424160" cy="502920"/>
          </a:xfrm>
          <a:prstGeom prst="rect">
            <a:avLst/>
          </a:prstGeom>
          <a:noFill/>
          <a:ln/>
        </p:spPr>
        <p:txBody>
          <a:bodyPr wrap="square" lIns="0" tIns="0" rIns="0" bIns="0" rtlCol="0" anchor="ctr"/>
          <a:lstStyle/>
          <a:p>
            <a:pPr marL="0" indent="0">
              <a:buNone/>
            </a:pPr>
            <a:r>
              <a:rPr lang="en-US" sz="1150" b="1" dirty="0">
                <a:solidFill>
                  <a:srgbClr val="2C5F2D"/>
                </a:solidFill>
                <a:latin typeface="Calibri" pitchFamily="34" charset="0"/>
                <a:ea typeface="Calibri" pitchFamily="34" charset="-122"/>
                <a:cs typeface="Calibri" pitchFamily="34" charset="-120"/>
              </a:rPr>
              <a:t>Open-Meteo. (2024).  </a:t>
            </a:r>
            <a:r>
              <a:rPr lang="en-US" sz="1150" dirty="0">
                <a:solidFill>
                  <a:srgbClr val="24302A"/>
                </a:solidFill>
                <a:latin typeface="Calibri" pitchFamily="34" charset="0"/>
                <a:ea typeface="Calibri" pitchFamily="34" charset="-122"/>
                <a:cs typeface="Calibri" pitchFamily="34" charset="-120"/>
              </a:rPr>
              <a:t>Historical Weather API documentation. open-meteo.com/en/docs/historical-weather-api</a:t>
            </a:r>
            <a:endParaRPr lang="en-US" sz="1150" dirty="0"/>
          </a:p>
        </p:txBody>
      </p:sp>
      <p:sp>
        <p:nvSpPr>
          <p:cNvPr id="10" name="Shape 8"/>
          <p:cNvSpPr/>
          <p:nvPr/>
        </p:nvSpPr>
        <p:spPr>
          <a:xfrm>
            <a:off x="548640" y="3145536"/>
            <a:ext cx="10881360" cy="502920"/>
          </a:xfrm>
          <a:prstGeom prst="roundRect">
            <a:avLst>
              <a:gd name="adj" fmla="val 7273"/>
            </a:avLst>
          </a:prstGeom>
          <a:solidFill>
            <a:srgbClr val="FFFFFF"/>
          </a:solidFill>
          <a:ln w="12700">
            <a:solidFill>
              <a:srgbClr val="FFFFFF"/>
            </a:solidFill>
            <a:prstDash val="solid"/>
          </a:ln>
        </p:spPr>
        <p:txBody>
          <a:bodyPr/>
          <a:lstStyle/>
          <a:p>
            <a:endParaRPr lang="es-CL"/>
          </a:p>
        </p:txBody>
      </p:sp>
      <p:sp>
        <p:nvSpPr>
          <p:cNvPr id="11" name="Text 9"/>
          <p:cNvSpPr/>
          <p:nvPr/>
        </p:nvSpPr>
        <p:spPr>
          <a:xfrm>
            <a:off x="777240" y="3145536"/>
            <a:ext cx="10424160" cy="502920"/>
          </a:xfrm>
          <a:prstGeom prst="rect">
            <a:avLst/>
          </a:prstGeom>
          <a:noFill/>
          <a:ln/>
        </p:spPr>
        <p:txBody>
          <a:bodyPr wrap="square" lIns="0" tIns="0" rIns="0" bIns="0" rtlCol="0" anchor="ctr"/>
          <a:lstStyle/>
          <a:p>
            <a:pPr marL="0" indent="0">
              <a:buNone/>
            </a:pPr>
            <a:r>
              <a:rPr lang="en-US" sz="1150" b="1" dirty="0">
                <a:solidFill>
                  <a:srgbClr val="2C5F2D"/>
                </a:solidFill>
                <a:latin typeface="Calibri" pitchFamily="34" charset="0"/>
                <a:ea typeface="Calibri" pitchFamily="34" charset="-122"/>
                <a:cs typeface="Calibri" pitchFamily="34" charset="-120"/>
              </a:rPr>
              <a:t>Chen, T., &amp; Guestrin, C. (2016).  </a:t>
            </a:r>
            <a:r>
              <a:rPr lang="en-US" sz="1150" dirty="0">
                <a:solidFill>
                  <a:srgbClr val="24302A"/>
                </a:solidFill>
                <a:latin typeface="Calibri" pitchFamily="34" charset="0"/>
                <a:ea typeface="Calibri" pitchFamily="34" charset="-122"/>
                <a:cs typeface="Calibri" pitchFamily="34" charset="-120"/>
              </a:rPr>
              <a:t>XGBoost: A scalable tree boosting system. Proceedings of the 22nd ACM SIGKDD (pp. 785–794).</a:t>
            </a:r>
            <a:endParaRPr lang="en-US" sz="1150" dirty="0"/>
          </a:p>
        </p:txBody>
      </p:sp>
      <p:sp>
        <p:nvSpPr>
          <p:cNvPr id="12" name="Shape 10"/>
          <p:cNvSpPr/>
          <p:nvPr/>
        </p:nvSpPr>
        <p:spPr>
          <a:xfrm>
            <a:off x="548640" y="3721608"/>
            <a:ext cx="10881360" cy="502920"/>
          </a:xfrm>
          <a:prstGeom prst="roundRect">
            <a:avLst>
              <a:gd name="adj" fmla="val 7273"/>
            </a:avLst>
          </a:prstGeom>
          <a:solidFill>
            <a:srgbClr val="F5F7F2"/>
          </a:solidFill>
          <a:ln w="12700">
            <a:solidFill>
              <a:srgbClr val="F5F7F2"/>
            </a:solidFill>
            <a:prstDash val="solid"/>
          </a:ln>
        </p:spPr>
        <p:txBody>
          <a:bodyPr/>
          <a:lstStyle/>
          <a:p>
            <a:endParaRPr lang="es-CL"/>
          </a:p>
        </p:txBody>
      </p:sp>
      <p:sp>
        <p:nvSpPr>
          <p:cNvPr id="13" name="Text 11"/>
          <p:cNvSpPr/>
          <p:nvPr/>
        </p:nvSpPr>
        <p:spPr>
          <a:xfrm>
            <a:off x="777240" y="3721608"/>
            <a:ext cx="10424160" cy="502920"/>
          </a:xfrm>
          <a:prstGeom prst="rect">
            <a:avLst/>
          </a:prstGeom>
          <a:noFill/>
          <a:ln/>
        </p:spPr>
        <p:txBody>
          <a:bodyPr wrap="square" lIns="0" tIns="0" rIns="0" bIns="0" rtlCol="0" anchor="ctr"/>
          <a:lstStyle/>
          <a:p>
            <a:pPr marL="0" indent="0">
              <a:buNone/>
            </a:pPr>
            <a:r>
              <a:rPr lang="en-US" sz="1150" b="1" dirty="0">
                <a:solidFill>
                  <a:srgbClr val="2C5F2D"/>
                </a:solidFill>
                <a:latin typeface="Calibri" pitchFamily="34" charset="0"/>
                <a:ea typeface="Calibri" pitchFamily="34" charset="-122"/>
                <a:cs typeface="Calibri" pitchFamily="34" charset="-120"/>
              </a:rPr>
              <a:t>Hyndman, R. J., &amp; Athanasopoulos, G. (2021).  </a:t>
            </a:r>
            <a:r>
              <a:rPr lang="en-US" sz="1150" dirty="0">
                <a:solidFill>
                  <a:srgbClr val="24302A"/>
                </a:solidFill>
                <a:latin typeface="Calibri" pitchFamily="34" charset="0"/>
                <a:ea typeface="Calibri" pitchFamily="34" charset="-122"/>
                <a:cs typeface="Calibri" pitchFamily="34" charset="-120"/>
              </a:rPr>
              <a:t>Forecasting: principles and practice (3ª ed.). OTexts. otexts.com/fpp3/</a:t>
            </a:r>
            <a:endParaRPr lang="en-US" sz="1150" dirty="0"/>
          </a:p>
        </p:txBody>
      </p:sp>
      <p:sp>
        <p:nvSpPr>
          <p:cNvPr id="14" name="Shape 12"/>
          <p:cNvSpPr/>
          <p:nvPr/>
        </p:nvSpPr>
        <p:spPr>
          <a:xfrm>
            <a:off x="548640" y="4297680"/>
            <a:ext cx="10881360" cy="502920"/>
          </a:xfrm>
          <a:prstGeom prst="roundRect">
            <a:avLst>
              <a:gd name="adj" fmla="val 7273"/>
            </a:avLst>
          </a:prstGeom>
          <a:solidFill>
            <a:srgbClr val="FFFFFF"/>
          </a:solidFill>
          <a:ln w="12700">
            <a:solidFill>
              <a:srgbClr val="FFFFFF"/>
            </a:solidFill>
            <a:prstDash val="solid"/>
          </a:ln>
        </p:spPr>
        <p:txBody>
          <a:bodyPr/>
          <a:lstStyle/>
          <a:p>
            <a:endParaRPr lang="es-CL"/>
          </a:p>
        </p:txBody>
      </p:sp>
      <p:sp>
        <p:nvSpPr>
          <p:cNvPr id="15" name="Text 13"/>
          <p:cNvSpPr/>
          <p:nvPr/>
        </p:nvSpPr>
        <p:spPr>
          <a:xfrm>
            <a:off x="777240" y="4297680"/>
            <a:ext cx="10424160" cy="502920"/>
          </a:xfrm>
          <a:prstGeom prst="rect">
            <a:avLst/>
          </a:prstGeom>
          <a:noFill/>
          <a:ln/>
        </p:spPr>
        <p:txBody>
          <a:bodyPr wrap="square" lIns="0" tIns="0" rIns="0" bIns="0" rtlCol="0" anchor="ctr"/>
          <a:lstStyle/>
          <a:p>
            <a:pPr marL="0" indent="0">
              <a:buNone/>
            </a:pPr>
            <a:r>
              <a:rPr lang="en-US" sz="1150" b="1" dirty="0">
                <a:solidFill>
                  <a:srgbClr val="2C5F2D"/>
                </a:solidFill>
                <a:latin typeface="Calibri" pitchFamily="34" charset="0"/>
                <a:ea typeface="Calibri" pitchFamily="34" charset="-122"/>
                <a:cs typeface="Calibri" pitchFamily="34" charset="-120"/>
              </a:rPr>
              <a:t>Pedregosa, F., et al. (2011).  </a:t>
            </a:r>
            <a:r>
              <a:rPr lang="en-US" sz="1150" dirty="0">
                <a:solidFill>
                  <a:srgbClr val="24302A"/>
                </a:solidFill>
                <a:latin typeface="Calibri" pitchFamily="34" charset="0"/>
                <a:ea typeface="Calibri" pitchFamily="34" charset="-122"/>
                <a:cs typeface="Calibri" pitchFamily="34" charset="-120"/>
              </a:rPr>
              <a:t>Scikit-learn: Machine learning in Python. Journal of Machine Learning Research, 12, 2825–2830.</a:t>
            </a:r>
            <a:endParaRPr lang="en-US" sz="1150" dirty="0"/>
          </a:p>
        </p:txBody>
      </p:sp>
      <p:sp>
        <p:nvSpPr>
          <p:cNvPr id="16" name="Shape 14"/>
          <p:cNvSpPr/>
          <p:nvPr/>
        </p:nvSpPr>
        <p:spPr>
          <a:xfrm>
            <a:off x="548640" y="4873752"/>
            <a:ext cx="10881360" cy="502920"/>
          </a:xfrm>
          <a:prstGeom prst="roundRect">
            <a:avLst>
              <a:gd name="adj" fmla="val 7273"/>
            </a:avLst>
          </a:prstGeom>
          <a:solidFill>
            <a:srgbClr val="F5F7F2"/>
          </a:solidFill>
          <a:ln w="12700">
            <a:solidFill>
              <a:srgbClr val="F5F7F2"/>
            </a:solidFill>
            <a:prstDash val="solid"/>
          </a:ln>
        </p:spPr>
        <p:txBody>
          <a:bodyPr/>
          <a:lstStyle/>
          <a:p>
            <a:endParaRPr lang="es-CL"/>
          </a:p>
        </p:txBody>
      </p:sp>
      <p:sp>
        <p:nvSpPr>
          <p:cNvPr id="17" name="Text 15"/>
          <p:cNvSpPr/>
          <p:nvPr/>
        </p:nvSpPr>
        <p:spPr>
          <a:xfrm>
            <a:off x="777240" y="4873752"/>
            <a:ext cx="10424160" cy="502920"/>
          </a:xfrm>
          <a:prstGeom prst="rect">
            <a:avLst/>
          </a:prstGeom>
          <a:noFill/>
          <a:ln/>
        </p:spPr>
        <p:txBody>
          <a:bodyPr wrap="square" lIns="0" tIns="0" rIns="0" bIns="0" rtlCol="0" anchor="ctr"/>
          <a:lstStyle/>
          <a:p>
            <a:pPr marL="0" indent="0">
              <a:buNone/>
            </a:pPr>
            <a:r>
              <a:rPr lang="en-US" sz="1150" b="1" dirty="0">
                <a:solidFill>
                  <a:srgbClr val="2C5F2D"/>
                </a:solidFill>
                <a:latin typeface="Calibri" pitchFamily="34" charset="0"/>
                <a:ea typeface="Calibri" pitchFamily="34" charset="-122"/>
                <a:cs typeface="Calibri" pitchFamily="34" charset="-120"/>
              </a:rPr>
              <a:t>McKinney, W. (2010).  </a:t>
            </a:r>
            <a:r>
              <a:rPr lang="en-US" sz="1150" dirty="0">
                <a:solidFill>
                  <a:srgbClr val="24302A"/>
                </a:solidFill>
                <a:latin typeface="Calibri" pitchFamily="34" charset="0"/>
                <a:ea typeface="Calibri" pitchFamily="34" charset="-122"/>
                <a:cs typeface="Calibri" pitchFamily="34" charset="-120"/>
              </a:rPr>
              <a:t>Data structures for statistical computing in Python. Proceedings of the 9th Python in Science Conference (pp. 56–61).</a:t>
            </a:r>
            <a:endParaRPr lang="en-US" sz="1150" dirty="0"/>
          </a:p>
        </p:txBody>
      </p:sp>
      <p:sp>
        <p:nvSpPr>
          <p:cNvPr id="18" name="Shape 16"/>
          <p:cNvSpPr/>
          <p:nvPr/>
        </p:nvSpPr>
        <p:spPr>
          <a:xfrm>
            <a:off x="548640" y="5449824"/>
            <a:ext cx="10881360" cy="502920"/>
          </a:xfrm>
          <a:prstGeom prst="roundRect">
            <a:avLst>
              <a:gd name="adj" fmla="val 7273"/>
            </a:avLst>
          </a:prstGeom>
          <a:solidFill>
            <a:srgbClr val="FFFFFF"/>
          </a:solidFill>
          <a:ln w="12700">
            <a:solidFill>
              <a:srgbClr val="FFFFFF"/>
            </a:solidFill>
            <a:prstDash val="solid"/>
          </a:ln>
        </p:spPr>
        <p:txBody>
          <a:bodyPr/>
          <a:lstStyle/>
          <a:p>
            <a:endParaRPr lang="es-CL"/>
          </a:p>
        </p:txBody>
      </p:sp>
      <p:sp>
        <p:nvSpPr>
          <p:cNvPr id="19" name="Text 17"/>
          <p:cNvSpPr/>
          <p:nvPr/>
        </p:nvSpPr>
        <p:spPr>
          <a:xfrm>
            <a:off x="777240" y="5449824"/>
            <a:ext cx="10424160" cy="502920"/>
          </a:xfrm>
          <a:prstGeom prst="rect">
            <a:avLst/>
          </a:prstGeom>
          <a:noFill/>
          <a:ln/>
        </p:spPr>
        <p:txBody>
          <a:bodyPr wrap="square" lIns="0" tIns="0" rIns="0" bIns="0" rtlCol="0" anchor="ctr"/>
          <a:lstStyle/>
          <a:p>
            <a:pPr marL="0" indent="0">
              <a:buNone/>
            </a:pPr>
            <a:r>
              <a:rPr lang="en-US" sz="1150" b="1" dirty="0">
                <a:solidFill>
                  <a:srgbClr val="2C5F2D"/>
                </a:solidFill>
                <a:latin typeface="Calibri" pitchFamily="34" charset="0"/>
                <a:ea typeface="Calibri" pitchFamily="34" charset="-122"/>
                <a:cs typeface="Calibri" pitchFamily="34" charset="-120"/>
              </a:rPr>
              <a:t>Plotly Technologies Inc. (2015).  </a:t>
            </a:r>
            <a:r>
              <a:rPr lang="en-US" sz="1150" dirty="0">
                <a:solidFill>
                  <a:srgbClr val="24302A"/>
                </a:solidFill>
                <a:latin typeface="Calibri" pitchFamily="34" charset="0"/>
                <a:ea typeface="Calibri" pitchFamily="34" charset="-122"/>
                <a:cs typeface="Calibri" pitchFamily="34" charset="-120"/>
              </a:rPr>
              <a:t>Collaborative data science. Plotly / Dash documentation. plotly.com/python/ · dash.plotly.com</a:t>
            </a:r>
            <a:endParaRPr lang="en-US" sz="1150" dirty="0"/>
          </a:p>
        </p:txBody>
      </p:sp>
      <p:sp>
        <p:nvSpPr>
          <p:cNvPr id="20" name="Text 18"/>
          <p:cNvSpPr/>
          <p:nvPr/>
        </p:nvSpPr>
        <p:spPr>
          <a:xfrm>
            <a:off x="548640" y="6126480"/>
            <a:ext cx="10881360" cy="274320"/>
          </a:xfrm>
          <a:prstGeom prst="rect">
            <a:avLst/>
          </a:prstGeom>
          <a:noFill/>
          <a:ln/>
        </p:spPr>
        <p:txBody>
          <a:bodyPr wrap="square" lIns="0" tIns="0" rIns="0" bIns="0" rtlCol="0" anchor="ctr"/>
          <a:lstStyle/>
          <a:p>
            <a:pPr marL="0" indent="0">
              <a:buNone/>
            </a:pPr>
            <a:r>
              <a:rPr lang="en-US" sz="1050" i="1" dirty="0">
                <a:solidFill>
                  <a:srgbClr val="6B7280"/>
                </a:solidFill>
                <a:latin typeface="Calibri" pitchFamily="34" charset="0"/>
                <a:ea typeface="Calibri" pitchFamily="34" charset="-122"/>
                <a:cs typeface="Calibri" pitchFamily="34" charset="-120"/>
              </a:rPr>
              <a:t>Formato APA 7ª edición · La lista completa con DOIs está en la sección 13 del notebook 01_eda_final.ipynb</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C3A1C"/>
        </a:solidFill>
        <a:effectLst/>
      </p:bgPr>
    </p:bg>
    <p:spTree>
      <p:nvGrpSpPr>
        <p:cNvPr id="1" name=""/>
        <p:cNvGrpSpPr/>
        <p:nvPr/>
      </p:nvGrpSpPr>
      <p:grpSpPr>
        <a:xfrm>
          <a:off x="0" y="0"/>
          <a:ext cx="0" cy="0"/>
          <a:chOff x="0" y="0"/>
          <a:chExt cx="0" cy="0"/>
        </a:xfrm>
      </p:grpSpPr>
      <p:sp>
        <p:nvSpPr>
          <p:cNvPr id="2" name="Shape 0"/>
          <p:cNvSpPr/>
          <p:nvPr/>
        </p:nvSpPr>
        <p:spPr>
          <a:xfrm>
            <a:off x="-1280160" y="4206240"/>
            <a:ext cx="3840480" cy="3840480"/>
          </a:xfrm>
          <a:prstGeom prst="ellipse">
            <a:avLst/>
          </a:prstGeom>
          <a:solidFill>
            <a:srgbClr val="22491F"/>
          </a:solidFill>
          <a:ln w="12700">
            <a:solidFill>
              <a:srgbClr val="22491F"/>
            </a:solidFill>
            <a:prstDash val="solid"/>
          </a:ln>
        </p:spPr>
        <p:txBody>
          <a:bodyPr/>
          <a:lstStyle/>
          <a:p>
            <a:endParaRPr lang="es-CL"/>
          </a:p>
        </p:txBody>
      </p:sp>
      <p:sp>
        <p:nvSpPr>
          <p:cNvPr id="3" name="Text 1"/>
          <p:cNvSpPr/>
          <p:nvPr/>
        </p:nvSpPr>
        <p:spPr>
          <a:xfrm>
            <a:off x="548640" y="457200"/>
            <a:ext cx="1280160" cy="822960"/>
          </a:xfrm>
          <a:prstGeom prst="rect">
            <a:avLst/>
          </a:prstGeom>
          <a:noFill/>
          <a:ln/>
        </p:spPr>
        <p:txBody>
          <a:bodyPr wrap="square" lIns="0" tIns="0" rIns="0" bIns="0" rtlCol="0" anchor="ctr"/>
          <a:lstStyle/>
          <a:p>
            <a:pPr marL="0" indent="0">
              <a:buNone/>
            </a:pPr>
            <a:r>
              <a:rPr lang="en-US" sz="3800" dirty="0">
                <a:solidFill>
                  <a:srgbClr val="000000"/>
                </a:solidFill>
              </a:rPr>
              <a:t>🚲</a:t>
            </a:r>
            <a:endParaRPr lang="en-US" sz="3800" dirty="0"/>
          </a:p>
        </p:txBody>
      </p:sp>
      <p:sp>
        <p:nvSpPr>
          <p:cNvPr id="4" name="Text 2"/>
          <p:cNvSpPr/>
          <p:nvPr/>
        </p:nvSpPr>
        <p:spPr>
          <a:xfrm>
            <a:off x="548640" y="1234440"/>
            <a:ext cx="10881360" cy="640080"/>
          </a:xfrm>
          <a:prstGeom prst="rect">
            <a:avLst/>
          </a:prstGeom>
          <a:noFill/>
          <a:ln/>
        </p:spPr>
        <p:txBody>
          <a:bodyPr wrap="square" lIns="0" tIns="0" rIns="0" bIns="0"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Demo en línea y repositorio</a:t>
            </a:r>
            <a:endParaRPr lang="en-US" sz="3600" dirty="0"/>
          </a:p>
        </p:txBody>
      </p:sp>
      <p:sp>
        <p:nvSpPr>
          <p:cNvPr id="5" name="Text 3"/>
          <p:cNvSpPr/>
          <p:nvPr/>
        </p:nvSpPr>
        <p:spPr>
          <a:xfrm>
            <a:off x="566928" y="1920240"/>
            <a:ext cx="10881360" cy="320040"/>
          </a:xfrm>
          <a:prstGeom prst="rect">
            <a:avLst/>
          </a:prstGeom>
          <a:noFill/>
          <a:ln/>
        </p:spPr>
        <p:txBody>
          <a:bodyPr wrap="square" lIns="0" tIns="0" rIns="0" bIns="0" rtlCol="0" anchor="ctr"/>
          <a:lstStyle/>
          <a:p>
            <a:pPr marL="0" indent="0">
              <a:buNone/>
            </a:pPr>
            <a:r>
              <a:rPr lang="en-US" sz="1400" dirty="0">
                <a:solidFill>
                  <a:srgbClr val="97BC62"/>
                </a:solidFill>
                <a:latin typeface="Calibri" pitchFamily="34" charset="0"/>
                <a:ea typeface="Calibri" pitchFamily="34" charset="-122"/>
                <a:cs typeface="Calibri" pitchFamily="34" charset="-120"/>
              </a:rPr>
              <a:t>Todo lo presentado es verificable: el código, el historial de commits y los servicios corriendo.</a:t>
            </a:r>
            <a:endParaRPr lang="en-US" sz="1400" dirty="0"/>
          </a:p>
        </p:txBody>
      </p:sp>
      <p:sp>
        <p:nvSpPr>
          <p:cNvPr id="6" name="Shape 4"/>
          <p:cNvSpPr/>
          <p:nvPr/>
        </p:nvSpPr>
        <p:spPr>
          <a:xfrm>
            <a:off x="548640" y="2487168"/>
            <a:ext cx="10881360" cy="841248"/>
          </a:xfrm>
          <a:prstGeom prst="roundRect">
            <a:avLst>
              <a:gd name="adj" fmla="val 8696"/>
            </a:avLst>
          </a:prstGeom>
          <a:solidFill>
            <a:srgbClr val="22491F"/>
          </a:solidFill>
          <a:ln w="12700">
            <a:solidFill>
              <a:srgbClr val="2C5F2D"/>
            </a:solidFill>
            <a:prstDash val="solid"/>
          </a:ln>
        </p:spPr>
        <p:txBody>
          <a:bodyPr/>
          <a:lstStyle/>
          <a:p>
            <a:endParaRPr lang="es-CL"/>
          </a:p>
        </p:txBody>
      </p:sp>
      <p:sp>
        <p:nvSpPr>
          <p:cNvPr id="7" name="Shape 5"/>
          <p:cNvSpPr/>
          <p:nvPr/>
        </p:nvSpPr>
        <p:spPr>
          <a:xfrm>
            <a:off x="777240" y="2660904"/>
            <a:ext cx="493776" cy="493776"/>
          </a:xfrm>
          <a:prstGeom prst="ellipse">
            <a:avLst/>
          </a:prstGeom>
          <a:solidFill>
            <a:srgbClr val="97BC62"/>
          </a:solidFill>
          <a:ln/>
        </p:spPr>
        <p:txBody>
          <a:bodyPr/>
          <a:lstStyle/>
          <a:p>
            <a:endParaRPr lang="es-CL"/>
          </a:p>
        </p:txBody>
      </p:sp>
      <p:sp>
        <p:nvSpPr>
          <p:cNvPr id="8" name="Text 6"/>
          <p:cNvSpPr/>
          <p:nvPr/>
        </p:nvSpPr>
        <p:spPr>
          <a:xfrm>
            <a:off x="777240" y="2660904"/>
            <a:ext cx="493776" cy="493776"/>
          </a:xfrm>
          <a:prstGeom prst="rect">
            <a:avLst/>
          </a:prstGeom>
          <a:noFill/>
          <a:ln/>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9" name="Text 7"/>
          <p:cNvSpPr/>
          <p:nvPr/>
        </p:nvSpPr>
        <p:spPr>
          <a:xfrm>
            <a:off x="1417320" y="2615184"/>
            <a:ext cx="3291840" cy="2743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Dashboard interactivo</a:t>
            </a:r>
            <a:endParaRPr lang="en-US" sz="1400" dirty="0"/>
          </a:p>
        </p:txBody>
      </p:sp>
      <p:sp>
        <p:nvSpPr>
          <p:cNvPr id="10" name="Text 8"/>
          <p:cNvSpPr/>
          <p:nvPr/>
        </p:nvSpPr>
        <p:spPr>
          <a:xfrm>
            <a:off x="1417320" y="2889504"/>
            <a:ext cx="4114800" cy="365760"/>
          </a:xfrm>
          <a:prstGeom prst="rect">
            <a:avLst/>
          </a:prstGeom>
          <a:noFill/>
          <a:ln/>
        </p:spPr>
        <p:txBody>
          <a:bodyPr wrap="square" lIns="0" tIns="0" rIns="0" bIns="0" rtlCol="0" anchor="ctr"/>
          <a:lstStyle/>
          <a:p>
            <a:pPr marL="0" indent="0">
              <a:buNone/>
            </a:pPr>
            <a:r>
              <a:rPr lang="en-US" sz="1000" dirty="0">
                <a:solidFill>
                  <a:srgbClr val="C9D6C2"/>
                </a:solidFill>
                <a:latin typeface="Calibri" pitchFamily="34" charset="0"/>
                <a:ea typeface="Calibri" pitchFamily="34" charset="-122"/>
                <a:cs typeface="Calibri" pitchFamily="34" charset="-120"/>
              </a:rPr>
              <a:t>Dash + Plotly. KPIs, serie temporal, heatmap, modelo y predicción con sliders.</a:t>
            </a:r>
            <a:endParaRPr lang="en-US" sz="1000" dirty="0"/>
          </a:p>
        </p:txBody>
      </p:sp>
      <p:sp>
        <p:nvSpPr>
          <p:cNvPr id="11" name="Text 9">
            <a:hlinkClick r:id="rId3"/>
          </p:cNvPr>
          <p:cNvSpPr/>
          <p:nvPr/>
        </p:nvSpPr>
        <p:spPr>
          <a:xfrm>
            <a:off x="5669280" y="2660904"/>
            <a:ext cx="5532120" cy="493776"/>
          </a:xfrm>
          <a:prstGeom prst="rect">
            <a:avLst/>
          </a:prstGeom>
          <a:noFill/>
          <a:ln/>
        </p:spPr>
        <p:txBody>
          <a:bodyPr wrap="square" lIns="0" tIns="0" rIns="0" bIns="0" rtlCol="0" anchor="ctr"/>
          <a:lstStyle/>
          <a:p>
            <a:pPr marL="0" indent="0" algn="r">
              <a:buNone/>
            </a:pPr>
            <a:r>
              <a:rPr lang="en-US" sz="1050" u="sng" dirty="0">
                <a:solidFill>
                  <a:srgbClr val="97BC62"/>
                </a:solidFill>
                <a:latin typeface="Courier New" pitchFamily="34" charset="0"/>
                <a:ea typeface="Courier New" pitchFamily="34" charset="-122"/>
                <a:cs typeface="Courier New" pitchFamily="34" charset="-120"/>
                <a:hlinkClick r:id="rId3">
                  <a:extLst>
                    <a:ext uri="{A12FA001-AC4F-418D-AE19-62706E023703}">
                      <ahyp:hlinkClr xmlns:ahyp="http://schemas.microsoft.com/office/drawing/2018/hyperlinkcolor" val="tx"/>
                    </a:ext>
                  </a:extLst>
                </a:hlinkClick>
              </a:rPr>
              <a:t>http://localhost:8050</a:t>
            </a:r>
            <a:endParaRPr lang="en-US" sz="1050" dirty="0"/>
          </a:p>
        </p:txBody>
      </p:sp>
      <p:sp>
        <p:nvSpPr>
          <p:cNvPr id="12" name="Shape 10"/>
          <p:cNvSpPr/>
          <p:nvPr/>
        </p:nvSpPr>
        <p:spPr>
          <a:xfrm>
            <a:off x="548640" y="3447288"/>
            <a:ext cx="10881360" cy="841248"/>
          </a:xfrm>
          <a:prstGeom prst="roundRect">
            <a:avLst>
              <a:gd name="adj" fmla="val 8696"/>
            </a:avLst>
          </a:prstGeom>
          <a:solidFill>
            <a:srgbClr val="22491F"/>
          </a:solidFill>
          <a:ln w="12700">
            <a:solidFill>
              <a:srgbClr val="2C5F2D"/>
            </a:solidFill>
            <a:prstDash val="solid"/>
          </a:ln>
        </p:spPr>
        <p:txBody>
          <a:bodyPr/>
          <a:lstStyle/>
          <a:p>
            <a:endParaRPr lang="es-CL"/>
          </a:p>
        </p:txBody>
      </p:sp>
      <p:sp>
        <p:nvSpPr>
          <p:cNvPr id="13" name="Shape 11"/>
          <p:cNvSpPr/>
          <p:nvPr/>
        </p:nvSpPr>
        <p:spPr>
          <a:xfrm>
            <a:off x="777240" y="3621024"/>
            <a:ext cx="493776" cy="493776"/>
          </a:xfrm>
          <a:prstGeom prst="ellipse">
            <a:avLst/>
          </a:prstGeom>
          <a:solidFill>
            <a:srgbClr val="97BC62"/>
          </a:solidFill>
          <a:ln/>
        </p:spPr>
        <p:txBody>
          <a:bodyPr/>
          <a:lstStyle/>
          <a:p>
            <a:endParaRPr lang="es-CL"/>
          </a:p>
        </p:txBody>
      </p:sp>
      <p:sp>
        <p:nvSpPr>
          <p:cNvPr id="14" name="Text 12"/>
          <p:cNvSpPr/>
          <p:nvPr/>
        </p:nvSpPr>
        <p:spPr>
          <a:xfrm>
            <a:off x="777240" y="3621024"/>
            <a:ext cx="493776" cy="493776"/>
          </a:xfrm>
          <a:prstGeom prst="rect">
            <a:avLst/>
          </a:prstGeom>
          <a:noFill/>
          <a:ln/>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15" name="Text 13"/>
          <p:cNvSpPr/>
          <p:nvPr/>
        </p:nvSpPr>
        <p:spPr>
          <a:xfrm>
            <a:off x="1417320" y="3575304"/>
            <a:ext cx="3291840" cy="2743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API — documentación viva</a:t>
            </a:r>
            <a:endParaRPr lang="en-US" sz="1400" dirty="0"/>
          </a:p>
        </p:txBody>
      </p:sp>
      <p:sp>
        <p:nvSpPr>
          <p:cNvPr id="16" name="Text 14"/>
          <p:cNvSpPr/>
          <p:nvPr/>
        </p:nvSpPr>
        <p:spPr>
          <a:xfrm>
            <a:off x="1417320" y="3849624"/>
            <a:ext cx="4114800" cy="365760"/>
          </a:xfrm>
          <a:prstGeom prst="rect">
            <a:avLst/>
          </a:prstGeom>
          <a:noFill/>
          <a:ln/>
        </p:spPr>
        <p:txBody>
          <a:bodyPr wrap="square" lIns="0" tIns="0" rIns="0" bIns="0" rtlCol="0" anchor="ctr"/>
          <a:lstStyle/>
          <a:p>
            <a:pPr marL="0" indent="0">
              <a:buNone/>
            </a:pPr>
            <a:r>
              <a:rPr lang="en-US" sz="1000" dirty="0">
                <a:solidFill>
                  <a:srgbClr val="C9D6C2"/>
                </a:solidFill>
                <a:latin typeface="Calibri" pitchFamily="34" charset="0"/>
                <a:ea typeface="Calibri" pitchFamily="34" charset="-122"/>
                <a:cs typeface="Calibri" pitchFamily="34" charset="-120"/>
              </a:rPr>
              <a:t>Swagger UI de FastAPI. POST /predict se prueba desde el navegador.</a:t>
            </a:r>
            <a:endParaRPr lang="en-US" sz="1000" dirty="0"/>
          </a:p>
        </p:txBody>
      </p:sp>
      <p:sp>
        <p:nvSpPr>
          <p:cNvPr id="17" name="Text 15">
            <a:hlinkClick r:id="rId4"/>
          </p:cNvPr>
          <p:cNvSpPr/>
          <p:nvPr/>
        </p:nvSpPr>
        <p:spPr>
          <a:xfrm>
            <a:off x="5669280" y="3621024"/>
            <a:ext cx="5532120" cy="493776"/>
          </a:xfrm>
          <a:prstGeom prst="rect">
            <a:avLst/>
          </a:prstGeom>
          <a:noFill/>
          <a:ln/>
        </p:spPr>
        <p:txBody>
          <a:bodyPr wrap="square" lIns="0" tIns="0" rIns="0" bIns="0" rtlCol="0" anchor="ctr"/>
          <a:lstStyle/>
          <a:p>
            <a:pPr marL="0" indent="0" algn="r">
              <a:buNone/>
            </a:pPr>
            <a:r>
              <a:rPr lang="en-US" sz="1050" u="sng" dirty="0">
                <a:solidFill>
                  <a:srgbClr val="97BC62"/>
                </a:solidFill>
                <a:latin typeface="Courier New" pitchFamily="34" charset="0"/>
                <a:ea typeface="Courier New" pitchFamily="34" charset="-122"/>
                <a:cs typeface="Courier New" pitchFamily="34" charset="-120"/>
                <a:hlinkClick r:id="rId4">
                  <a:extLst>
                    <a:ext uri="{A12FA001-AC4F-418D-AE19-62706E023703}">
                      <ahyp:hlinkClr xmlns:ahyp="http://schemas.microsoft.com/office/drawing/2018/hyperlinkcolor" val="tx"/>
                    </a:ext>
                  </a:extLst>
                </a:hlinkClick>
              </a:rPr>
              <a:t>http://localhost:8000/docs</a:t>
            </a:r>
            <a:endParaRPr lang="en-US" sz="1050" dirty="0"/>
          </a:p>
        </p:txBody>
      </p:sp>
      <p:sp>
        <p:nvSpPr>
          <p:cNvPr id="18" name="Shape 16"/>
          <p:cNvSpPr/>
          <p:nvPr/>
        </p:nvSpPr>
        <p:spPr>
          <a:xfrm>
            <a:off x="548640" y="4407408"/>
            <a:ext cx="10881360" cy="841248"/>
          </a:xfrm>
          <a:prstGeom prst="roundRect">
            <a:avLst>
              <a:gd name="adj" fmla="val 8696"/>
            </a:avLst>
          </a:prstGeom>
          <a:solidFill>
            <a:srgbClr val="22491F"/>
          </a:solidFill>
          <a:ln w="12700">
            <a:solidFill>
              <a:srgbClr val="2C5F2D"/>
            </a:solidFill>
            <a:prstDash val="solid"/>
          </a:ln>
        </p:spPr>
        <p:txBody>
          <a:bodyPr/>
          <a:lstStyle/>
          <a:p>
            <a:endParaRPr lang="es-CL"/>
          </a:p>
        </p:txBody>
      </p:sp>
      <p:sp>
        <p:nvSpPr>
          <p:cNvPr id="19" name="Shape 17"/>
          <p:cNvSpPr/>
          <p:nvPr/>
        </p:nvSpPr>
        <p:spPr>
          <a:xfrm>
            <a:off x="777240" y="4581144"/>
            <a:ext cx="493776" cy="493776"/>
          </a:xfrm>
          <a:prstGeom prst="ellipse">
            <a:avLst/>
          </a:prstGeom>
          <a:solidFill>
            <a:srgbClr val="97BC62"/>
          </a:solidFill>
          <a:ln/>
        </p:spPr>
        <p:txBody>
          <a:bodyPr/>
          <a:lstStyle/>
          <a:p>
            <a:endParaRPr lang="es-CL"/>
          </a:p>
        </p:txBody>
      </p:sp>
      <p:sp>
        <p:nvSpPr>
          <p:cNvPr id="20" name="Text 18"/>
          <p:cNvSpPr/>
          <p:nvPr/>
        </p:nvSpPr>
        <p:spPr>
          <a:xfrm>
            <a:off x="777240" y="4581144"/>
            <a:ext cx="493776" cy="493776"/>
          </a:xfrm>
          <a:prstGeom prst="rect">
            <a:avLst/>
          </a:prstGeom>
          <a:noFill/>
          <a:ln/>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21" name="Text 19"/>
          <p:cNvSpPr/>
          <p:nvPr/>
        </p:nvSpPr>
        <p:spPr>
          <a:xfrm>
            <a:off x="1417320" y="4535424"/>
            <a:ext cx="3291840" cy="2743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Repositorio en GitHub</a:t>
            </a:r>
            <a:endParaRPr lang="en-US" sz="1400" dirty="0"/>
          </a:p>
        </p:txBody>
      </p:sp>
      <p:sp>
        <p:nvSpPr>
          <p:cNvPr id="22" name="Text 20"/>
          <p:cNvSpPr/>
          <p:nvPr/>
        </p:nvSpPr>
        <p:spPr>
          <a:xfrm>
            <a:off x="1417320" y="4809744"/>
            <a:ext cx="4114800" cy="365760"/>
          </a:xfrm>
          <a:prstGeom prst="rect">
            <a:avLst/>
          </a:prstGeom>
          <a:noFill/>
          <a:ln/>
        </p:spPr>
        <p:txBody>
          <a:bodyPr wrap="square" lIns="0" tIns="0" rIns="0" bIns="0" rtlCol="0" anchor="ctr"/>
          <a:lstStyle/>
          <a:p>
            <a:pPr marL="0" indent="0">
              <a:buNone/>
            </a:pPr>
            <a:r>
              <a:rPr lang="en-US" sz="1000" dirty="0">
                <a:solidFill>
                  <a:srgbClr val="C9D6C2"/>
                </a:solidFill>
                <a:latin typeface="Calibri" pitchFamily="34" charset="0"/>
                <a:ea typeface="Calibri" pitchFamily="34" charset="-122"/>
                <a:cs typeface="Calibri" pitchFamily="34" charset="-120"/>
              </a:rPr>
              <a:t>Código del ETL, modelo, API, dashboard, Dockerfile y workflows de CI.</a:t>
            </a:r>
            <a:endParaRPr lang="en-US" sz="1000" dirty="0"/>
          </a:p>
        </p:txBody>
      </p:sp>
      <p:sp>
        <p:nvSpPr>
          <p:cNvPr id="23" name="Text 21">
            <a:hlinkClick r:id="rId5"/>
          </p:cNvPr>
          <p:cNvSpPr/>
          <p:nvPr/>
        </p:nvSpPr>
        <p:spPr>
          <a:xfrm>
            <a:off x="5669280" y="4581144"/>
            <a:ext cx="5532120" cy="493776"/>
          </a:xfrm>
          <a:prstGeom prst="rect">
            <a:avLst/>
          </a:prstGeom>
          <a:noFill/>
          <a:ln/>
        </p:spPr>
        <p:txBody>
          <a:bodyPr wrap="square" lIns="0" tIns="0" rIns="0" bIns="0" rtlCol="0" anchor="ctr"/>
          <a:lstStyle/>
          <a:p>
            <a:pPr marL="0" indent="0" algn="r">
              <a:buNone/>
            </a:pPr>
            <a:r>
              <a:rPr lang="en-US" sz="1050" u="sng" dirty="0">
                <a:solidFill>
                  <a:srgbClr val="97BC62"/>
                </a:solidFill>
                <a:latin typeface="Courier New" pitchFamily="34" charset="0"/>
                <a:ea typeface="Courier New" pitchFamily="34" charset="-122"/>
                <a:cs typeface="Courier New" pitchFamily="34" charset="-120"/>
                <a:hlinkClick r:id="rId5">
                  <a:extLst>
                    <a:ext uri="{A12FA001-AC4F-418D-AE19-62706E023703}">
                      <ahyp:hlinkClr xmlns:ahyp="http://schemas.microsoft.com/office/drawing/2018/hyperlinkcolor" val="tx"/>
                    </a:ext>
                  </a:extLst>
                </a:hlinkClick>
              </a:rPr>
              <a:t>https://github.com/SebastianRGP/desafio-movilidad-bikeshare</a:t>
            </a:r>
            <a:endParaRPr lang="en-US" sz="1050" dirty="0"/>
          </a:p>
        </p:txBody>
      </p:sp>
      <p:sp>
        <p:nvSpPr>
          <p:cNvPr id="24" name="Shape 22"/>
          <p:cNvSpPr/>
          <p:nvPr/>
        </p:nvSpPr>
        <p:spPr>
          <a:xfrm>
            <a:off x="548640" y="5367528"/>
            <a:ext cx="10881360" cy="841248"/>
          </a:xfrm>
          <a:prstGeom prst="roundRect">
            <a:avLst>
              <a:gd name="adj" fmla="val 8696"/>
            </a:avLst>
          </a:prstGeom>
          <a:solidFill>
            <a:srgbClr val="22491F"/>
          </a:solidFill>
          <a:ln w="12700">
            <a:solidFill>
              <a:srgbClr val="2C5F2D"/>
            </a:solidFill>
            <a:prstDash val="solid"/>
          </a:ln>
        </p:spPr>
        <p:txBody>
          <a:bodyPr/>
          <a:lstStyle/>
          <a:p>
            <a:endParaRPr lang="es-CL"/>
          </a:p>
        </p:txBody>
      </p:sp>
      <p:sp>
        <p:nvSpPr>
          <p:cNvPr id="25" name="Shape 23"/>
          <p:cNvSpPr/>
          <p:nvPr/>
        </p:nvSpPr>
        <p:spPr>
          <a:xfrm>
            <a:off x="777240" y="5541264"/>
            <a:ext cx="493776" cy="493776"/>
          </a:xfrm>
          <a:prstGeom prst="ellipse">
            <a:avLst/>
          </a:prstGeom>
          <a:solidFill>
            <a:srgbClr val="97BC62"/>
          </a:solidFill>
          <a:ln/>
        </p:spPr>
        <p:txBody>
          <a:bodyPr/>
          <a:lstStyle/>
          <a:p>
            <a:endParaRPr lang="es-CL"/>
          </a:p>
        </p:txBody>
      </p:sp>
      <p:sp>
        <p:nvSpPr>
          <p:cNvPr id="26" name="Text 24"/>
          <p:cNvSpPr/>
          <p:nvPr/>
        </p:nvSpPr>
        <p:spPr>
          <a:xfrm>
            <a:off x="777240" y="5541264"/>
            <a:ext cx="493776" cy="493776"/>
          </a:xfrm>
          <a:prstGeom prst="rect">
            <a:avLst/>
          </a:prstGeom>
          <a:noFill/>
          <a:ln/>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27" name="Text 25"/>
          <p:cNvSpPr/>
          <p:nvPr/>
        </p:nvSpPr>
        <p:spPr>
          <a:xfrm>
            <a:off x="1417320" y="5495544"/>
            <a:ext cx="3291840" cy="2743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Historial de commits</a:t>
            </a:r>
            <a:endParaRPr lang="en-US" sz="1400" dirty="0"/>
          </a:p>
        </p:txBody>
      </p:sp>
      <p:sp>
        <p:nvSpPr>
          <p:cNvPr id="28" name="Text 26"/>
          <p:cNvSpPr/>
          <p:nvPr/>
        </p:nvSpPr>
        <p:spPr>
          <a:xfrm>
            <a:off x="1417320" y="5769864"/>
            <a:ext cx="4114800" cy="365760"/>
          </a:xfrm>
          <a:prstGeom prst="rect">
            <a:avLst/>
          </a:prstGeom>
          <a:noFill/>
          <a:ln/>
        </p:spPr>
        <p:txBody>
          <a:bodyPr wrap="square" lIns="0" tIns="0" rIns="0" bIns="0" rtlCol="0" anchor="ctr"/>
          <a:lstStyle/>
          <a:p>
            <a:pPr marL="0" indent="0">
              <a:buNone/>
            </a:pPr>
            <a:r>
              <a:rPr lang="en-US" sz="1000" dirty="0">
                <a:solidFill>
                  <a:srgbClr val="C9D6C2"/>
                </a:solidFill>
                <a:latin typeface="Calibri" pitchFamily="34" charset="0"/>
                <a:ea typeface="Calibri" pitchFamily="34" charset="-122"/>
                <a:cs typeface="Calibri" pitchFamily="34" charset="-120"/>
              </a:rPr>
              <a:t>Trazabilidad del trabajo del equipo, commit a commit, y ejecuciones de GitHub Actions.</a:t>
            </a:r>
            <a:endParaRPr lang="en-US" sz="1000" dirty="0"/>
          </a:p>
        </p:txBody>
      </p:sp>
      <p:sp>
        <p:nvSpPr>
          <p:cNvPr id="29" name="Text 27">
            <a:hlinkClick r:id="rId6"/>
          </p:cNvPr>
          <p:cNvSpPr/>
          <p:nvPr/>
        </p:nvSpPr>
        <p:spPr>
          <a:xfrm>
            <a:off x="5669280" y="5541264"/>
            <a:ext cx="5532120" cy="493776"/>
          </a:xfrm>
          <a:prstGeom prst="rect">
            <a:avLst/>
          </a:prstGeom>
          <a:noFill/>
          <a:ln/>
        </p:spPr>
        <p:txBody>
          <a:bodyPr wrap="square" lIns="0" tIns="0" rIns="0" bIns="0" rtlCol="0" anchor="ctr"/>
          <a:lstStyle/>
          <a:p>
            <a:pPr marL="0" indent="0" algn="r">
              <a:buNone/>
            </a:pPr>
            <a:r>
              <a:rPr lang="en-US" sz="1050" u="sng" dirty="0">
                <a:solidFill>
                  <a:srgbClr val="97BC62"/>
                </a:solidFill>
                <a:latin typeface="Courier New" pitchFamily="34" charset="0"/>
                <a:ea typeface="Courier New" pitchFamily="34" charset="-122"/>
                <a:cs typeface="Courier New" pitchFamily="34" charset="-120"/>
                <a:hlinkClick r:id="rId6">
                  <a:extLst>
                    <a:ext uri="{A12FA001-AC4F-418D-AE19-62706E023703}">
                      <ahyp:hlinkClr xmlns:ahyp="http://schemas.microsoft.com/office/drawing/2018/hyperlinkcolor" val="tx"/>
                    </a:ext>
                  </a:extLst>
                </a:hlinkClick>
              </a:rPr>
              <a:t>https://github.com/SebastianRGP/desafio-movilidad-bikeshare/commits/main</a:t>
            </a:r>
            <a:endParaRPr lang="en-US" sz="1050" dirty="0"/>
          </a:p>
        </p:txBody>
      </p:sp>
      <p:sp>
        <p:nvSpPr>
          <p:cNvPr id="30" name="Text 28"/>
          <p:cNvSpPr/>
          <p:nvPr/>
        </p:nvSpPr>
        <p:spPr>
          <a:xfrm>
            <a:off x="548640" y="6263640"/>
            <a:ext cx="10881360" cy="365760"/>
          </a:xfrm>
          <a:prstGeom prst="rect">
            <a:avLst/>
          </a:prstGeom>
          <a:noFill/>
          <a:ln/>
        </p:spPr>
        <p:txBody>
          <a:bodyPr wrap="square" lIns="0" tIns="0" rIns="0" bIns="0" rtlCol="0" anchor="ctr"/>
          <a:lstStyle/>
          <a:p>
            <a:pPr marL="0" indent="0" algn="ctr">
              <a:buNone/>
            </a:pPr>
            <a:r>
              <a:rPr lang="en-US" sz="1800" b="1" dirty="0">
                <a:solidFill>
                  <a:srgbClr val="97BC62"/>
                </a:solidFill>
                <a:latin typeface="Cambria" pitchFamily="34" charset="0"/>
                <a:ea typeface="Cambria" pitchFamily="34" charset="-122"/>
                <a:cs typeface="Cambria" pitchFamily="34" charset="-120"/>
              </a:rPr>
              <a:t>¡Gracias!  ·  Preguntas</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TotalTime>
  <Words>4124</Words>
  <Application>Microsoft Office PowerPoint</Application>
  <PresentationFormat>Panorámica</PresentationFormat>
  <Paragraphs>376</Paragraphs>
  <Slides>17</Slides>
  <Notes>17</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17</vt:i4>
      </vt:variant>
    </vt:vector>
  </HeadingPairs>
  <TitlesOfParts>
    <vt:vector size="22" baseType="lpstr">
      <vt:lpstr>Arial</vt:lpstr>
      <vt:lpstr>Calibri</vt:lpstr>
      <vt:lpstr>Cambria</vt:lpstr>
      <vt:lpstr>Courier New</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Predicción de demanda de bicicletas</dc:title>
  <dc:subject>PptxGenJS Presentation</dc:subject>
  <dc:creator>Sebastián González · Hernán Lippke · Matías Arauz · Michelangelo Bandelli</dc:creator>
  <cp:lastModifiedBy>Hernan Lippke Vega</cp:lastModifiedBy>
  <cp:revision>2</cp:revision>
  <dcterms:created xsi:type="dcterms:W3CDTF">2026-07-15T01:17:07Z</dcterms:created>
  <dcterms:modified xsi:type="dcterms:W3CDTF">2026-07-15T01:35:57Z</dcterms:modified>
</cp:coreProperties>
</file>